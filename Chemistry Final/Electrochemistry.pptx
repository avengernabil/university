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3" r:id="rId9"/>
    <p:sldId id="262" r:id="rId10"/>
    <p:sldId id="264" r:id="rId11"/>
    <p:sldId id="275" r:id="rId12"/>
    <p:sldId id="274" r:id="rId13"/>
    <p:sldId id="273" r:id="rId14"/>
    <p:sldId id="266" r:id="rId15"/>
    <p:sldId id="267" r:id="rId16"/>
    <p:sldId id="269" r:id="rId17"/>
    <p:sldId id="268" r:id="rId18"/>
    <p:sldId id="276" r:id="rId19"/>
    <p:sldId id="281" r:id="rId20"/>
    <p:sldId id="287" r:id="rId21"/>
    <p:sldId id="282" r:id="rId22"/>
    <p:sldId id="288" r:id="rId23"/>
    <p:sldId id="277" r:id="rId24"/>
    <p:sldId id="28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232E7B-5F4E-462A-8865-0C00D5E26770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899C64-9CD9-4CE3-AE2D-E8CBFD67DD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232E7B-5F4E-462A-8865-0C00D5E26770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899C64-9CD9-4CE3-AE2D-E8CBFD67DD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232E7B-5F4E-462A-8865-0C00D5E26770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899C64-9CD9-4CE3-AE2D-E8CBFD67DD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232E7B-5F4E-462A-8865-0C00D5E26770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899C64-9CD9-4CE3-AE2D-E8CBFD67DD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232E7B-5F4E-462A-8865-0C00D5E26770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899C64-9CD9-4CE3-AE2D-E8CBFD67DD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232E7B-5F4E-462A-8865-0C00D5E26770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899C64-9CD9-4CE3-AE2D-E8CBFD67DD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232E7B-5F4E-462A-8865-0C00D5E26770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899C64-9CD9-4CE3-AE2D-E8CBFD67DD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232E7B-5F4E-462A-8865-0C00D5E26770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899C64-9CD9-4CE3-AE2D-E8CBFD67DD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232E7B-5F4E-462A-8865-0C00D5E26770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899C64-9CD9-4CE3-AE2D-E8CBFD67DD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232E7B-5F4E-462A-8865-0C00D5E26770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899C64-9CD9-4CE3-AE2D-E8CBFD67DD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3232E7B-5F4E-462A-8865-0C00D5E26770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899C64-9CD9-4CE3-AE2D-E8CBFD67DD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9D7977-A889-4749-8DEC-9680B2B70A0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5D64A1-D2E6-4DEE-8D69-C8A535814E4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E3232E7B-5F4E-462A-8865-0C00D5E26770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90899C64-9CD9-4CE3-AE2D-E8CBFD67DD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524000"/>
            <a:ext cx="6553200" cy="1472184"/>
          </a:xfrm>
        </p:spPr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ELECTROCHEMISTRY</a:t>
            </a:r>
            <a:endParaRPr lang="en-US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76200"/>
            <a:ext cx="57150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Points to be discussed</a:t>
            </a:r>
            <a:endParaRPr lang="en-US" b="1" dirty="0">
              <a:solidFill>
                <a:srgbClr val="FF0000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1066800"/>
            <a:ext cx="51054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Electrochemistry</a:t>
            </a:r>
          </a:p>
          <a:p>
            <a:r>
              <a:rPr lang="en-US" sz="2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Electric conductor</a:t>
            </a:r>
          </a:p>
          <a:p>
            <a:r>
              <a:rPr lang="en-US" sz="2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Electrolysis and Electrolytic cell</a:t>
            </a:r>
          </a:p>
          <a:p>
            <a:r>
              <a:rPr lang="en-US" sz="2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Mechanism of electrolytic cell</a:t>
            </a:r>
          </a:p>
          <a:p>
            <a:r>
              <a:rPr lang="en-US" sz="2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Electrochemical series</a:t>
            </a:r>
          </a:p>
          <a:p>
            <a:r>
              <a:rPr lang="en-US" sz="2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Application of electrolysis</a:t>
            </a:r>
          </a:p>
          <a:p>
            <a:r>
              <a:rPr lang="en-US" sz="2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Electroplating</a:t>
            </a:r>
          </a:p>
          <a:p>
            <a:r>
              <a:rPr lang="en-US" sz="2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Electrochemical cell</a:t>
            </a:r>
          </a:p>
          <a:p>
            <a:r>
              <a:rPr lang="en-US" sz="2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Voltaic cell</a:t>
            </a:r>
          </a:p>
          <a:p>
            <a:r>
              <a:rPr lang="en-US" sz="2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Difference between Electrolytic cell </a:t>
            </a:r>
          </a:p>
          <a:p>
            <a:r>
              <a:rPr lang="en-US" sz="2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and Electrochemical cell</a:t>
            </a:r>
          </a:p>
          <a:p>
            <a:r>
              <a:rPr lang="en-US" sz="2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Types of Battery</a:t>
            </a:r>
          </a:p>
          <a:p>
            <a:r>
              <a:rPr lang="en-US" sz="2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Cell potential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600200"/>
            <a:ext cx="6781800" cy="3124200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 smtClean="0">
                <a:solidFill>
                  <a:srgbClr val="002060"/>
                </a:solidFill>
                <a:effectLst/>
                <a:latin typeface="Calibri" pitchFamily="34" charset="0"/>
                <a:cs typeface="Calibri" pitchFamily="34" charset="0"/>
              </a:rPr>
              <a:t>The branch of Physical Chemistry which deals with the relationship between electrical energy and chemical energy and their inter conversion</a:t>
            </a:r>
            <a:endParaRPr lang="en-US" sz="3200" b="1" dirty="0">
              <a:solidFill>
                <a:srgbClr val="002060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00200" y="533400"/>
            <a:ext cx="63920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 smtClean="0">
                <a:solidFill>
                  <a:srgbClr val="7030A0"/>
                </a:solidFill>
              </a:rPr>
              <a:t>Electrochemistry</a:t>
            </a:r>
            <a:endParaRPr lang="en-US" sz="60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381000"/>
            <a:ext cx="5041392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Electric conductor</a:t>
            </a:r>
            <a:endParaRPr lang="en-US" b="1" dirty="0">
              <a:solidFill>
                <a:srgbClr val="FF0000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00200" y="1676400"/>
            <a:ext cx="59632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LcPeriod"/>
            </a:pPr>
            <a:r>
              <a:rPr lang="en-US" sz="2400" b="1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Metallic conductor or electronic conductor</a:t>
            </a:r>
          </a:p>
          <a:p>
            <a:pPr marL="342900" indent="-342900">
              <a:buAutoNum type="alphaLcPeriod"/>
            </a:pPr>
            <a:r>
              <a:rPr lang="en-US" sz="2400" b="1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Electrolytic conductor</a:t>
            </a:r>
            <a:endParaRPr lang="en-US" sz="2400" b="1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2667000"/>
            <a:ext cx="74669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LcPeriod"/>
            </a:pPr>
            <a:r>
              <a:rPr 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Metallic conductor</a:t>
            </a:r>
          </a:p>
          <a:p>
            <a:pPr marL="342900" indent="-342900">
              <a:lnSpc>
                <a:spcPct val="150000"/>
              </a:lnSpc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Metals pass electricity with the help of moving electrons 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19200" y="4114800"/>
            <a:ext cx="727154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b. </a:t>
            </a:r>
            <a:r>
              <a:rPr 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Electrolytic conductor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Conduct electric current either by aqueous solutions or </a:t>
            </a:r>
          </a:p>
          <a:p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in the molten state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Electrolytic Conductor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39978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Strong electrolyte</a:t>
            </a:r>
          </a:p>
          <a:p>
            <a:pPr algn="ctr"/>
            <a:r>
              <a:rPr lang="en-US" sz="2400" b="1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e. g.; Strong acid, strong alkali</a:t>
            </a:r>
            <a:endParaRPr lang="en-US" sz="2400" b="1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0" y="3048000"/>
            <a:ext cx="37186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Weak electrolyte</a:t>
            </a:r>
          </a:p>
          <a:p>
            <a:r>
              <a:rPr lang="en-US" sz="2400" b="1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e. g.; weak acid, weak alkali</a:t>
            </a:r>
            <a:endParaRPr lang="en-US" sz="2400" b="1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971800" y="2057400"/>
            <a:ext cx="3437288" cy="1066800"/>
            <a:chOff x="2971800" y="2057400"/>
            <a:chExt cx="3437288" cy="1066800"/>
          </a:xfrm>
        </p:grpSpPr>
        <p:sp>
          <p:nvSpPr>
            <p:cNvPr id="4" name="TextBox 3"/>
            <p:cNvSpPr txBox="1"/>
            <p:nvPr/>
          </p:nvSpPr>
          <p:spPr>
            <a:xfrm>
              <a:off x="2971800" y="2057400"/>
              <a:ext cx="3437288" cy="52322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solidFill>
                    <a:srgbClr val="FF0000"/>
                  </a:solidFill>
                  <a:latin typeface="Calibri" pitchFamily="34" charset="0"/>
                  <a:cs typeface="Calibri" pitchFamily="34" charset="0"/>
                </a:rPr>
                <a:t>Electrolytic conductor</a:t>
              </a:r>
              <a:endParaRPr lang="en-US" sz="28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6" name="Straight Arrow Connector 5"/>
            <p:cNvCxnSpPr/>
            <p:nvPr/>
          </p:nvCxnSpPr>
          <p:spPr>
            <a:xfrm rot="5400000">
              <a:off x="2780506" y="2856706"/>
              <a:ext cx="5334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rot="5400000">
              <a:off x="6058694" y="2856706"/>
              <a:ext cx="5334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200" y="381000"/>
            <a:ext cx="3136392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effectLst/>
                <a:latin typeface="Calibri" pitchFamily="34" charset="0"/>
                <a:cs typeface="Calibri" pitchFamily="34" charset="0"/>
              </a:rPr>
              <a:t>Electrolysis</a:t>
            </a:r>
            <a:endParaRPr lang="en-US" b="1" dirty="0">
              <a:solidFill>
                <a:srgbClr val="FF0000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19200" y="1905000"/>
            <a:ext cx="743088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The process of </a:t>
            </a:r>
            <a:r>
              <a:rPr lang="en-US" sz="2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chemical decomposition of an</a:t>
            </a:r>
          </a:p>
          <a:p>
            <a:r>
              <a:rPr lang="en-US" sz="2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electrolyte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in the molten state or in an aqueous </a:t>
            </a:r>
          </a:p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solution by passing electric current through </a:t>
            </a:r>
          </a:p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it is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called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electrolysis.</a:t>
            </a:r>
          </a:p>
          <a:p>
            <a:pPr>
              <a:lnSpc>
                <a:spcPct val="200000"/>
              </a:lnSpc>
            </a:pP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In electrolysis, electrical energy is convert </a:t>
            </a:r>
          </a:p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in to chemical energy.</a:t>
            </a:r>
            <a:endParaRPr lang="en-US" sz="28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228600"/>
            <a:ext cx="4876800" cy="457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400" b="1" dirty="0" smtClean="0">
                <a:solidFill>
                  <a:srgbClr val="FF0000"/>
                </a:solidFill>
              </a:rPr>
              <a:t>Electrolytic Cells</a:t>
            </a:r>
          </a:p>
        </p:txBody>
      </p:sp>
      <p:pic>
        <p:nvPicPr>
          <p:cNvPr id="44036" name="Picture 3"/>
          <p:cNvPicPr>
            <a:picLocks noChangeAspect="1"/>
          </p:cNvPicPr>
          <p:nvPr/>
        </p:nvPicPr>
        <p:blipFill>
          <a:blip r:embed="rId2"/>
          <a:srcRect l="22282" t="11783" r="14803"/>
          <a:stretch>
            <a:fillRect/>
          </a:stretch>
        </p:blipFill>
        <p:spPr bwMode="auto">
          <a:xfrm>
            <a:off x="6324600" y="990600"/>
            <a:ext cx="2590800" cy="456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5" name="Text Placeholder 2"/>
          <p:cNvSpPr>
            <a:spLocks noGrp="1"/>
          </p:cNvSpPr>
          <p:nvPr>
            <p:ph type="body" sz="half" idx="1"/>
          </p:nvPr>
        </p:nvSpPr>
        <p:spPr>
          <a:xfrm>
            <a:off x="1219200" y="1219200"/>
            <a:ext cx="4648200" cy="4953000"/>
          </a:xfrm>
        </p:spPr>
        <p:txBody>
          <a:bodyPr/>
          <a:lstStyle/>
          <a:p>
            <a:pPr algn="ctr"/>
            <a:r>
              <a:rPr lang="en-US" altLang="en-US" sz="2400" dirty="0" smtClean="0">
                <a:solidFill>
                  <a:schemeClr val="tx1"/>
                </a:solidFill>
              </a:rPr>
              <a:t>An 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electrolytic cell</a:t>
            </a:r>
            <a:r>
              <a:rPr lang="en-US" altLang="en-US" sz="2400" dirty="0" smtClean="0">
                <a:solidFill>
                  <a:schemeClr val="tx1"/>
                </a:solidFill>
              </a:rPr>
              <a:t> is an electrochemical cell that drives a non-spontaneous redox reaction </a:t>
            </a:r>
            <a:r>
              <a:rPr lang="en-US" altLang="en-US" sz="2400" dirty="0" smtClean="0">
                <a:solidFill>
                  <a:schemeClr val="tx1"/>
                </a:solidFill>
              </a:rPr>
              <a:t>in the presence of 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electric 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current supplied by an external source</a:t>
            </a:r>
            <a:r>
              <a:rPr lang="en-US" altLang="en-US" sz="2400" dirty="0" smtClean="0">
                <a:solidFill>
                  <a:schemeClr val="tx1"/>
                </a:solidFill>
              </a:rPr>
              <a:t>. </a:t>
            </a:r>
          </a:p>
          <a:p>
            <a:pPr algn="ctr"/>
            <a:endParaRPr lang="en-US" altLang="en-US" sz="24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en-US" sz="2400" dirty="0" smtClean="0">
                <a:solidFill>
                  <a:schemeClr val="tx1"/>
                </a:solidFill>
              </a:rPr>
              <a:t>They are often used to electrolysis process.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0" y="1600200"/>
            <a:ext cx="7391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Electrode</a:t>
            </a:r>
            <a:r>
              <a:rPr lang="en-US" sz="2400" b="1" dirty="0">
                <a:latin typeface="Calibri" pitchFamily="34" charset="0"/>
                <a:cs typeface="Calibri" pitchFamily="34" charset="0"/>
              </a:rPr>
              <a:t> is a rod of metal or graphite through which an electric current flows into or out of </a:t>
            </a:r>
            <a:r>
              <a:rPr lang="en-US" sz="2400" b="1">
                <a:latin typeface="Calibri" pitchFamily="34" charset="0"/>
                <a:cs typeface="Calibri" pitchFamily="34" charset="0"/>
              </a:rPr>
              <a:t>an </a:t>
            </a:r>
            <a:r>
              <a:rPr lang="en-US" sz="2400" b="1" smtClean="0">
                <a:latin typeface="Calibri" pitchFamily="34" charset="0"/>
                <a:cs typeface="Calibri" pitchFamily="34" charset="0"/>
              </a:rPr>
              <a:t>electrolytic 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solution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Anode</a:t>
            </a:r>
            <a:r>
              <a:rPr lang="en-US" sz="2400" b="1" dirty="0">
                <a:latin typeface="Calibri" pitchFamily="34" charset="0"/>
                <a:cs typeface="Calibri" pitchFamily="34" charset="0"/>
              </a:rPr>
              <a:t> is the positive electrode of an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electrolytic </a:t>
            </a:r>
            <a:r>
              <a:rPr lang="en-US" sz="2400" b="1" dirty="0">
                <a:latin typeface="Calibri" pitchFamily="34" charset="0"/>
                <a:cs typeface="Calibri" pitchFamily="34" charset="0"/>
              </a:rPr>
              <a:t>cell</a:t>
            </a:r>
          </a:p>
          <a:p>
            <a:r>
              <a:rPr lang="en-US" sz="2400" b="1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Anion</a:t>
            </a:r>
            <a:r>
              <a:rPr lang="en-US" sz="2400" b="1" dirty="0">
                <a:latin typeface="Calibri" pitchFamily="34" charset="0"/>
                <a:cs typeface="Calibri" pitchFamily="34" charset="0"/>
              </a:rPr>
              <a:t> is a negatively charged ion which is attracted to the anode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Cathode</a:t>
            </a:r>
            <a:r>
              <a:rPr lang="en-US" sz="2400" b="1" dirty="0">
                <a:latin typeface="Calibri" pitchFamily="34" charset="0"/>
                <a:cs typeface="Calibri" pitchFamily="34" charset="0"/>
              </a:rPr>
              <a:t> is the negative electrode of an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electrolytic  </a:t>
            </a:r>
            <a:r>
              <a:rPr lang="en-US" sz="2400" b="1" dirty="0">
                <a:latin typeface="Calibri" pitchFamily="34" charset="0"/>
                <a:cs typeface="Calibri" pitchFamily="34" charset="0"/>
              </a:rPr>
              <a:t>cell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Cation</a:t>
            </a:r>
            <a:r>
              <a:rPr lang="en-US" sz="2400" b="1" dirty="0">
                <a:latin typeface="Calibri" pitchFamily="34" charset="0"/>
                <a:cs typeface="Calibri" pitchFamily="34" charset="0"/>
              </a:rPr>
              <a:t> is a positively charged ion which is attracted to the cathode</a:t>
            </a:r>
          </a:p>
          <a:p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5498592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Terms in electrolysis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Mechanism of electrolysis</a:t>
            </a:r>
            <a:endParaRPr lang="en-US" dirty="0"/>
          </a:p>
        </p:txBody>
      </p:sp>
      <p:pic>
        <p:nvPicPr>
          <p:cNvPr id="1026" name="Picture 2" descr="Electrolytic Cell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600200"/>
            <a:ext cx="5791200" cy="3565266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447800" y="5334000"/>
            <a:ext cx="2474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Anode reaction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828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53000" y="5257800"/>
            <a:ext cx="2746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Cathode reaction</a:t>
            </a: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381000" y="6858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47800" y="6019800"/>
            <a:ext cx="2085975" cy="707418"/>
          </a:xfrm>
          <a:prstGeom prst="rect">
            <a:avLst/>
          </a:prstGeom>
          <a:noFill/>
        </p:spPr>
      </p:pic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8286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81600" y="6019800"/>
            <a:ext cx="2057400" cy="457200"/>
          </a:xfrm>
          <a:prstGeom prst="rect">
            <a:avLst/>
          </a:prstGeom>
          <a:noFill/>
        </p:spPr>
      </p:pic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6667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76200"/>
            <a:ext cx="544068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Electrochemical series</a:t>
            </a:r>
            <a:endParaRPr lang="en-US" b="1" dirty="0"/>
          </a:p>
        </p:txBody>
      </p:sp>
      <p:sp>
        <p:nvSpPr>
          <p:cNvPr id="21506" name="AutoShape 2" descr="CSEC Chemistry: Preferential Discharge of Ions and the Electrochemical  Seri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CSEC Chemistry: Preferential Discharge of Ions and the Electrochemical  Seri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7" descr="Electrolysis - презентация онлайн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143000"/>
            <a:ext cx="6858000" cy="513680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533400"/>
            <a:ext cx="6355080" cy="1143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effectLst/>
              </a:rPr>
              <a:t>Application of Electrolysis</a:t>
            </a:r>
            <a:endParaRPr lang="en-US" dirty="0">
              <a:solidFill>
                <a:srgbClr val="FF0000"/>
              </a:solidFill>
              <a:effectLst/>
            </a:endParaRPr>
          </a:p>
        </p:txBody>
      </p:sp>
      <p:sp>
        <p:nvSpPr>
          <p:cNvPr id="22530" name="AutoShape 2" descr="CSEC Chemistry: Preferential Discharge of Ions and the Electrochemical  Seri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32" name="AutoShape 4" descr="CSEC Chemistry: Preferential Discharge of Ions and the Electrochemical  Seri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590800" y="2057400"/>
            <a:ext cx="494314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32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Electroplating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32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Extraction of metals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32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Purification of metals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32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Manufacture of chemicals</a:t>
            </a:r>
            <a:endParaRPr lang="en-US" sz="3200" b="1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600201"/>
            <a:ext cx="7620000" cy="4876800"/>
          </a:xfrm>
        </p:spPr>
        <p:txBody>
          <a:bodyPr/>
          <a:lstStyle/>
          <a:p>
            <a:pPr eaLnBrk="1" hangingPunct="1"/>
            <a:r>
              <a:rPr lang="en-US" altLang="en-US" sz="28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In electroplating, </a:t>
            </a:r>
            <a:r>
              <a:rPr lang="en-US" altLang="en-US" sz="28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the anode is made up of the metal which we want to use to coat the surface of another metal. </a:t>
            </a:r>
          </a:p>
          <a:p>
            <a:pPr eaLnBrk="1" hangingPunct="1"/>
            <a:r>
              <a:rPr lang="en-US" altLang="en-US" sz="28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 salt solution containing the metal that makes up the anode is used. During </a:t>
            </a:r>
            <a:r>
              <a:rPr lang="en-US" altLang="en-US" sz="28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electrolysis</a:t>
            </a:r>
            <a:r>
              <a:rPr lang="en-US" altLang="en-US" sz="28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, the anode metal is oxidized and goes into solution as positive ions. </a:t>
            </a:r>
          </a:p>
          <a:p>
            <a:pPr eaLnBrk="1" hangingPunct="1"/>
            <a:r>
              <a:rPr lang="en-US" altLang="en-US" sz="28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These positive ions are then reduced on the surface of the cathode </a:t>
            </a:r>
            <a:r>
              <a:rPr lang="en-US" altLang="en-US" sz="28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(the metal we are coating)</a:t>
            </a:r>
          </a:p>
          <a:p>
            <a:pPr eaLnBrk="1" hangingPunct="1"/>
            <a:endParaRPr lang="en-US" altLang="en-US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90800" y="381000"/>
            <a:ext cx="5119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Principle of Electroplating</a:t>
            </a:r>
            <a:endParaRPr lang="en-US" sz="36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90800" y="228600"/>
            <a:ext cx="4495800" cy="936625"/>
          </a:xfrm>
        </p:spPr>
        <p:txBody>
          <a:bodyPr/>
          <a:lstStyle/>
          <a:p>
            <a:pPr eaLnBrk="1" hangingPunct="1"/>
            <a:r>
              <a:rPr lang="en-US" altLang="en-US" b="1" dirty="0" smtClean="0">
                <a:solidFill>
                  <a:srgbClr val="FF0000"/>
                </a:solidFill>
                <a:effectLst/>
              </a:rPr>
              <a:t>Electroplating</a:t>
            </a:r>
          </a:p>
        </p:txBody>
      </p:sp>
      <p:pic>
        <p:nvPicPr>
          <p:cNvPr id="4608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29400" y="2057400"/>
            <a:ext cx="1893888" cy="2598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600200"/>
            <a:ext cx="3352800" cy="236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5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81200" y="3962400"/>
            <a:ext cx="3429000" cy="246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6" name="Rectangle 1"/>
          <p:cNvSpPr>
            <a:spLocks noChangeArrowheads="1"/>
          </p:cNvSpPr>
          <p:nvPr/>
        </p:nvSpPr>
        <p:spPr bwMode="auto">
          <a:xfrm>
            <a:off x="5791200" y="4800600"/>
            <a:ext cx="3124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Fig.:  Electroplating on a spoon</a:t>
            </a:r>
            <a:endParaRPr lang="en-US" altLang="en-US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3622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Electrochemical Cell (Battery)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95400" y="1524000"/>
            <a:ext cx="3824288" cy="4114800"/>
          </a:xfrm>
        </p:spPr>
        <p:txBody>
          <a:bodyPr>
            <a:normAutofit fontScale="85000" lnSpcReduction="10000"/>
          </a:bodyPr>
          <a:lstStyle/>
          <a:p>
            <a:r>
              <a:rPr lang="en-US" sz="2400" b="1" dirty="0" smtClean="0"/>
              <a:t>An instrumental arrangement of current flow where chemical reaction results In the production of electric current. </a:t>
            </a:r>
          </a:p>
          <a:p>
            <a:pPr eaLnBrk="1" hangingPunct="1"/>
            <a:r>
              <a:rPr lang="en-US" altLang="en-US" sz="2800" b="1" u="sng" dirty="0" smtClean="0">
                <a:solidFill>
                  <a:srgbClr val="FF0000"/>
                </a:solidFill>
              </a:rPr>
              <a:t>We call such a setup :</a:t>
            </a:r>
          </a:p>
          <a:p>
            <a:pPr lvl="1" eaLnBrk="1" hangingPunct="1"/>
            <a:r>
              <a:rPr lang="en-US" altLang="en-US" sz="2400" b="1" dirty="0" smtClean="0">
                <a:solidFill>
                  <a:schemeClr val="tx1"/>
                </a:solidFill>
              </a:rPr>
              <a:t>Voltaic cell</a:t>
            </a:r>
          </a:p>
          <a:p>
            <a:pPr lvl="1" eaLnBrk="1" hangingPunct="1"/>
            <a:r>
              <a:rPr lang="en-US" altLang="en-US" sz="2400" b="1" dirty="0" smtClean="0"/>
              <a:t>Daniel cell</a:t>
            </a:r>
            <a:endParaRPr lang="en-US" altLang="en-US" sz="2400" b="1" dirty="0" smtClean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en-US" sz="2400" b="1" dirty="0" smtClean="0">
                <a:solidFill>
                  <a:schemeClr val="tx1"/>
                </a:solidFill>
              </a:rPr>
              <a:t>Battery</a:t>
            </a:r>
          </a:p>
          <a:p>
            <a:pPr lvl="1" eaLnBrk="1" hangingPunct="1"/>
            <a:r>
              <a:rPr lang="en-US" altLang="en-US" sz="2400" b="1" dirty="0" smtClean="0">
                <a:solidFill>
                  <a:schemeClr val="tx1"/>
                </a:solidFill>
              </a:rPr>
              <a:t>Electrochemical cell</a:t>
            </a:r>
          </a:p>
          <a:p>
            <a:pPr lvl="1" eaLnBrk="1" hangingPunct="1"/>
            <a:r>
              <a:rPr lang="en-US" altLang="en-US" sz="2400" b="1" dirty="0" smtClean="0">
                <a:solidFill>
                  <a:schemeClr val="tx1"/>
                </a:solidFill>
              </a:rPr>
              <a:t>Galvanic cell</a:t>
            </a:r>
          </a:p>
        </p:txBody>
      </p:sp>
      <p:pic>
        <p:nvPicPr>
          <p:cNvPr id="2" name="Picture 5" descr="20_0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 b="5521"/>
          <a:stretch>
            <a:fillRect/>
          </a:stretch>
        </p:blipFill>
        <p:spPr>
          <a:xfrm>
            <a:off x="5486400" y="1066800"/>
            <a:ext cx="3287225" cy="4548188"/>
          </a:xfrm>
        </p:spPr>
      </p:pic>
      <p:sp>
        <p:nvSpPr>
          <p:cNvPr id="4" name="TextBox 3"/>
          <p:cNvSpPr txBox="1"/>
          <p:nvPr/>
        </p:nvSpPr>
        <p:spPr>
          <a:xfrm>
            <a:off x="1447800" y="381000"/>
            <a:ext cx="5126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What is electrochemical cell?</a:t>
            </a:r>
            <a:endParaRPr lang="en-US" sz="32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0"/>
            <a:ext cx="4267200" cy="1295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 u="sng" dirty="0" smtClean="0">
                <a:solidFill>
                  <a:srgbClr val="7030A0"/>
                </a:solidFill>
              </a:rPr>
              <a:t>Typical Voltaic Cells</a:t>
            </a:r>
          </a:p>
        </p:txBody>
      </p:sp>
      <p:pic>
        <p:nvPicPr>
          <p:cNvPr id="2" name="Picture 5" descr="20_05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 b="4440"/>
          <a:stretch>
            <a:fillRect/>
          </a:stretch>
        </p:blipFill>
        <p:spPr>
          <a:xfrm>
            <a:off x="1905000" y="1295400"/>
            <a:ext cx="5715000" cy="3855977"/>
          </a:xfrm>
        </p:spPr>
      </p:pic>
      <p:sp>
        <p:nvSpPr>
          <p:cNvPr id="3174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371600" y="5257800"/>
            <a:ext cx="5791200" cy="13716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4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The </a:t>
            </a:r>
            <a:r>
              <a:rPr lang="en-US" alt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oxidation</a:t>
            </a:r>
            <a:r>
              <a:rPr lang="en-US" altLang="en-US" sz="24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occurs at the </a:t>
            </a:r>
            <a:r>
              <a:rPr lang="en-US" alt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anode. </a:t>
            </a:r>
          </a:p>
          <a:p>
            <a:pPr eaLnBrk="1" hangingPunct="1"/>
            <a:r>
              <a:rPr lang="en-US" altLang="en-US" sz="24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The </a:t>
            </a:r>
            <a:r>
              <a:rPr lang="en-US" alt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reduction</a:t>
            </a:r>
            <a:r>
              <a:rPr lang="en-US" altLang="en-US" sz="24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occurs at the </a:t>
            </a:r>
            <a:r>
              <a:rPr lang="en-US" alt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cathode.</a:t>
            </a:r>
          </a:p>
          <a:p>
            <a:pPr eaLnBrk="1" hangingPunct="1"/>
            <a:r>
              <a:rPr lang="en-US" alt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Electrons</a:t>
            </a:r>
            <a:r>
              <a:rPr lang="en-US" altLang="en-US" sz="24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en-US" sz="24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flow through the </a:t>
            </a:r>
            <a:r>
              <a:rPr lang="en-US" alt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wire!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763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Difference between electrolytic cell and  Electrochemical cell 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52400" y="1600200"/>
            <a:ext cx="8839200" cy="5029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52400" y="2362200"/>
            <a:ext cx="8839200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0"/>
            <a:endCxn id="5" idx="2"/>
          </p:cNvCxnSpPr>
          <p:nvPr/>
        </p:nvCxnSpPr>
        <p:spPr>
          <a:xfrm rot="16200000" flipH="1">
            <a:off x="2057400" y="4114800"/>
            <a:ext cx="5029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143000" y="1676400"/>
            <a:ext cx="31804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Electrolytic cell </a:t>
            </a:r>
            <a:endParaRPr lang="en-US" sz="3600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05400" y="1676400"/>
            <a:ext cx="36397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Electrochemical cell </a:t>
            </a:r>
            <a:endParaRPr lang="en-US" sz="3200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2699" y="2445603"/>
            <a:ext cx="4150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AutoNum type="arabicPeriod"/>
            </a:pPr>
            <a:r>
              <a:rPr lang="en-US" sz="24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Electricity is passed from </a:t>
            </a:r>
          </a:p>
          <a:p>
            <a:pPr marL="457200" indent="-457200" algn="ctr"/>
            <a:r>
              <a:rPr lang="en-US" sz="24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external source</a:t>
            </a:r>
            <a:endParaRPr lang="en-US" sz="2400" b="1" dirty="0">
              <a:solidFill>
                <a:srgbClr val="7030A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15745" y="2438400"/>
            <a:ext cx="39029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buAutoNum type="arabicPeriod"/>
            </a:pPr>
            <a:r>
              <a:rPr lang="en-US" sz="24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Electricity is produced by </a:t>
            </a:r>
          </a:p>
          <a:p>
            <a:pPr marL="457200" indent="-457200" algn="ctr"/>
            <a:r>
              <a:rPr lang="en-US" sz="24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chemical reactions</a:t>
            </a:r>
            <a:endParaRPr lang="en-US" sz="2400" b="1" dirty="0">
              <a:solidFill>
                <a:srgbClr val="7030A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8600" y="3276600"/>
            <a:ext cx="42784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2. Electrical energy is converted </a:t>
            </a:r>
          </a:p>
          <a:p>
            <a:pPr algn="ctr"/>
            <a:r>
              <a:rPr lang="en-US" sz="24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in to chemical energy</a:t>
            </a:r>
            <a:endParaRPr lang="en-US" sz="2400" b="1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48200" y="3276600"/>
            <a:ext cx="42512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2. chemical energy is converted </a:t>
            </a:r>
          </a:p>
          <a:p>
            <a:pPr algn="ctr"/>
            <a:r>
              <a:rPr lang="en-US" sz="24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in to Electrical energy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4114800"/>
            <a:ext cx="38368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3. Metal ions cause the flow </a:t>
            </a:r>
          </a:p>
          <a:p>
            <a:pPr algn="ctr"/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of electricity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0" y="4114800"/>
            <a:ext cx="3532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3. Free electron cause the </a:t>
            </a:r>
          </a:p>
          <a:p>
            <a:pPr algn="ctr"/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flow of electricity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8600" y="4876800"/>
            <a:ext cx="37208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4. Anode is positively and </a:t>
            </a:r>
          </a:p>
          <a:p>
            <a:pPr algn="ctr"/>
            <a:r>
              <a:rPr lang="en-US" sz="24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Cathode negatively charged</a:t>
            </a:r>
            <a:endParaRPr lang="en-US" sz="2400" b="1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48200" y="4884003"/>
            <a:ext cx="36392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4. Anode is negatively and </a:t>
            </a:r>
          </a:p>
          <a:p>
            <a:r>
              <a:rPr lang="en-US" sz="24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Cathode positively charged</a:t>
            </a:r>
            <a:endParaRPr lang="en-US" sz="2400" b="1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4800" y="5791200"/>
            <a:ext cx="27401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5. Redox reaction is </a:t>
            </a:r>
          </a:p>
          <a:p>
            <a:pPr algn="ctr"/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non-spontaneous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76800" y="5791200"/>
            <a:ext cx="27401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5. Redox reaction is </a:t>
            </a:r>
          </a:p>
          <a:p>
            <a:pPr algn="ctr"/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spontaneous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0"/>
            <a:ext cx="5181600" cy="1143000"/>
          </a:xfrm>
          <a:ln>
            <a:noFill/>
          </a:ln>
        </p:spPr>
        <p:txBody>
          <a:bodyPr/>
          <a:lstStyle/>
          <a:p>
            <a:r>
              <a:rPr lang="en-US" b="1" dirty="0" smtClean="0"/>
              <a:t>Types of Battery</a:t>
            </a:r>
            <a:endParaRPr lang="en-US" b="1" dirty="0"/>
          </a:p>
        </p:txBody>
      </p:sp>
      <p:sp>
        <p:nvSpPr>
          <p:cNvPr id="5" name="Content Placeholder 2"/>
          <p:cNvSpPr>
            <a:spLocks noGrp="1" noChangeArrowheads="1"/>
          </p:cNvSpPr>
          <p:nvPr>
            <p:ph sz="half" idx="2"/>
          </p:nvPr>
        </p:nvSpPr>
        <p:spPr>
          <a:xfrm>
            <a:off x="1219200" y="2362200"/>
            <a:ext cx="8229600" cy="3763963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altLang="en-US" sz="30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Primary batteries</a:t>
            </a:r>
            <a:r>
              <a:rPr lang="en-US" altLang="en-US" sz="30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</a:p>
          <a:p>
            <a:pPr algn="just"/>
            <a:r>
              <a:rPr lang="en-US" altLang="en-US" sz="2000" b="1" dirty="0" smtClean="0"/>
              <a:t>one continuous discharge, </a:t>
            </a:r>
          </a:p>
          <a:p>
            <a:pPr algn="just"/>
            <a:r>
              <a:rPr lang="en-US" altLang="en-US" sz="2000" b="1" dirty="0" smtClean="0"/>
              <a:t>cannot be reused and re-charged. </a:t>
            </a:r>
          </a:p>
          <a:p>
            <a:pPr algn="just"/>
            <a:r>
              <a:rPr lang="en-US" altLang="en-US" sz="2000" b="1" dirty="0" smtClean="0"/>
              <a:t>Use in flashlights.</a:t>
            </a:r>
          </a:p>
          <a:p>
            <a:pPr algn="just"/>
            <a:endParaRPr lang="en-US" altLang="en-US" sz="2000" b="1" dirty="0" smtClean="0"/>
          </a:p>
          <a:p>
            <a:pPr algn="ctr"/>
            <a:r>
              <a:rPr lang="en-US" altLang="en-US" sz="30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 secondary or storage battery </a:t>
            </a:r>
          </a:p>
          <a:p>
            <a:pPr algn="just"/>
            <a:r>
              <a:rPr lang="en-US" altLang="en-US" sz="2000" b="1" dirty="0" smtClean="0"/>
              <a:t>change is reversible. </a:t>
            </a:r>
          </a:p>
          <a:p>
            <a:pPr algn="just"/>
            <a:r>
              <a:rPr lang="en-US" altLang="en-US" sz="2000" b="1" dirty="0" smtClean="0"/>
              <a:t>After the battery has discharged, it is brought </a:t>
            </a:r>
          </a:p>
          <a:p>
            <a:pPr algn="just">
              <a:buNone/>
            </a:pPr>
            <a:r>
              <a:rPr lang="en-US" altLang="en-US" sz="2000" b="1" dirty="0" smtClean="0"/>
              <a:t>     back to a charged state. </a:t>
            </a:r>
          </a:p>
          <a:p>
            <a:pPr algn="just">
              <a:lnSpc>
                <a:spcPct val="160000"/>
              </a:lnSpc>
            </a:pPr>
            <a:r>
              <a:rPr lang="en-US" altLang="en-US" sz="2000" b="1" dirty="0" smtClean="0"/>
              <a:t>lead- (sulfuric) acid battery.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7800" y="13716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altLang="en-US" dirty="0" smtClean="0"/>
              <a:t>They are two types of batteries- </a:t>
            </a:r>
          </a:p>
          <a:p>
            <a:pPr algn="just">
              <a:buFont typeface="Wingdings" pitchFamily="2" charset="2"/>
              <a:buChar char="§"/>
            </a:pPr>
            <a:r>
              <a:rPr lang="en-US" altLang="en-US" b="1" dirty="0" smtClean="0"/>
              <a:t>Primary batteries </a:t>
            </a:r>
          </a:p>
          <a:p>
            <a:pPr algn="just">
              <a:buFont typeface="Arial" pitchFamily="34" charset="0"/>
              <a:buChar char="•"/>
            </a:pPr>
            <a:r>
              <a:rPr lang="en-US" altLang="en-US" b="1" dirty="0" smtClean="0"/>
              <a:t>Secondary or storage batteries</a:t>
            </a:r>
            <a:r>
              <a:rPr lang="en-US" altLang="en-US" dirty="0" smtClean="0"/>
              <a:t>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2" name="Picture 3" descr="http://blog.uwgb.edu/chem212/files/2013/01/Leclanche-cell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828800"/>
            <a:ext cx="3733800" cy="3913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3" name="TextBox 4"/>
          <p:cNvSpPr txBox="1">
            <a:spLocks noChangeArrowheads="1"/>
          </p:cNvSpPr>
          <p:nvPr/>
        </p:nvSpPr>
        <p:spPr bwMode="auto">
          <a:xfrm>
            <a:off x="2895600" y="533400"/>
            <a:ext cx="4114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sz="4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Primary </a:t>
            </a:r>
            <a:r>
              <a:rPr lang="en-US" altLang="en-US" sz="40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Battery</a:t>
            </a:r>
            <a:endParaRPr lang="en-US" altLang="en-US" sz="40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8" name="Picture 7" descr="http://minichemistry.com/wp-content/uploads/2015/05/electrolyic-cell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37247" y="2360612"/>
            <a:ext cx="3800838" cy="304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 noChangeArrowheads="1"/>
          </p:cNvSpPr>
          <p:nvPr>
            <p:ph type="title"/>
          </p:nvPr>
        </p:nvSpPr>
        <p:spPr>
          <a:xfrm>
            <a:off x="1143000" y="533400"/>
            <a:ext cx="7543800" cy="523875"/>
          </a:xfrm>
        </p:spPr>
        <p:txBody>
          <a:bodyPr/>
          <a:lstStyle/>
          <a:p>
            <a:r>
              <a:rPr lang="en-US" altLang="en-US" sz="2800" b="1" dirty="0" smtClean="0"/>
              <a:t>Discharge reactions in a primary battery: 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00" dirty="0" smtClean="0">
                <a:latin typeface="Calibri" pitchFamily="34" charset="0"/>
                <a:cs typeface="Calibri" pitchFamily="34" charset="0"/>
              </a:rPr>
              <a:t>Anode: Zn → Zn</a:t>
            </a:r>
            <a:r>
              <a:rPr lang="en-US" sz="2600" baseline="30000" dirty="0" smtClean="0">
                <a:latin typeface="Calibri" pitchFamily="34" charset="0"/>
                <a:cs typeface="Calibri" pitchFamily="34" charset="0"/>
              </a:rPr>
              <a:t>2+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 + 2e</a:t>
            </a:r>
            <a:r>
              <a:rPr lang="en-US" sz="2600" baseline="30000" dirty="0" smtClean="0">
                <a:latin typeface="Calibri" pitchFamily="34" charset="0"/>
                <a:cs typeface="Calibri" pitchFamily="34" charset="0"/>
              </a:rPr>
              <a:t>–</a:t>
            </a:r>
            <a:endParaRPr lang="en-US" sz="26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600" dirty="0" smtClean="0">
                <a:latin typeface="Calibri" pitchFamily="34" charset="0"/>
                <a:cs typeface="Calibri" pitchFamily="34" charset="0"/>
              </a:rPr>
              <a:t>Cathode: 2NH</a:t>
            </a:r>
            <a:r>
              <a:rPr lang="en-US" sz="2600" baseline="-25000" dirty="0" smtClean="0">
                <a:latin typeface="Calibri" pitchFamily="34" charset="0"/>
                <a:cs typeface="Calibri" pitchFamily="34" charset="0"/>
              </a:rPr>
              <a:t>4</a:t>
            </a:r>
            <a:r>
              <a:rPr lang="en-US" sz="2600" baseline="30000" dirty="0" smtClean="0">
                <a:latin typeface="Calibri" pitchFamily="34" charset="0"/>
                <a:cs typeface="Calibri" pitchFamily="34" charset="0"/>
              </a:rPr>
              <a:t>+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 + 2MnO</a:t>
            </a:r>
            <a:r>
              <a:rPr lang="en-US" sz="2600" baseline="-25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 + 2e</a:t>
            </a:r>
            <a:r>
              <a:rPr lang="en-US" sz="2600" baseline="30000" dirty="0" smtClean="0">
                <a:latin typeface="Calibri" pitchFamily="34" charset="0"/>
                <a:cs typeface="Calibri" pitchFamily="34" charset="0"/>
              </a:rPr>
              <a:t>–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 → Mn</a:t>
            </a:r>
            <a:r>
              <a:rPr lang="en-US" sz="2600" baseline="-25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O</a:t>
            </a:r>
            <a:r>
              <a:rPr lang="en-US" sz="2600" baseline="-25000" dirty="0" smtClean="0">
                <a:latin typeface="Calibri" pitchFamily="34" charset="0"/>
                <a:cs typeface="Calibri" pitchFamily="34" charset="0"/>
              </a:rPr>
              <a:t>3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 + H</a:t>
            </a:r>
            <a:r>
              <a:rPr lang="en-US" sz="2600" baseline="-25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O + 2NH</a:t>
            </a:r>
            <a:r>
              <a:rPr lang="en-US" sz="2600" baseline="-25000" dirty="0" smtClean="0">
                <a:latin typeface="Calibri" pitchFamily="34" charset="0"/>
                <a:cs typeface="Calibri" pitchFamily="34" charset="0"/>
              </a:rPr>
              <a:t>3</a:t>
            </a:r>
            <a:endParaRPr lang="en-US" sz="26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600" dirty="0" smtClean="0">
                <a:latin typeface="Calibri" pitchFamily="34" charset="0"/>
                <a:cs typeface="Calibri" pitchFamily="34" charset="0"/>
              </a:rPr>
              <a:t>However, this is complicated by the fact that the ammonium ion produces 2 gaseous products:</a:t>
            </a:r>
          </a:p>
          <a:p>
            <a:r>
              <a:rPr lang="en-US" sz="2600" dirty="0" smtClean="0">
                <a:latin typeface="Calibri" pitchFamily="34" charset="0"/>
                <a:cs typeface="Calibri" pitchFamily="34" charset="0"/>
              </a:rPr>
              <a:t>2NH</a:t>
            </a:r>
            <a:r>
              <a:rPr lang="en-US" sz="2600" baseline="30000" dirty="0" smtClean="0">
                <a:latin typeface="Calibri" pitchFamily="34" charset="0"/>
                <a:cs typeface="Calibri" pitchFamily="34" charset="0"/>
              </a:rPr>
              <a:t>4+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 + 2e</a:t>
            </a:r>
            <a:r>
              <a:rPr lang="en-US" sz="2600" baseline="30000" dirty="0" smtClean="0">
                <a:latin typeface="Calibri" pitchFamily="34" charset="0"/>
                <a:cs typeface="Calibri" pitchFamily="34" charset="0"/>
              </a:rPr>
              <a:t>–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 → 2NH</a:t>
            </a:r>
            <a:r>
              <a:rPr lang="en-US" sz="2600" baseline="-25000" dirty="0" smtClean="0">
                <a:latin typeface="Calibri" pitchFamily="34" charset="0"/>
                <a:cs typeface="Calibri" pitchFamily="34" charset="0"/>
              </a:rPr>
              <a:t>3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 + H</a:t>
            </a:r>
            <a:r>
              <a:rPr lang="en-US" sz="2600" baseline="-25000" dirty="0" smtClean="0">
                <a:latin typeface="Calibri" pitchFamily="34" charset="0"/>
                <a:cs typeface="Calibri" pitchFamily="34" charset="0"/>
              </a:rPr>
              <a:t>2</a:t>
            </a:r>
            <a:endParaRPr lang="en-US" sz="26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600" dirty="0" smtClean="0">
                <a:latin typeface="Calibri" pitchFamily="34" charset="0"/>
                <a:cs typeface="Calibri" pitchFamily="34" charset="0"/>
              </a:rPr>
              <a:t>These products must be absorbed in order to prevent build up of pressure in the vessel. This occurs by the mechanism:</a:t>
            </a:r>
          </a:p>
          <a:p>
            <a:r>
              <a:rPr lang="en-US" sz="2600" dirty="0" smtClean="0">
                <a:latin typeface="Calibri" pitchFamily="34" charset="0"/>
                <a:cs typeface="Calibri" pitchFamily="34" charset="0"/>
              </a:rPr>
              <a:t>ZnCl</a:t>
            </a:r>
            <a:r>
              <a:rPr lang="en-US" sz="2600" baseline="-25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 + 2NH</a:t>
            </a:r>
            <a:r>
              <a:rPr lang="en-US" sz="2600" baseline="-25000" dirty="0" smtClean="0">
                <a:latin typeface="Calibri" pitchFamily="34" charset="0"/>
                <a:cs typeface="Calibri" pitchFamily="34" charset="0"/>
              </a:rPr>
              <a:t>3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 → Zn(NH</a:t>
            </a:r>
            <a:r>
              <a:rPr lang="en-US" sz="2600" baseline="-25000" dirty="0" smtClean="0">
                <a:latin typeface="Calibri" pitchFamily="34" charset="0"/>
                <a:cs typeface="Calibri" pitchFamily="34" charset="0"/>
              </a:rPr>
              <a:t>3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)</a:t>
            </a:r>
            <a:r>
              <a:rPr lang="en-US" sz="2600" baseline="-25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Cl</a:t>
            </a:r>
            <a:r>
              <a:rPr lang="en-US" sz="2600" baseline="-25000" dirty="0" smtClean="0">
                <a:latin typeface="Calibri" pitchFamily="34" charset="0"/>
                <a:cs typeface="Calibri" pitchFamily="34" charset="0"/>
              </a:rPr>
              <a:t>2</a:t>
            </a:r>
            <a:endParaRPr lang="en-US" sz="26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 smtClean="0">
                <a:latin typeface="Calibri" pitchFamily="34" charset="0"/>
                <a:cs typeface="Calibri" pitchFamily="34" charset="0"/>
              </a:rPr>
              <a:t>2MnO</a:t>
            </a:r>
            <a:r>
              <a:rPr lang="en-US" sz="2400" baseline="-25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 + H</a:t>
            </a:r>
            <a:r>
              <a:rPr lang="en-US" sz="2400" baseline="-25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 → Mn</a:t>
            </a:r>
            <a:r>
              <a:rPr lang="en-US" sz="2400" baseline="-25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O</a:t>
            </a:r>
            <a:r>
              <a:rPr lang="en-US" sz="2400" baseline="-25000" dirty="0" smtClean="0">
                <a:latin typeface="Calibri" pitchFamily="34" charset="0"/>
                <a:cs typeface="Calibri" pitchFamily="34" charset="0"/>
              </a:rPr>
              <a:t>3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 + H</a:t>
            </a:r>
            <a:r>
              <a:rPr lang="en-US" sz="2400" baseline="-25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O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TextBox 4"/>
          <p:cNvSpPr txBox="1">
            <a:spLocks noChangeArrowheads="1"/>
          </p:cNvSpPr>
          <p:nvPr/>
        </p:nvSpPr>
        <p:spPr bwMode="auto">
          <a:xfrm>
            <a:off x="2971800" y="457200"/>
            <a:ext cx="4191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sz="4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Secondary </a:t>
            </a:r>
            <a:r>
              <a:rPr lang="en-US" altLang="en-US" sz="40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Battery</a:t>
            </a:r>
            <a:endParaRPr lang="en-US" altLang="en-US" sz="40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1751" name="Picture 4" descr="http://1.bp.blogspot.com/-RkqIRoTa4UU/VO3gqZVmm3I/AAAAAAAABcs/KtQ6BvNcvoQ/s1600/Lead%2Bstorage%2Bbatter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524000"/>
            <a:ext cx="5921058" cy="4498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 noChangeArrowheads="1"/>
          </p:cNvSpPr>
          <p:nvPr>
            <p:ph type="title"/>
          </p:nvPr>
        </p:nvSpPr>
        <p:spPr>
          <a:xfrm>
            <a:off x="1447800" y="304800"/>
            <a:ext cx="7531100" cy="954088"/>
          </a:xfrm>
        </p:spPr>
        <p:txBody>
          <a:bodyPr/>
          <a:lstStyle/>
          <a:p>
            <a:pPr algn="ctr"/>
            <a:r>
              <a:rPr lang="en-US" altLang="en-US" sz="2800" b="1" dirty="0" smtClean="0"/>
              <a:t>Discharge and charge reactions in a secondary battery: </a:t>
            </a:r>
            <a:endParaRPr lang="en-US" altLang="en-US" sz="2800" dirty="0" smtClean="0"/>
          </a:p>
        </p:txBody>
      </p:sp>
      <p:sp>
        <p:nvSpPr>
          <p:cNvPr id="2969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 smtClean="0"/>
              <a:t>Anode (Oxidation)</a:t>
            </a:r>
            <a:r>
              <a:rPr lang="en-US" altLang="en-US" sz="2000" dirty="0" smtClean="0"/>
              <a:t>: </a:t>
            </a:r>
          </a:p>
          <a:p>
            <a:r>
              <a:rPr lang="en-US" altLang="en-US" sz="2000" dirty="0" smtClean="0"/>
              <a:t>            </a:t>
            </a:r>
            <a:r>
              <a:rPr lang="en-US" altLang="en-US" sz="2000" dirty="0" err="1" smtClean="0"/>
              <a:t>Pb</a:t>
            </a:r>
            <a:r>
              <a:rPr lang="en-US" altLang="en-US" sz="2000" dirty="0" smtClean="0"/>
              <a:t> (s) + H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SO</a:t>
            </a:r>
            <a:r>
              <a:rPr lang="en-US" altLang="en-US" sz="2000" baseline="-25000" dirty="0" smtClean="0"/>
              <a:t>4</a:t>
            </a:r>
            <a:r>
              <a:rPr lang="en-US" altLang="en-US" sz="2000" dirty="0" smtClean="0"/>
              <a:t> (</a:t>
            </a:r>
            <a:r>
              <a:rPr lang="en-US" altLang="en-US" sz="2000" dirty="0" err="1" smtClean="0"/>
              <a:t>aq</a:t>
            </a:r>
            <a:r>
              <a:rPr lang="en-US" altLang="en-US" sz="2000" dirty="0" smtClean="0"/>
              <a:t>) → PbSO</a:t>
            </a:r>
            <a:r>
              <a:rPr lang="en-US" altLang="en-US" sz="2000" baseline="-25000" dirty="0" smtClean="0"/>
              <a:t>4</a:t>
            </a:r>
            <a:r>
              <a:rPr lang="en-US" altLang="en-US" sz="2000" dirty="0" smtClean="0"/>
              <a:t> (s) + 2e</a:t>
            </a:r>
            <a:r>
              <a:rPr lang="en-US" altLang="en-US" sz="2000" baseline="30000" dirty="0" smtClean="0"/>
              <a:t>-</a:t>
            </a:r>
            <a:r>
              <a:rPr lang="en-US" altLang="en-US" sz="2000" dirty="0" smtClean="0"/>
              <a:t> + 2H</a:t>
            </a:r>
            <a:r>
              <a:rPr lang="en-US" altLang="en-US" sz="2000" baseline="30000" dirty="0" smtClean="0"/>
              <a:t>+</a:t>
            </a:r>
            <a:r>
              <a:rPr lang="en-US" altLang="en-US" sz="2000" dirty="0" smtClean="0"/>
              <a:t> (</a:t>
            </a:r>
            <a:r>
              <a:rPr lang="en-US" altLang="en-US" sz="2000" dirty="0" err="1" smtClean="0"/>
              <a:t>aq</a:t>
            </a:r>
            <a:r>
              <a:rPr lang="en-US" altLang="en-US" sz="2000" dirty="0" smtClean="0"/>
              <a:t>)</a:t>
            </a:r>
          </a:p>
          <a:p>
            <a:r>
              <a:rPr lang="en-US" altLang="en-US" sz="2000" b="1" dirty="0" smtClean="0"/>
              <a:t>Cathode (Reduction)</a:t>
            </a:r>
            <a:r>
              <a:rPr lang="en-US" altLang="en-US" sz="2000" dirty="0" smtClean="0"/>
              <a:t>: </a:t>
            </a:r>
          </a:p>
          <a:p>
            <a:r>
              <a:rPr lang="en-US" altLang="en-US" sz="2000" dirty="0" smtClean="0"/>
              <a:t>            PbO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 (s) + 2H</a:t>
            </a:r>
            <a:r>
              <a:rPr lang="en-US" altLang="en-US" sz="2000" baseline="30000" dirty="0" smtClean="0"/>
              <a:t>+</a:t>
            </a:r>
            <a:r>
              <a:rPr lang="en-US" altLang="en-US" sz="2000" dirty="0" smtClean="0"/>
              <a:t> + H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SO</a:t>
            </a:r>
            <a:r>
              <a:rPr lang="en-US" altLang="en-US" sz="2000" baseline="-25000" dirty="0" smtClean="0"/>
              <a:t>4</a:t>
            </a:r>
            <a:r>
              <a:rPr lang="en-US" altLang="en-US" sz="2000" dirty="0" smtClean="0"/>
              <a:t> (</a:t>
            </a:r>
            <a:r>
              <a:rPr lang="en-US" altLang="en-US" sz="2000" dirty="0" err="1" smtClean="0"/>
              <a:t>aq</a:t>
            </a:r>
            <a:r>
              <a:rPr lang="en-US" altLang="en-US" sz="2000" dirty="0" smtClean="0"/>
              <a:t>) + 2e</a:t>
            </a:r>
            <a:r>
              <a:rPr lang="en-US" altLang="en-US" sz="2000" baseline="30000" dirty="0" smtClean="0"/>
              <a:t>-</a:t>
            </a:r>
            <a:r>
              <a:rPr lang="en-US" altLang="en-US" sz="2000" dirty="0" smtClean="0"/>
              <a:t> → PbSO</a:t>
            </a:r>
            <a:r>
              <a:rPr lang="en-US" altLang="en-US" sz="2000" baseline="-25000" dirty="0" smtClean="0"/>
              <a:t>4</a:t>
            </a:r>
            <a:r>
              <a:rPr lang="en-US" altLang="en-US" sz="2000" dirty="0" smtClean="0"/>
              <a:t> (s) + 2H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O (l)</a:t>
            </a:r>
          </a:p>
          <a:p>
            <a:r>
              <a:rPr lang="en-US" altLang="en-US" sz="2000" b="1" dirty="0" smtClean="0"/>
              <a:t>Overall Reaction</a:t>
            </a:r>
            <a:r>
              <a:rPr lang="en-US" altLang="en-US" sz="2000" dirty="0" smtClean="0"/>
              <a:t>: </a:t>
            </a:r>
          </a:p>
          <a:p>
            <a:r>
              <a:rPr lang="en-US" altLang="en-US" sz="2000" dirty="0" smtClean="0"/>
              <a:t>                                                                   → (discharging)</a:t>
            </a:r>
          </a:p>
          <a:p>
            <a:r>
              <a:rPr lang="en-US" altLang="en-US" sz="2000" dirty="0" smtClean="0"/>
              <a:t>            PbO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 (s) + </a:t>
            </a:r>
            <a:r>
              <a:rPr lang="en-US" altLang="en-US" sz="2000" dirty="0" err="1" smtClean="0"/>
              <a:t>Pb</a:t>
            </a:r>
            <a:r>
              <a:rPr lang="en-US" altLang="en-US" sz="2000" dirty="0" smtClean="0"/>
              <a:t> (s) + 2H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SO</a:t>
            </a:r>
            <a:r>
              <a:rPr lang="en-US" altLang="en-US" sz="2000" baseline="-25000" dirty="0" smtClean="0"/>
              <a:t>4</a:t>
            </a:r>
            <a:r>
              <a:rPr lang="en-US" altLang="en-US" sz="2000" dirty="0" smtClean="0"/>
              <a:t> (</a:t>
            </a:r>
            <a:r>
              <a:rPr lang="en-US" altLang="en-US" sz="2000" dirty="0" err="1" smtClean="0"/>
              <a:t>aq</a:t>
            </a:r>
            <a:r>
              <a:rPr lang="en-US" altLang="en-US" sz="2000" dirty="0" smtClean="0"/>
              <a:t>)   =   2PbSO</a:t>
            </a:r>
            <a:r>
              <a:rPr lang="en-US" altLang="en-US" sz="2000" baseline="-25000" dirty="0" smtClean="0"/>
              <a:t>4</a:t>
            </a:r>
            <a:r>
              <a:rPr lang="en-US" altLang="en-US" sz="2000" dirty="0" smtClean="0"/>
              <a:t> (s) + 2H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O (l)</a:t>
            </a:r>
          </a:p>
          <a:p>
            <a:r>
              <a:rPr lang="en-US" altLang="en-US" sz="2000" dirty="0" smtClean="0"/>
              <a:t>                                                                   ← (charging)</a:t>
            </a:r>
          </a:p>
          <a:p>
            <a:r>
              <a:rPr lang="en-US" altLang="en-US" sz="2000" dirty="0" smtClean="0"/>
              <a:t>Repeated charging causes hydrolysis of H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O into H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 and O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, so distilled water is added.</a:t>
            </a:r>
          </a:p>
          <a:p>
            <a:endParaRPr lang="en-US" altLang="en-US" sz="20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4114800" cy="1143000"/>
          </a:xfrm>
        </p:spPr>
        <p:txBody>
          <a:bodyPr/>
          <a:lstStyle/>
          <a:p>
            <a:pPr eaLnBrk="1" hangingPunct="1"/>
            <a:r>
              <a:rPr lang="en-US" altLang="en-US" b="1" dirty="0" smtClean="0">
                <a:solidFill>
                  <a:srgbClr val="FF0000"/>
                </a:solidFill>
              </a:rPr>
              <a:t>Cell Potentials</a:t>
            </a:r>
          </a:p>
        </p:txBody>
      </p:sp>
      <p:pic>
        <p:nvPicPr>
          <p:cNvPr id="38914" name="Picture 5" descr="20_05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 b="19560"/>
          <a:stretch>
            <a:fillRect/>
          </a:stretch>
        </p:blipFill>
        <p:spPr>
          <a:xfrm>
            <a:off x="1905000" y="1219200"/>
            <a:ext cx="5867400" cy="3727450"/>
          </a:xfrm>
        </p:spPr>
      </p:pic>
      <p:sp>
        <p:nvSpPr>
          <p:cNvPr id="48132" name="Rectangle 4">
            <a:extLst/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057400" y="5791200"/>
            <a:ext cx="4918075" cy="9144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400" kern="1200" dirty="0">
                <a:solidFill>
                  <a:srgbClr val="000000"/>
                </a:solidFill>
              </a:rPr>
              <a:t>	</a:t>
            </a:r>
            <a:r>
              <a:rPr lang="en-US" altLang="en-US" sz="2400" dirty="0" smtClean="0">
                <a:solidFill>
                  <a:srgbClr val="C82E3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altLang="en-US" sz="2400" dirty="0" err="1" smtClean="0">
                <a:latin typeface="Calibri" pitchFamily="34" charset="0"/>
                <a:cs typeface="Calibri" pitchFamily="34" charset="0"/>
              </a:rPr>
              <a:t>E</a:t>
            </a:r>
            <a:r>
              <a:rPr lang="en-US" altLang="en-US" sz="2400" baseline="-25000" dirty="0" err="1" smtClean="0">
                <a:latin typeface="Calibri" pitchFamily="34" charset="0"/>
                <a:cs typeface="Calibri" pitchFamily="34" charset="0"/>
              </a:rPr>
              <a:t>cell</a:t>
            </a:r>
            <a:r>
              <a:rPr lang="en-US" altLang="en-US" sz="2400" kern="1200" dirty="0" smtClean="0">
                <a:solidFill>
                  <a:srgbClr val="000000"/>
                </a:solidFill>
              </a:rPr>
              <a:t>= </a:t>
            </a:r>
            <a:r>
              <a:rPr lang="en-US" altLang="en-US" sz="2400" kern="1200" dirty="0">
                <a:solidFill>
                  <a:srgbClr val="000000"/>
                </a:solidFill>
              </a:rPr>
              <a:t>+0.34 V </a:t>
            </a:r>
            <a:r>
              <a:rPr lang="en-US" altLang="en-US" sz="2400" kern="1200" dirty="0" smtClean="0">
                <a:solidFill>
                  <a:srgbClr val="000000"/>
                </a:solidFill>
              </a:rPr>
              <a:t>+0.76 V</a:t>
            </a:r>
            <a:endParaRPr lang="en-US" altLang="en-US" sz="2400" kern="1200" dirty="0">
              <a:solidFill>
                <a:srgbClr val="000000"/>
              </a:solidFill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400" kern="1200" dirty="0">
                <a:solidFill>
                  <a:srgbClr val="000000"/>
                </a:solidFill>
              </a:rPr>
              <a:t>	= +1.10 V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281112" y="5181600"/>
            <a:ext cx="2224088" cy="550863"/>
            <a:chOff x="4086" y="1252"/>
            <a:chExt cx="1401" cy="347"/>
          </a:xfrm>
        </p:grpSpPr>
        <p:sp>
          <p:nvSpPr>
            <p:cNvPr id="38921" name="Rectangle 10"/>
            <p:cNvSpPr>
              <a:spLocks noChangeArrowheads="1"/>
            </p:cNvSpPr>
            <p:nvPr/>
          </p:nvSpPr>
          <p:spPr bwMode="auto">
            <a:xfrm>
              <a:off x="4201" y="1252"/>
              <a:ext cx="128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altLang="en-US" sz="2800" dirty="0" err="1">
                  <a:solidFill>
                    <a:srgbClr val="C82E32"/>
                  </a:solidFill>
                  <a:latin typeface="Calibri" pitchFamily="34" charset="0"/>
                  <a:cs typeface="Calibri" pitchFamily="34" charset="0"/>
                </a:rPr>
                <a:t>E</a:t>
              </a:r>
              <a:r>
                <a:rPr lang="en-US" altLang="en-US" sz="2800" baseline="-25000" dirty="0" err="1">
                  <a:solidFill>
                    <a:srgbClr val="C82E32"/>
                  </a:solidFill>
                  <a:latin typeface="Calibri" pitchFamily="34" charset="0"/>
                  <a:cs typeface="Calibri" pitchFamily="34" charset="0"/>
                </a:rPr>
                <a:t>an</a:t>
              </a:r>
              <a:r>
                <a:rPr lang="en-US" altLang="en-US" sz="2800" dirty="0">
                  <a:solidFill>
                    <a:srgbClr val="C82E32"/>
                  </a:solidFill>
                  <a:latin typeface="Calibri" pitchFamily="34" charset="0"/>
                  <a:cs typeface="Calibri" pitchFamily="34" charset="0"/>
                </a:rPr>
                <a:t> = +0.76 V</a:t>
              </a:r>
            </a:p>
          </p:txBody>
        </p:sp>
        <p:sp>
          <p:nvSpPr>
            <p:cNvPr id="38922" name="Rectangle 11"/>
            <p:cNvSpPr>
              <a:spLocks noChangeArrowheads="1"/>
            </p:cNvSpPr>
            <p:nvPr/>
          </p:nvSpPr>
          <p:spPr bwMode="auto">
            <a:xfrm>
              <a:off x="4086" y="1269"/>
              <a:ext cx="11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endParaRPr lang="en-US" altLang="en-US" sz="2800">
                <a:solidFill>
                  <a:srgbClr val="C82E32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5791200" y="5081587"/>
            <a:ext cx="2411413" cy="938213"/>
            <a:chOff x="4080" y="2064"/>
            <a:chExt cx="1519" cy="591"/>
          </a:xfrm>
        </p:grpSpPr>
        <p:sp>
          <p:nvSpPr>
            <p:cNvPr id="38919" name="Rectangle 14"/>
            <p:cNvSpPr>
              <a:spLocks noChangeArrowheads="1"/>
            </p:cNvSpPr>
            <p:nvPr/>
          </p:nvSpPr>
          <p:spPr bwMode="auto">
            <a:xfrm>
              <a:off x="4280" y="2064"/>
              <a:ext cx="131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altLang="en-US" sz="2800" dirty="0" err="1">
                  <a:solidFill>
                    <a:srgbClr val="C82E32"/>
                  </a:solidFill>
                  <a:latin typeface="Calibri" pitchFamily="34" charset="0"/>
                  <a:cs typeface="Calibri" pitchFamily="34" charset="0"/>
                </a:rPr>
                <a:t>E</a:t>
              </a:r>
              <a:r>
                <a:rPr lang="en-US" altLang="en-US" sz="2800" baseline="-25000" dirty="0" err="1">
                  <a:solidFill>
                    <a:srgbClr val="C82E32"/>
                  </a:solidFill>
                  <a:latin typeface="Calibri" pitchFamily="34" charset="0"/>
                  <a:cs typeface="Calibri" pitchFamily="34" charset="0"/>
                </a:rPr>
                <a:t>cat</a:t>
              </a:r>
              <a:r>
                <a:rPr lang="en-US" altLang="en-US" sz="2800" dirty="0">
                  <a:solidFill>
                    <a:srgbClr val="C82E32"/>
                  </a:solidFill>
                  <a:latin typeface="Calibri" pitchFamily="34" charset="0"/>
                  <a:cs typeface="Calibri" pitchFamily="34" charset="0"/>
                </a:rPr>
                <a:t> = +0.34 V</a:t>
              </a:r>
            </a:p>
          </p:txBody>
        </p:sp>
        <p:sp>
          <p:nvSpPr>
            <p:cNvPr id="38920" name="Rectangle 15"/>
            <p:cNvSpPr>
              <a:spLocks noChangeArrowheads="1"/>
            </p:cNvSpPr>
            <p:nvPr/>
          </p:nvSpPr>
          <p:spPr bwMode="auto">
            <a:xfrm>
              <a:off x="4080" y="2325"/>
              <a:ext cx="11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endParaRPr lang="en-US" altLang="en-US" sz="2800">
                <a:solidFill>
                  <a:srgbClr val="C82E32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133600"/>
            <a:ext cx="6172200" cy="11430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 smtClean="0">
                <a:solidFill>
                  <a:srgbClr val="7030A0"/>
                </a:solidFill>
              </a:rPr>
              <a:t>Thank you very much </a:t>
            </a:r>
            <a:br>
              <a:rPr lang="en-US" sz="4400" b="1" dirty="0" smtClean="0">
                <a:solidFill>
                  <a:srgbClr val="7030A0"/>
                </a:solidFill>
              </a:rPr>
            </a:br>
            <a:r>
              <a:rPr lang="en-US" sz="4400" b="1" dirty="0" smtClean="0">
                <a:solidFill>
                  <a:srgbClr val="7030A0"/>
                </a:solidFill>
              </a:rPr>
              <a:t>for your time</a:t>
            </a:r>
            <a:endParaRPr lang="en-US" sz="4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849</TotalTime>
  <Words>645</Words>
  <Application>Microsoft Office PowerPoint</Application>
  <PresentationFormat>On-screen Show (4:3)</PresentationFormat>
  <Paragraphs>140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Gill Sans MT</vt:lpstr>
      <vt:lpstr>Verdana</vt:lpstr>
      <vt:lpstr>Wingdings</vt:lpstr>
      <vt:lpstr>Wingdings 2</vt:lpstr>
      <vt:lpstr>Solstice</vt:lpstr>
      <vt:lpstr>ELECTROCHEMISTRY</vt:lpstr>
      <vt:lpstr>Points to be discussed</vt:lpstr>
      <vt:lpstr>The branch of Physical Chemistry which deals with the relationship between electrical energy and chemical energy and their inter conversion</vt:lpstr>
      <vt:lpstr>Electric conductor</vt:lpstr>
      <vt:lpstr>Types of Electrolytic Conductor</vt:lpstr>
      <vt:lpstr>Electrolysis</vt:lpstr>
      <vt:lpstr>Electrolytic Cells</vt:lpstr>
      <vt:lpstr>Terms in electrolysis</vt:lpstr>
      <vt:lpstr>Mechanism of electrolysis</vt:lpstr>
      <vt:lpstr>Electrochemical series</vt:lpstr>
      <vt:lpstr>Application of Electrolysis</vt:lpstr>
      <vt:lpstr>PowerPoint Presentation</vt:lpstr>
      <vt:lpstr>Electroplating</vt:lpstr>
      <vt:lpstr>Electrochemical Cell (Battery)</vt:lpstr>
      <vt:lpstr>PowerPoint Presentation</vt:lpstr>
      <vt:lpstr>Typical Voltaic Cells</vt:lpstr>
      <vt:lpstr>Difference between electrolytic cell and  Electrochemical cell </vt:lpstr>
      <vt:lpstr>Types of Battery</vt:lpstr>
      <vt:lpstr>PowerPoint Presentation</vt:lpstr>
      <vt:lpstr>Discharge reactions in a primary battery: </vt:lpstr>
      <vt:lpstr>PowerPoint Presentation</vt:lpstr>
      <vt:lpstr>Discharge and charge reactions in a secondary battery: </vt:lpstr>
      <vt:lpstr>Cell Potentials</vt:lpstr>
      <vt:lpstr>Thank you very much  for your time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 Shibly</dc:creator>
  <cp:lastModifiedBy>SHIBLY</cp:lastModifiedBy>
  <cp:revision>277</cp:revision>
  <dcterms:created xsi:type="dcterms:W3CDTF">2023-05-12T11:58:09Z</dcterms:created>
  <dcterms:modified xsi:type="dcterms:W3CDTF">2023-09-03T13:48:02Z</dcterms:modified>
</cp:coreProperties>
</file>