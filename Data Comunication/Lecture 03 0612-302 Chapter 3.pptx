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423" r:id="rId2"/>
    <p:sldId id="287" r:id="rId3"/>
    <p:sldId id="369" r:id="rId4"/>
    <p:sldId id="430" r:id="rId5"/>
    <p:sldId id="366" r:id="rId6"/>
    <p:sldId id="432" r:id="rId7"/>
    <p:sldId id="431" r:id="rId8"/>
    <p:sldId id="433" r:id="rId9"/>
    <p:sldId id="420" r:id="rId10"/>
    <p:sldId id="297" r:id="rId11"/>
    <p:sldId id="367" r:id="rId12"/>
    <p:sldId id="434" r:id="rId13"/>
    <p:sldId id="436" r:id="rId14"/>
    <p:sldId id="437" r:id="rId15"/>
    <p:sldId id="435" r:id="rId16"/>
    <p:sldId id="421" r:id="rId17"/>
    <p:sldId id="438" r:id="rId18"/>
    <p:sldId id="439" r:id="rId19"/>
    <p:sldId id="368" r:id="rId20"/>
    <p:sldId id="441" r:id="rId21"/>
    <p:sldId id="440" r:id="rId22"/>
    <p:sldId id="373" r:id="rId23"/>
    <p:sldId id="442" r:id="rId24"/>
    <p:sldId id="374" r:id="rId25"/>
    <p:sldId id="313" r:id="rId26"/>
    <p:sldId id="376" r:id="rId27"/>
    <p:sldId id="451" r:id="rId28"/>
    <p:sldId id="455" r:id="rId29"/>
    <p:sldId id="383" r:id="rId30"/>
    <p:sldId id="449" r:id="rId31"/>
    <p:sldId id="388" r:id="rId32"/>
    <p:sldId id="444" r:id="rId33"/>
    <p:sldId id="445" r:id="rId34"/>
    <p:sldId id="443" r:id="rId35"/>
    <p:sldId id="446" r:id="rId36"/>
    <p:sldId id="447" r:id="rId37"/>
    <p:sldId id="393" r:id="rId38"/>
    <p:sldId id="413" r:id="rId39"/>
    <p:sldId id="396" r:id="rId40"/>
    <p:sldId id="400" r:id="rId41"/>
    <p:sldId id="422" r:id="rId42"/>
    <p:sldId id="450" r:id="rId43"/>
    <p:sldId id="424" r:id="rId44"/>
    <p:sldId id="452" r:id="rId45"/>
    <p:sldId id="453" r:id="rId46"/>
    <p:sldId id="425" r:id="rId47"/>
    <p:sldId id="454" r:id="rId48"/>
    <p:sldId id="428" r:id="rId49"/>
    <p:sldId id="426" r:id="rId50"/>
    <p:sldId id="429" r:id="rId5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FFCC"/>
    <a:srgbClr val="DDDDDD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 autoAdjust="0"/>
  </p:normalViewPr>
  <p:slideViewPr>
    <p:cSldViewPr>
      <p:cViewPr varScale="1">
        <p:scale>
          <a:sx n="69" d="100"/>
          <a:sy n="69" d="100"/>
        </p:scale>
        <p:origin x="1398" y="48"/>
      </p:cViewPr>
      <p:guideLst>
        <p:guide orient="horz" pos="2160"/>
        <p:guide pos="3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B4B5A7D-8F37-4EC4-967C-784A8188D9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B78733D-6C3B-4A7D-8E8B-59CD48A7117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CBF74DE-46F9-4FDA-8FAB-60CAF804547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A156D358-1E5F-4FB0-B33B-78A79A47511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DC833948-5D07-4173-8A57-28D4EDA846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1DBBD32E-005C-4AED-82BD-61A884EF41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659DFE2-3B77-4699-A89E-500BBF14DF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27254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59DFE2-3B77-4699-A89E-500BBF14DFA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421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2543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137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474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19200"/>
            <a:ext cx="42672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2672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5361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3399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0086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26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1759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242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688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152400"/>
            <a:ext cx="21717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627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234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19200"/>
            <a:ext cx="42672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42672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42672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6899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219200"/>
            <a:ext cx="8686800" cy="49530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0191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222A71-FEEF-4622-8862-C8E258E1A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86800" cy="685800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89F20D7-B67F-4F52-A1F6-0ADE14633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8686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28" name="Group 10">
            <a:extLst>
              <a:ext uri="{FF2B5EF4-FFF2-40B4-BE49-F238E27FC236}">
                <a16:creationId xmlns:a16="http://schemas.microsoft.com/office/drawing/2014/main" id="{54D00E46-D60D-4276-A8CD-799309A6DCE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00363" y="2979738"/>
            <a:ext cx="3343275" cy="900112"/>
            <a:chOff x="0" y="0"/>
            <a:chExt cx="2106" cy="567"/>
          </a:xfrm>
        </p:grpSpPr>
        <p:sp>
          <p:nvSpPr>
            <p:cNvPr id="1031" name="Rectangle 7">
              <a:extLst>
                <a:ext uri="{FF2B5EF4-FFF2-40B4-BE49-F238E27FC236}">
                  <a16:creationId xmlns:a16="http://schemas.microsoft.com/office/drawing/2014/main" id="{42A4CDCB-5FC3-46E7-B8A8-9FA21CD1227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2106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2" name="Rectangle 8">
              <a:extLst>
                <a:ext uri="{FF2B5EF4-FFF2-40B4-BE49-F238E27FC236}">
                  <a16:creationId xmlns:a16="http://schemas.microsoft.com/office/drawing/2014/main" id="{EE84D310-AC9F-48BF-A815-914B2E4F34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2106" cy="5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  </a:t>
              </a:r>
              <a:r>
                <a:rPr lang="en-US" altLang="en-US" sz="5300"/>
                <a:t> </a:t>
              </a:r>
              <a:r>
                <a:rPr lang="en-US" altLang="en-US"/>
                <a:t>                             </a:t>
              </a:r>
            </a:p>
          </p:txBody>
        </p:sp>
      </p:grpSp>
      <p:sp>
        <p:nvSpPr>
          <p:cNvPr id="1029" name="Rectangle 16">
            <a:extLst>
              <a:ext uri="{FF2B5EF4-FFF2-40B4-BE49-F238E27FC236}">
                <a16:creationId xmlns:a16="http://schemas.microsoft.com/office/drawing/2014/main" id="{ABE7042C-7F2B-4C18-A3CC-D0FF6D126B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76200"/>
            <a:ext cx="8991600" cy="62484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0" name="Text Box 18">
            <a:extLst>
              <a:ext uri="{FF2B5EF4-FFF2-40B4-BE49-F238E27FC236}">
                <a16:creationId xmlns:a16="http://schemas.microsoft.com/office/drawing/2014/main" id="{327CBF7D-5FB6-487A-92D8-A35DCB3096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chemeClr val="accent2"/>
                </a:solidFill>
              </a:rPr>
              <a:t>IICT, BUET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219200"/>
            <a:ext cx="8001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EEE-301</a:t>
            </a:r>
          </a:p>
          <a:p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and Telecommunication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76600"/>
            <a:ext cx="8153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Mohammad Shariful Islam</a:t>
            </a:r>
          </a:p>
          <a:p>
            <a:r>
              <a:rPr lang="en-US" sz="2800" dirty="0"/>
              <a:t>Lecturer</a:t>
            </a:r>
          </a:p>
          <a:p>
            <a:r>
              <a:rPr lang="en-US" sz="2800" dirty="0"/>
              <a:t>Dept. of CSE</a:t>
            </a:r>
          </a:p>
          <a:p>
            <a:r>
              <a:rPr lang="en-US" sz="2800" dirty="0"/>
              <a:t>Dhaka International </a:t>
            </a:r>
            <a:r>
              <a:rPr lang="en-US" sz="2800" dirty="0" smtClean="0"/>
              <a:t>University</a:t>
            </a:r>
          </a:p>
          <a:p>
            <a:r>
              <a:rPr lang="en-US" sz="2800" dirty="0" smtClean="0"/>
              <a:t>Contact no.: 01747612143</a:t>
            </a:r>
          </a:p>
          <a:p>
            <a:r>
              <a:rPr lang="en-US" sz="2800" dirty="0" smtClean="0"/>
              <a:t>Email: Shariful.cse@diu.ac, sharifulruhan@gmail.com</a:t>
            </a: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260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2245277"/>
            <a:ext cx="7772400" cy="83099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3333CC"/>
                </a:solidFill>
              </a:rPr>
              <a:t>Chapter-3: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775855" y="3505200"/>
            <a:ext cx="7758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Data Communications and Networking, </a:t>
            </a:r>
            <a:r>
              <a:rPr lang="en-GB" i="1" dirty="0" smtClean="0"/>
              <a:t>4</a:t>
            </a:r>
            <a:r>
              <a:rPr lang="en-GB" i="1" baseline="30000" dirty="0" smtClean="0"/>
              <a:t>th</a:t>
            </a:r>
            <a:r>
              <a:rPr lang="en-GB" i="1" dirty="0" smtClean="0"/>
              <a:t> Edition</a:t>
            </a:r>
          </a:p>
          <a:p>
            <a:r>
              <a:rPr lang="en-GB" i="1" dirty="0"/>
              <a:t>                                                          </a:t>
            </a:r>
            <a:r>
              <a:rPr lang="en-GB" i="1" dirty="0" smtClean="0"/>
              <a:t>   - </a:t>
            </a:r>
            <a:r>
              <a:rPr lang="en-GB" i="1" dirty="0"/>
              <a:t>Behrouz A. Forouzan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A1972F4-0E11-4034-A2D2-EE7C7C080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smtClean="0"/>
              <a:t>Introduction </a:t>
            </a:r>
            <a:endParaRPr lang="en-US" alt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228600" y="906482"/>
            <a:ext cx="8686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>
                <a:cs typeface="Times New Roman" panose="02020603050405020304" pitchFamily="18" charset="0"/>
              </a:rPr>
              <a:t>One of the major functions of the physical layer is to move data in the form of </a:t>
            </a:r>
            <a:r>
              <a:rPr lang="en-GB" sz="3200" dirty="0" smtClean="0">
                <a:cs typeface="Times New Roman" panose="02020603050405020304" pitchFamily="18" charset="0"/>
              </a:rPr>
              <a:t>electromagnetic signals </a:t>
            </a:r>
            <a:r>
              <a:rPr lang="en-GB" sz="3200" dirty="0">
                <a:cs typeface="Times New Roman" panose="02020603050405020304" pitchFamily="18" charset="0"/>
              </a:rPr>
              <a:t>across a transmission medium</a:t>
            </a:r>
            <a:r>
              <a:rPr lang="en-GB" sz="3200" dirty="0" smtClean="0"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 smtClean="0">
                <a:cs typeface="Times New Roman" panose="02020603050405020304" pitchFamily="18" charset="0"/>
              </a:rPr>
              <a:t>Whether </a:t>
            </a:r>
            <a:r>
              <a:rPr lang="en-GB" sz="3200" dirty="0">
                <a:cs typeface="Times New Roman" panose="02020603050405020304" pitchFamily="18" charset="0"/>
              </a:rPr>
              <a:t>you are collecting </a:t>
            </a:r>
            <a:r>
              <a:rPr lang="en-GB" sz="3200" dirty="0" smtClean="0">
                <a:cs typeface="Times New Roman" panose="02020603050405020304" pitchFamily="18" charset="0"/>
              </a:rPr>
              <a:t>numerical statistics </a:t>
            </a:r>
            <a:r>
              <a:rPr lang="en-GB" sz="3200" dirty="0">
                <a:cs typeface="Times New Roman" panose="02020603050405020304" pitchFamily="18" charset="0"/>
              </a:rPr>
              <a:t>from another computer, sending animated pictures </a:t>
            </a:r>
            <a:r>
              <a:rPr lang="en-GB" sz="3200" dirty="0" smtClean="0">
                <a:cs typeface="Times New Roman" panose="02020603050405020304" pitchFamily="18" charset="0"/>
              </a:rPr>
              <a:t>at </a:t>
            </a:r>
            <a:r>
              <a:rPr lang="en-GB" sz="3200" dirty="0">
                <a:cs typeface="Times New Roman" panose="02020603050405020304" pitchFamily="18" charset="0"/>
              </a:rPr>
              <a:t>a distant control </a:t>
            </a:r>
            <a:r>
              <a:rPr lang="en-GB" sz="3200" dirty="0" smtClean="0">
                <a:cs typeface="Times New Roman" panose="02020603050405020304" pitchFamily="18" charset="0"/>
              </a:rPr>
              <a:t>center, </a:t>
            </a:r>
            <a:r>
              <a:rPr lang="en-GB" sz="3200" dirty="0">
                <a:cs typeface="Times New Roman" panose="02020603050405020304" pitchFamily="18" charset="0"/>
              </a:rPr>
              <a:t>you are working with the </a:t>
            </a:r>
            <a:r>
              <a:rPr lang="en-GB" sz="3200" dirty="0" smtClean="0">
                <a:cs typeface="Times New Roman" panose="02020603050405020304" pitchFamily="18" charset="0"/>
              </a:rPr>
              <a:t>transmission of </a:t>
            </a:r>
            <a:r>
              <a:rPr lang="en-GB" sz="3200" dirty="0">
                <a:cs typeface="Times New Roman" panose="02020603050405020304" pitchFamily="18" charset="0"/>
              </a:rPr>
              <a:t>data across network connections</a:t>
            </a:r>
            <a:r>
              <a:rPr lang="en-GB" sz="3200" dirty="0" smtClean="0"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 smtClean="0">
                <a:cs typeface="Times New Roman" panose="02020603050405020304" pitchFamily="18" charset="0"/>
              </a:rPr>
              <a:t>Generally</a:t>
            </a:r>
            <a:r>
              <a:rPr lang="en-GB" sz="3200" dirty="0">
                <a:cs typeface="Times New Roman" panose="02020603050405020304" pitchFamily="18" charset="0"/>
              </a:rPr>
              <a:t>, the data usable to a person or application are not in a form that can </a:t>
            </a:r>
            <a:r>
              <a:rPr lang="en-GB" sz="3200" dirty="0" smtClean="0">
                <a:cs typeface="Times New Roman" panose="02020603050405020304" pitchFamily="18" charset="0"/>
              </a:rPr>
              <a:t>be transmitted </a:t>
            </a:r>
            <a:r>
              <a:rPr lang="en-GB" sz="3200" dirty="0">
                <a:cs typeface="Times New Roman" panose="02020603050405020304" pitchFamily="18" charset="0"/>
              </a:rPr>
              <a:t>over a network. </a:t>
            </a:r>
            <a:endParaRPr lang="en-GB" sz="3200" dirty="0" smtClean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A1972F4-0E11-4034-A2D2-EE7C7C080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smtClean="0"/>
              <a:t>Introduction </a:t>
            </a:r>
            <a:endParaRPr lang="en-US" altLang="en-US" sz="3600" dirty="0"/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2679F661-930C-4190-AA64-FD6BD71B2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96" y="4256782"/>
            <a:ext cx="8876607" cy="1077218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b="1" i="1" dirty="0" smtClean="0"/>
              <a:t>Note: To </a:t>
            </a:r>
            <a:r>
              <a:rPr lang="en-US" altLang="en-US" sz="3200" b="1" i="1" dirty="0"/>
              <a:t>be transmitted, data must be transformed to electromagnetic signals.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228600" y="838200"/>
            <a:ext cx="8686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 smtClean="0">
                <a:latin typeface="+mn-lt"/>
                <a:cs typeface="Times New Roman" panose="02020603050405020304" pitchFamily="18" charset="0"/>
              </a:rPr>
              <a:t>For </a:t>
            </a:r>
            <a:r>
              <a:rPr lang="en-GB" sz="3200" dirty="0">
                <a:latin typeface="+mn-lt"/>
                <a:cs typeface="Times New Roman" panose="02020603050405020304" pitchFamily="18" charset="0"/>
              </a:rPr>
              <a:t>example, a photograph must first be changed to a </a:t>
            </a:r>
            <a:r>
              <a:rPr lang="en-GB" sz="3200" dirty="0" smtClean="0">
                <a:latin typeface="+mn-lt"/>
                <a:cs typeface="Times New Roman" panose="02020603050405020304" pitchFamily="18" charset="0"/>
              </a:rPr>
              <a:t>form that </a:t>
            </a:r>
            <a:r>
              <a:rPr lang="en-GB" sz="3200" dirty="0">
                <a:latin typeface="+mn-lt"/>
                <a:cs typeface="Times New Roman" panose="02020603050405020304" pitchFamily="18" charset="0"/>
              </a:rPr>
              <a:t>transmission media can accept. </a:t>
            </a:r>
            <a:endParaRPr lang="en-GB" sz="3200" dirty="0" smtClean="0">
              <a:latin typeface="+mn-lt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 smtClean="0">
                <a:latin typeface="+mn-lt"/>
                <a:cs typeface="Times New Roman" panose="02020603050405020304" pitchFamily="18" charset="0"/>
              </a:rPr>
              <a:t>Transmission </a:t>
            </a:r>
            <a:r>
              <a:rPr lang="en-GB" sz="3200" dirty="0">
                <a:latin typeface="+mn-lt"/>
                <a:cs typeface="Times New Roman" panose="02020603050405020304" pitchFamily="18" charset="0"/>
              </a:rPr>
              <a:t>media work by conducting </a:t>
            </a:r>
            <a:r>
              <a:rPr lang="en-GB" sz="3200" dirty="0" smtClean="0">
                <a:latin typeface="+mn-lt"/>
                <a:cs typeface="Times New Roman" panose="02020603050405020304" pitchFamily="18" charset="0"/>
              </a:rPr>
              <a:t>energy along </a:t>
            </a:r>
            <a:r>
              <a:rPr lang="en-GB" sz="3200" dirty="0">
                <a:latin typeface="+mn-lt"/>
                <a:cs typeface="Times New Roman" panose="02020603050405020304" pitchFamily="18" charset="0"/>
              </a:rPr>
              <a:t>a physical path</a:t>
            </a:r>
            <a:r>
              <a:rPr lang="en-GB" sz="3200" dirty="0" smtClean="0">
                <a:latin typeface="+mn-lt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+mn-lt"/>
              </a:rPr>
              <a:t>Data stream of 1s and 0s must be turned into energy in the form of electromagnetic signals.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3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37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25729A7-83E8-4471-92B4-DFA3BC229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smtClean="0"/>
              <a:t>Analog </a:t>
            </a:r>
            <a:r>
              <a:rPr lang="en-US" altLang="en-US" sz="3600" dirty="0"/>
              <a:t>and Digital </a:t>
            </a:r>
            <a:r>
              <a:rPr lang="en-US" altLang="en-US" sz="3600" dirty="0" smtClean="0"/>
              <a:t>Data</a:t>
            </a:r>
            <a:endParaRPr lang="en-US" alt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4745" y="821574"/>
            <a:ext cx="8686800" cy="5579225"/>
          </a:xfrm>
        </p:spPr>
        <p:txBody>
          <a:bodyPr/>
          <a:lstStyle/>
          <a:p>
            <a:pPr algn="just"/>
            <a:r>
              <a:rPr lang="en-GB" sz="3000" dirty="0"/>
              <a:t>Data can be analog or digital. </a:t>
            </a:r>
            <a:endParaRPr lang="en-GB" sz="3000" dirty="0" smtClean="0"/>
          </a:p>
          <a:p>
            <a:pPr algn="just"/>
            <a:r>
              <a:rPr lang="en-GB" sz="3000" dirty="0" smtClean="0"/>
              <a:t>The </a:t>
            </a:r>
            <a:r>
              <a:rPr lang="en-GB" sz="3000" dirty="0"/>
              <a:t>term analog data refers to information that is continuous</a:t>
            </a:r>
            <a:r>
              <a:rPr lang="en-GB" sz="3000" dirty="0" smtClean="0"/>
              <a:t>; digital </a:t>
            </a:r>
            <a:r>
              <a:rPr lang="en-GB" sz="3000" dirty="0"/>
              <a:t>data refers to information that has discrete states. </a:t>
            </a:r>
            <a:endParaRPr lang="en-GB" sz="3000" dirty="0" smtClean="0"/>
          </a:p>
          <a:p>
            <a:pPr algn="just"/>
            <a:r>
              <a:rPr lang="en-GB" sz="3000" dirty="0" smtClean="0"/>
              <a:t>Analog </a:t>
            </a:r>
            <a:r>
              <a:rPr lang="en-GB" sz="3000" dirty="0"/>
              <a:t>data, such as the sounds made by a human voice, take on continuous values.</a:t>
            </a:r>
          </a:p>
          <a:p>
            <a:pPr algn="just"/>
            <a:r>
              <a:rPr lang="en-GB" sz="3000" dirty="0"/>
              <a:t>When someone speaks, an analog wave is created in the air. </a:t>
            </a:r>
            <a:endParaRPr lang="en-GB" sz="3000" dirty="0" smtClean="0"/>
          </a:p>
          <a:p>
            <a:pPr algn="just"/>
            <a:r>
              <a:rPr lang="en-GB" sz="3000" dirty="0" smtClean="0"/>
              <a:t>This </a:t>
            </a:r>
            <a:r>
              <a:rPr lang="en-GB" sz="3000" dirty="0"/>
              <a:t>can be captured by </a:t>
            </a:r>
            <a:r>
              <a:rPr lang="en-GB" sz="3000" dirty="0" smtClean="0"/>
              <a:t>a microphone </a:t>
            </a:r>
            <a:r>
              <a:rPr lang="en-GB" sz="3000" dirty="0"/>
              <a:t>and converted to an analog signal or sampled and converted to a </a:t>
            </a:r>
            <a:r>
              <a:rPr lang="en-GB" sz="3000" dirty="0" smtClean="0"/>
              <a:t>digital signal.</a:t>
            </a:r>
            <a:endParaRPr lang="en-GB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25729A7-83E8-4471-92B4-DFA3BC229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smtClean="0"/>
              <a:t>Analog </a:t>
            </a:r>
            <a:r>
              <a:rPr lang="en-US" altLang="en-US" sz="3600" dirty="0"/>
              <a:t>and Digital </a:t>
            </a:r>
            <a:r>
              <a:rPr lang="en-US" altLang="en-US" sz="3600" dirty="0" smtClean="0"/>
              <a:t>Data</a:t>
            </a:r>
            <a:endParaRPr lang="en-US" altLang="en-US" sz="3600" dirty="0"/>
          </a:p>
        </p:txBody>
      </p:sp>
      <p:sp>
        <p:nvSpPr>
          <p:cNvPr id="9220" name="Rectangle 6">
            <a:extLst>
              <a:ext uri="{FF2B5EF4-FFF2-40B4-BE49-F238E27FC236}">
                <a16:creationId xmlns:a16="http://schemas.microsoft.com/office/drawing/2014/main" id="{35A0C3D6-9630-4364-A6B0-27D614876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343400"/>
            <a:ext cx="8702040" cy="1477328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000" b="1" i="1" dirty="0" smtClean="0"/>
              <a:t>Note: </a:t>
            </a:r>
            <a:r>
              <a:rPr lang="en-GB" altLang="en-US" sz="3000" b="1" i="1" dirty="0"/>
              <a:t>Data can be analog or digital. Analog data are continuous and take continuous values</a:t>
            </a:r>
            <a:r>
              <a:rPr lang="en-GB" altLang="en-US" sz="3000" b="1" i="1" dirty="0" smtClean="0"/>
              <a:t>. Digital </a:t>
            </a:r>
            <a:r>
              <a:rPr lang="en-GB" altLang="en-US" sz="3000" b="1" i="1" dirty="0"/>
              <a:t>data have discrete states and take discrete values.</a:t>
            </a:r>
            <a:endParaRPr lang="en-US" altLang="en-US" sz="30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3840" y="894330"/>
            <a:ext cx="8686800" cy="3594543"/>
          </a:xfrm>
        </p:spPr>
        <p:txBody>
          <a:bodyPr/>
          <a:lstStyle/>
          <a:p>
            <a:pPr algn="just"/>
            <a:r>
              <a:rPr lang="en-GB" dirty="0" smtClean="0"/>
              <a:t>Digital </a:t>
            </a:r>
            <a:r>
              <a:rPr lang="en-GB" dirty="0"/>
              <a:t>data take on discrete values. </a:t>
            </a:r>
            <a:endParaRPr lang="en-GB" dirty="0" smtClean="0"/>
          </a:p>
          <a:p>
            <a:pPr algn="just"/>
            <a:r>
              <a:rPr lang="en-GB" dirty="0" smtClean="0"/>
              <a:t>For </a:t>
            </a:r>
            <a:r>
              <a:rPr lang="en-GB" dirty="0"/>
              <a:t>example, data are stored in </a:t>
            </a:r>
            <a:r>
              <a:rPr lang="en-GB" dirty="0" smtClean="0"/>
              <a:t>computer memory </a:t>
            </a:r>
            <a:r>
              <a:rPr lang="en-GB" dirty="0"/>
              <a:t>in the form of </a:t>
            </a:r>
            <a:r>
              <a:rPr lang="en-GB" dirty="0" smtClean="0"/>
              <a:t>0s </a:t>
            </a:r>
            <a:r>
              <a:rPr lang="en-GB" dirty="0"/>
              <a:t>and 1s. </a:t>
            </a:r>
            <a:endParaRPr lang="en-GB" dirty="0" smtClean="0"/>
          </a:p>
          <a:p>
            <a:pPr algn="just"/>
            <a:r>
              <a:rPr lang="en-GB" dirty="0" smtClean="0"/>
              <a:t>They </a:t>
            </a:r>
            <a:r>
              <a:rPr lang="en-GB" dirty="0"/>
              <a:t>can be converted to a digital signal or </a:t>
            </a:r>
            <a:r>
              <a:rPr lang="en-GB" dirty="0" smtClean="0"/>
              <a:t>modulated into </a:t>
            </a:r>
            <a:r>
              <a:rPr lang="en-GB" dirty="0"/>
              <a:t>an analog signal for transmission across a medium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555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25729A7-83E8-4471-92B4-DFA3BC229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smtClean="0"/>
              <a:t>Analog </a:t>
            </a:r>
            <a:r>
              <a:rPr lang="en-US" altLang="en-US" sz="3600" dirty="0"/>
              <a:t>and Digital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3200400"/>
          </a:xfrm>
        </p:spPr>
        <p:txBody>
          <a:bodyPr/>
          <a:lstStyle/>
          <a:p>
            <a:pPr algn="just"/>
            <a:r>
              <a:rPr lang="en-GB" dirty="0" smtClean="0"/>
              <a:t>Signals </a:t>
            </a:r>
            <a:r>
              <a:rPr lang="en-GB" dirty="0"/>
              <a:t>can be either analog or digital. </a:t>
            </a:r>
            <a:endParaRPr lang="en-GB" dirty="0" smtClean="0"/>
          </a:p>
          <a:p>
            <a:pPr algn="just"/>
            <a:r>
              <a:rPr lang="en-GB" dirty="0" smtClean="0"/>
              <a:t>An </a:t>
            </a:r>
            <a:r>
              <a:rPr lang="en-GB" dirty="0"/>
              <a:t>analog </a:t>
            </a:r>
            <a:r>
              <a:rPr lang="en-GB" dirty="0" smtClean="0"/>
              <a:t>signal has </a:t>
            </a:r>
            <a:r>
              <a:rPr lang="en-GB" dirty="0"/>
              <a:t>infinitely many levels of intensity over a period of time. </a:t>
            </a:r>
            <a:endParaRPr lang="en-GB" dirty="0" smtClean="0"/>
          </a:p>
          <a:p>
            <a:pPr algn="just"/>
            <a:r>
              <a:rPr lang="en-GB" dirty="0" smtClean="0"/>
              <a:t>As </a:t>
            </a:r>
            <a:r>
              <a:rPr lang="en-GB" dirty="0"/>
              <a:t>the wave moves </a:t>
            </a:r>
            <a:r>
              <a:rPr lang="en-GB" dirty="0" smtClean="0"/>
              <a:t>from value </a:t>
            </a:r>
            <a:r>
              <a:rPr lang="en-GB" dirty="0"/>
              <a:t>A to value B, it passes through and includes an infinite number of values along </a:t>
            </a:r>
            <a:r>
              <a:rPr lang="en-GB" dirty="0" smtClean="0"/>
              <a:t>its path</a:t>
            </a:r>
            <a:r>
              <a:rPr lang="en-GB" dirty="0"/>
              <a:t>. </a:t>
            </a:r>
            <a:endParaRPr lang="en-GB" dirty="0" smtClean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2F59F51-405F-4373-8F51-659CD2F2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111625"/>
            <a:ext cx="8686800" cy="221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8329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25729A7-83E8-4471-92B4-DFA3BC229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smtClean="0"/>
              <a:t>Analog </a:t>
            </a:r>
            <a:r>
              <a:rPr lang="en-US" altLang="en-US" sz="3600" dirty="0"/>
              <a:t>and Digital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2362200"/>
          </a:xfrm>
        </p:spPr>
        <p:txBody>
          <a:bodyPr/>
          <a:lstStyle/>
          <a:p>
            <a:pPr algn="just"/>
            <a:r>
              <a:rPr lang="en-GB" dirty="0"/>
              <a:t>A digital signal, on the other hand, can have only a limited number of defined values. </a:t>
            </a:r>
          </a:p>
          <a:p>
            <a:pPr algn="just"/>
            <a:r>
              <a:rPr lang="en-GB" dirty="0"/>
              <a:t>Although each value can be any number, it is often as simple as 1 and 0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5A0C3D6-9630-4364-A6B0-27D614876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352800"/>
            <a:ext cx="8686800" cy="2062103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b="1" i="1" dirty="0" smtClean="0"/>
              <a:t>Note: Signals </a:t>
            </a:r>
            <a:r>
              <a:rPr lang="en-US" altLang="en-US" sz="3200" b="1" i="1" dirty="0"/>
              <a:t>can be analog or digital. Analog signals can have an infinite number of values in a range; digital signals can have only a limited number of values.</a:t>
            </a:r>
          </a:p>
        </p:txBody>
      </p:sp>
    </p:spTree>
    <p:extLst>
      <p:ext uri="{BB962C8B-B14F-4D97-AF65-F5344CB8AC3E}">
        <p14:creationId xmlns:p14="http://schemas.microsoft.com/office/powerpoint/2010/main" val="1956989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6856CA5-CF86-49AA-B607-112111746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Periodic and Aperiodic signals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4741790-DABC-42FD-A2F2-CFF5E2B0E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334000"/>
          </a:xfrm>
        </p:spPr>
        <p:txBody>
          <a:bodyPr/>
          <a:lstStyle/>
          <a:p>
            <a:pPr algn="just" eaLnBrk="1" hangingPunct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analog and digital signals can take one of two forms: periodic or </a:t>
            </a:r>
            <a:r>
              <a:rPr lang="en-GB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nonperiodic (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refer to as aperiodic, because the prefix a in Greek means "non").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</a:p>
          <a:p>
            <a:pPr lvl="1" algn="just" eaLnBrk="1" hangingPunct="1"/>
            <a:r>
              <a:rPr lang="en-GB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Completes </a:t>
            </a:r>
            <a:r>
              <a:rPr lang="en-GB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pattern within a measurable time frame, called </a:t>
            </a:r>
            <a:r>
              <a:rPr lang="en-GB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period.</a:t>
            </a:r>
          </a:p>
          <a:p>
            <a:pPr lvl="1" algn="just" eaLnBrk="1" hangingPunct="1"/>
            <a:r>
              <a:rPr lang="en-GB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Repeats </a:t>
            </a:r>
            <a:r>
              <a:rPr lang="en-GB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pattern over subsequent identical periods. </a:t>
            </a:r>
            <a:endParaRPr lang="en-GB" alt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r>
              <a:rPr lang="en-GB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</a:t>
            </a:r>
            <a:r>
              <a:rPr lang="en-GB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one </a:t>
            </a:r>
            <a:r>
              <a:rPr lang="en-GB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pattern is called a cycle.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Aperiodic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</a:p>
          <a:p>
            <a:pPr lvl="1" algn="just" eaLnBrk="1" hangingPunct="1"/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without exhibiting a pattern or cycle that repeat over 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90E7482-91B5-4557-8410-D3C3B68C1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195513"/>
            <a:ext cx="8686800" cy="2062103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GB" altLang="en-US" sz="3200" b="1" i="1" dirty="0"/>
              <a:t>In data communications</a:t>
            </a:r>
            <a:r>
              <a:rPr lang="en-GB" altLang="en-US" sz="3200" b="1" i="1" dirty="0" smtClean="0"/>
              <a:t>, we </a:t>
            </a:r>
            <a:r>
              <a:rPr lang="en-GB" altLang="en-US" sz="3200" b="1" i="1" dirty="0"/>
              <a:t>commonly use periodic analog signals (because they need less </a:t>
            </a:r>
            <a:r>
              <a:rPr lang="en-GB" altLang="en-US" sz="3200" b="1" i="1" dirty="0" smtClean="0"/>
              <a:t>bandwidth) </a:t>
            </a:r>
            <a:r>
              <a:rPr lang="en-GB" altLang="en-US" sz="3200" b="1" i="1" dirty="0"/>
              <a:t>and nonperiodic digital signals (because they can </a:t>
            </a:r>
            <a:r>
              <a:rPr lang="en-GB" altLang="en-US" sz="3200" b="1" i="1" dirty="0" smtClean="0"/>
              <a:t>represent variation </a:t>
            </a:r>
            <a:r>
              <a:rPr lang="en-GB" altLang="en-US" sz="3200" b="1" i="1" dirty="0"/>
              <a:t>in </a:t>
            </a:r>
            <a:r>
              <a:rPr lang="en-GB" altLang="en-US" sz="3200" b="1" i="1" dirty="0" smtClean="0"/>
              <a:t>data).</a:t>
            </a:r>
            <a:endParaRPr lang="en-US" altLang="en-US" sz="3200" b="1" i="1" dirty="0"/>
          </a:p>
        </p:txBody>
      </p:sp>
      <p:sp>
        <p:nvSpPr>
          <p:cNvPr id="11267" name="PubRRectCallout">
            <a:extLst>
              <a:ext uri="{FF2B5EF4-FFF2-40B4-BE49-F238E27FC236}">
                <a16:creationId xmlns:a16="http://schemas.microsoft.com/office/drawing/2014/main" id="{2818802A-CE89-42F2-B494-B52F98DCDD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990600"/>
            <a:ext cx="2743200" cy="1143000"/>
          </a:xfrm>
          <a:custGeom>
            <a:avLst/>
            <a:gdLst>
              <a:gd name="T0" fmla="*/ 1371600 w 21600"/>
              <a:gd name="T1" fmla="*/ 0 h 21600"/>
              <a:gd name="T2" fmla="*/ 0 w 21600"/>
              <a:gd name="T3" fmla="*/ 457094 h 21600"/>
              <a:gd name="T4" fmla="*/ 1093089 w 21600"/>
              <a:gd name="T5" fmla="*/ 1143000 h 21600"/>
              <a:gd name="T6" fmla="*/ 1371600 w 21600"/>
              <a:gd name="T7" fmla="*/ 914241 h 21600"/>
              <a:gd name="T8" fmla="*/ 2743200 w 21600"/>
              <a:gd name="T9" fmla="*/ 457094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lnTo>
                  <a:pt x="532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BD7526FF-5D93-4E3C-8459-89505128F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90600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8597" name="Text Box 5">
            <a:extLst>
              <a:ext uri="{FF2B5EF4-FFF2-40B4-BE49-F238E27FC236}">
                <a16:creationId xmlns:a16="http://schemas.microsoft.com/office/drawing/2014/main" id="{116F8941-985B-4602-8D23-A9B662158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143000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sz="3600">
                <a:effectLst>
                  <a:outerShdw blurRad="38100" dist="38100" dir="2700000" algn="tl">
                    <a:srgbClr val="C0C0C0"/>
                  </a:outerShdw>
                </a:effectLst>
              </a:rPr>
              <a:t>Note: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1">
            <a:extLst>
              <a:ext uri="{FF2B5EF4-FFF2-40B4-BE49-F238E27FC236}">
                <a16:creationId xmlns:a16="http://schemas.microsoft.com/office/drawing/2014/main" id="{8B2A27E5-E030-4DD6-90E1-40FC628F5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PERIODIC ANALOG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3"/>
          </p:nvPr>
        </p:nvSpPr>
        <p:spPr>
          <a:xfrm>
            <a:off x="228600" y="990600"/>
            <a:ext cx="8686800" cy="5181600"/>
          </a:xfrm>
        </p:spPr>
        <p:txBody>
          <a:bodyPr/>
          <a:lstStyle/>
          <a:p>
            <a:pPr algn="just"/>
            <a:r>
              <a:rPr lang="en-GB" dirty="0"/>
              <a:t>Periodic analog signals can be classified as simple or composite. </a:t>
            </a:r>
            <a:endParaRPr lang="en-GB" dirty="0" smtClean="0"/>
          </a:p>
          <a:p>
            <a:pPr algn="just"/>
            <a:r>
              <a:rPr lang="en-GB" dirty="0" smtClean="0"/>
              <a:t>A </a:t>
            </a:r>
            <a:r>
              <a:rPr lang="en-GB" dirty="0"/>
              <a:t>simple </a:t>
            </a:r>
            <a:r>
              <a:rPr lang="en-GB" dirty="0" smtClean="0"/>
              <a:t>periodic analog </a:t>
            </a:r>
            <a:r>
              <a:rPr lang="en-GB" dirty="0"/>
              <a:t>signal, a sine wave, cannot be decomposed into simpler signals. </a:t>
            </a:r>
            <a:endParaRPr lang="en-GB" dirty="0" smtClean="0"/>
          </a:p>
          <a:p>
            <a:pPr algn="just"/>
            <a:r>
              <a:rPr lang="en-GB" dirty="0" smtClean="0"/>
              <a:t>A composite periodic </a:t>
            </a:r>
            <a:r>
              <a:rPr lang="en-GB" dirty="0"/>
              <a:t>analog signal is composed of multiple sine waves.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1">
            <a:extLst>
              <a:ext uri="{FF2B5EF4-FFF2-40B4-BE49-F238E27FC236}">
                <a16:creationId xmlns:a16="http://schemas.microsoft.com/office/drawing/2014/main" id="{8B2A27E5-E030-4DD6-90E1-40FC628F5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Simple Analog Signals: Sine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304800" y="990600"/>
            <a:ext cx="8610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The sine wave is the most fundamental form of a periodic analog signal</a:t>
            </a:r>
            <a:r>
              <a:rPr lang="en-GB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/>
              <a:t>When we visualize </a:t>
            </a:r>
            <a:r>
              <a:rPr lang="en-GB" dirty="0"/>
              <a:t>it as a simple oscillating curve, its change over the course of a cycle is </a:t>
            </a:r>
            <a:r>
              <a:rPr lang="en-GB" dirty="0" smtClean="0"/>
              <a:t>smooth and </a:t>
            </a:r>
            <a:r>
              <a:rPr lang="en-GB" dirty="0"/>
              <a:t>consistent, a continuous, rolling flow. </a:t>
            </a:r>
            <a:endParaRPr lang="en-GB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/>
              <a:t>Each cycle consists </a:t>
            </a:r>
            <a:r>
              <a:rPr lang="en-GB" dirty="0"/>
              <a:t>of a single arc above the time axis followed by a single arc below it.</a:t>
            </a:r>
            <a:endParaRPr lang="en-GB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657600"/>
            <a:ext cx="6570889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39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1">
            <a:extLst>
              <a:ext uri="{FF2B5EF4-FFF2-40B4-BE49-F238E27FC236}">
                <a16:creationId xmlns:a16="http://schemas.microsoft.com/office/drawing/2014/main" id="{8B2A27E5-E030-4DD6-90E1-40FC628F5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Simple Analog Signals: Sine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304800" y="990600"/>
            <a:ext cx="8610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800" dirty="0"/>
              <a:t>A sine wave can be represented by three parameters: the peak amplitude, the frequency</a:t>
            </a:r>
            <a:r>
              <a:rPr lang="en-GB" sz="2800" dirty="0" smtClean="0"/>
              <a:t>, and </a:t>
            </a:r>
            <a:r>
              <a:rPr lang="en-GB" sz="2800" dirty="0"/>
              <a:t>the phase. </a:t>
            </a:r>
            <a:endParaRPr lang="en-GB" sz="28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These </a:t>
            </a:r>
            <a:r>
              <a:rPr lang="en-GB" sz="2800" dirty="0"/>
              <a:t>three parameters fully describe a sine wave.</a:t>
            </a:r>
          </a:p>
          <a:p>
            <a:pPr algn="just"/>
            <a:r>
              <a:rPr lang="en-GB" sz="2800" b="1" dirty="0">
                <a:solidFill>
                  <a:srgbClr val="3333CC"/>
                </a:solidFill>
              </a:rPr>
              <a:t>Peak </a:t>
            </a:r>
            <a:r>
              <a:rPr lang="en-GB" sz="2800" b="1" dirty="0" smtClean="0">
                <a:solidFill>
                  <a:srgbClr val="3333CC"/>
                </a:solidFill>
              </a:rPr>
              <a:t>Amplitude: </a:t>
            </a:r>
            <a:endParaRPr lang="en-GB" sz="2800" b="1" dirty="0">
              <a:solidFill>
                <a:srgbClr val="3333CC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800" dirty="0"/>
              <a:t>The peak amplitude of a signal is the absolute value of its highest intensity, </a:t>
            </a:r>
            <a:r>
              <a:rPr lang="en-GB" sz="2800" dirty="0" smtClean="0"/>
              <a:t>proportional to </a:t>
            </a:r>
            <a:r>
              <a:rPr lang="en-GB" sz="2800" dirty="0"/>
              <a:t>the energy it carries. </a:t>
            </a:r>
            <a:endParaRPr lang="en-GB" sz="28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For </a:t>
            </a:r>
            <a:r>
              <a:rPr lang="en-GB" sz="2800" dirty="0"/>
              <a:t>electric signals, peak amplitude is normally </a:t>
            </a:r>
            <a:r>
              <a:rPr lang="en-GB" sz="2800" dirty="0" smtClean="0"/>
              <a:t>measured in </a:t>
            </a:r>
            <a:r>
              <a:rPr lang="en-GB" sz="2800" dirty="0"/>
              <a:t>volts. </a:t>
            </a:r>
            <a:endParaRPr lang="en-GB" sz="28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Figure </a:t>
            </a:r>
            <a:r>
              <a:rPr lang="en-GB" sz="2800" dirty="0"/>
              <a:t>3.3 shows two signals and their peak amplitudes. </a:t>
            </a:r>
            <a:endParaRPr lang="en-GB" sz="28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95036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1">
            <a:extLst>
              <a:ext uri="{FF2B5EF4-FFF2-40B4-BE49-F238E27FC236}">
                <a16:creationId xmlns:a16="http://schemas.microsoft.com/office/drawing/2014/main" id="{8B2A27E5-E030-4DD6-90E1-40FC628F5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Simple Analog Signals: Sine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57755"/>
            <a:ext cx="8001000" cy="506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24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1">
            <a:extLst>
              <a:ext uri="{FF2B5EF4-FFF2-40B4-BE49-F238E27FC236}">
                <a16:creationId xmlns:a16="http://schemas.microsoft.com/office/drawing/2014/main" id="{8B2A27E5-E030-4DD6-90E1-40FC628F5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Simple Analog Signals: Sine Waves</a:t>
            </a:r>
          </a:p>
        </p:txBody>
      </p:sp>
      <p:pic>
        <p:nvPicPr>
          <p:cNvPr id="12291" name="Picture 7">
            <a:extLst>
              <a:ext uri="{FF2B5EF4-FFF2-40B4-BE49-F238E27FC236}">
                <a16:creationId xmlns:a16="http://schemas.microsoft.com/office/drawing/2014/main" id="{5B73D868-5166-438A-BDDB-8615E5444E05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3260725"/>
            <a:ext cx="6553200" cy="222567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Text Box 15">
            <a:extLst>
              <a:ext uri="{FF2B5EF4-FFF2-40B4-BE49-F238E27FC236}">
                <a16:creationId xmlns:a16="http://schemas.microsoft.com/office/drawing/2014/main" id="{056236E9-3EE2-434A-82EA-C0210AD61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159851"/>
            <a:ext cx="38100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dirty="0"/>
              <a:t>s(t) = </a:t>
            </a:r>
            <a:r>
              <a:rPr lang="en-US" altLang="en-US" dirty="0" err="1"/>
              <a:t>A.sin</a:t>
            </a:r>
            <a:r>
              <a:rPr lang="en-US" altLang="en-US" dirty="0"/>
              <a:t>(2</a:t>
            </a:r>
            <a:r>
              <a:rPr lang="en-US" altLang="en-US" dirty="0">
                <a:sym typeface="Symbol" panose="05050102010706020507" pitchFamily="18" charset="2"/>
              </a:rPr>
              <a:t></a:t>
            </a:r>
            <a:r>
              <a:rPr lang="en-US" altLang="en-US" dirty="0"/>
              <a:t>ft+</a:t>
            </a:r>
            <a:r>
              <a:rPr lang="ru-RU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ф</a:t>
            </a:r>
            <a:r>
              <a:rPr lang="en-US" altLang="en-US" dirty="0"/>
              <a:t>)</a:t>
            </a:r>
          </a:p>
          <a:p>
            <a:pPr eaLnBrk="1" hangingPunct="1"/>
            <a:r>
              <a:rPr lang="en-US" altLang="en-US" i="1" dirty="0"/>
              <a:t>A</a:t>
            </a:r>
            <a:r>
              <a:rPr lang="en-US" altLang="en-US" dirty="0"/>
              <a:t>: peak </a:t>
            </a:r>
            <a:r>
              <a:rPr lang="en-US" altLang="en-US" dirty="0">
                <a:solidFill>
                  <a:srgbClr val="FF3300"/>
                </a:solidFill>
              </a:rPr>
              <a:t>amplitude</a:t>
            </a:r>
          </a:p>
          <a:p>
            <a:pPr eaLnBrk="1" hangingPunct="1"/>
            <a:r>
              <a:rPr lang="en-US" altLang="en-US" i="1" dirty="0"/>
              <a:t>f</a:t>
            </a:r>
            <a:r>
              <a:rPr lang="en-US" altLang="en-US" dirty="0"/>
              <a:t>: </a:t>
            </a:r>
            <a:r>
              <a:rPr lang="en-US" altLang="en-US" dirty="0">
                <a:solidFill>
                  <a:srgbClr val="FF3300"/>
                </a:solidFill>
              </a:rPr>
              <a:t>frequency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dirty="0"/>
              <a:t>: time, </a:t>
            </a:r>
            <a:r>
              <a:rPr lang="ru-RU" altLang="en-US" i="1" dirty="0">
                <a:cs typeface="Times New Roman" panose="02020603050405020304" pitchFamily="18" charset="0"/>
              </a:rPr>
              <a:t>ф</a:t>
            </a:r>
            <a:r>
              <a:rPr lang="en-US" altLang="en-US" dirty="0"/>
              <a:t>: </a:t>
            </a:r>
            <a:r>
              <a:rPr lang="en-US" altLang="en-US" dirty="0">
                <a:solidFill>
                  <a:srgbClr val="FF3300"/>
                </a:solidFill>
              </a:rPr>
              <a:t>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9019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00D22FE-07CF-4AC5-9FBB-1FE33AB74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Period and Frequency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E9F398D-ECB1-4CF0-85FE-9B0808D5B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4953000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altLang="en-US" sz="2600" b="1" dirty="0" smtClean="0">
                <a:solidFill>
                  <a:srgbClr val="3333CC"/>
                </a:solidFill>
              </a:rPr>
              <a:t>Period: </a:t>
            </a:r>
          </a:p>
          <a:p>
            <a:pPr algn="just" eaLnBrk="1" hangingPunct="1"/>
            <a:r>
              <a:rPr lang="en-US" altLang="en-US" sz="2600" dirty="0" smtClean="0"/>
              <a:t>The amount of time (in seconds), a signal needs to complete one cycle.</a:t>
            </a:r>
          </a:p>
          <a:p>
            <a:pPr marL="0" indent="0" algn="just" eaLnBrk="1" hangingPunct="1">
              <a:buNone/>
            </a:pPr>
            <a:r>
              <a:rPr lang="en-US" altLang="en-US" sz="2600" b="1" dirty="0" smtClean="0">
                <a:solidFill>
                  <a:srgbClr val="3333CC"/>
                </a:solidFill>
              </a:rPr>
              <a:t>Frequency: </a:t>
            </a:r>
          </a:p>
          <a:p>
            <a:pPr algn="just" eaLnBrk="1" hangingPunct="1"/>
            <a:r>
              <a:rPr lang="en-US" altLang="en-US" sz="2600" dirty="0" smtClean="0"/>
              <a:t>The </a:t>
            </a:r>
            <a:r>
              <a:rPr lang="en-US" altLang="en-US" sz="2600" dirty="0"/>
              <a:t>number of periods in one </a:t>
            </a:r>
            <a:r>
              <a:rPr lang="en-US" altLang="en-US" sz="2600" dirty="0" smtClean="0"/>
              <a:t>second.</a:t>
            </a:r>
            <a:endParaRPr lang="en-US" alt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124200"/>
            <a:ext cx="7924800" cy="31242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00D22FE-07CF-4AC5-9FBB-1FE33AB74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Period and Frequency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E9F398D-ECB1-4CF0-85FE-9B0808D5B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4953000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altLang="en-US" sz="2600" b="1" dirty="0" smtClean="0">
                <a:solidFill>
                  <a:srgbClr val="3333CC"/>
                </a:solidFill>
              </a:rPr>
              <a:t> </a:t>
            </a:r>
            <a:endParaRPr lang="en-US" alt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" y="838200"/>
            <a:ext cx="7528560" cy="537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27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00D22FE-07CF-4AC5-9FBB-1FE33AB74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Period and Frequency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E9F398D-ECB1-4CF0-85FE-9B0808D5B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4953000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altLang="en-US" sz="2600" b="1" dirty="0" smtClean="0">
                <a:solidFill>
                  <a:srgbClr val="3333CC"/>
                </a:solidFill>
              </a:rPr>
              <a:t> </a:t>
            </a:r>
            <a:endParaRPr lang="en-US" alt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83820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Period is formally expressed in seconds. </a:t>
            </a:r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Frequency </a:t>
            </a:r>
            <a:r>
              <a:rPr lang="en-GB" dirty="0"/>
              <a:t>is formally expressed </a:t>
            </a:r>
            <a:r>
              <a:rPr lang="en-GB" dirty="0" smtClean="0"/>
              <a:t>in Hertz </a:t>
            </a:r>
            <a:r>
              <a:rPr lang="en-GB" dirty="0"/>
              <a:t>(Hz), which is cycle per second. </a:t>
            </a:r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Units </a:t>
            </a:r>
            <a:r>
              <a:rPr lang="en-GB" dirty="0"/>
              <a:t>of period and frequency are shown </a:t>
            </a:r>
            <a:r>
              <a:rPr lang="en-GB" dirty="0" smtClean="0"/>
              <a:t>in Table </a:t>
            </a:r>
            <a:r>
              <a:rPr lang="en-GB" dirty="0"/>
              <a:t>3.1.</a:t>
            </a:r>
          </a:p>
        </p:txBody>
      </p:sp>
    </p:spTree>
    <p:extLst>
      <p:ext uri="{BB962C8B-B14F-4D97-AF65-F5344CB8AC3E}">
        <p14:creationId xmlns:p14="http://schemas.microsoft.com/office/powerpoint/2010/main" val="269514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840149B-81B0-4161-80F6-931A02CC5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Units of Frequency and Periods</a:t>
            </a:r>
          </a:p>
        </p:txBody>
      </p:sp>
      <p:graphicFrame>
        <p:nvGraphicFramePr>
          <p:cNvPr id="315396" name="Group 4">
            <a:extLst>
              <a:ext uri="{FF2B5EF4-FFF2-40B4-BE49-F238E27FC236}">
                <a16:creationId xmlns:a16="http://schemas.microsoft.com/office/drawing/2014/main" id="{8E166681-6C34-46F2-A5BD-6752EF2E99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152494"/>
              </p:ext>
            </p:extLst>
          </p:nvPr>
        </p:nvGraphicFramePr>
        <p:xfrm>
          <a:off x="228600" y="1219200"/>
          <a:ext cx="8686800" cy="4953001"/>
        </p:xfrm>
        <a:graphic>
          <a:graphicData uri="http://schemas.openxmlformats.org/drawingml/2006/table">
            <a:tbl>
              <a:tblPr/>
              <a:tblGrid>
                <a:gridCol w="260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9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1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Period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Equivalent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Frequency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Equivalent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imes New Roman" panose="02020603050405020304" pitchFamily="18" charset="0"/>
                        </a:rPr>
                        <a:t>Seconds (s)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 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</a:rPr>
                        <a:t>Hertz 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</a:rPr>
                        <a:t>(Hz)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 Hz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imes New Roman" panose="02020603050405020304" pitchFamily="18" charset="0"/>
                        </a:rPr>
                        <a:t>Milliseconds (ms)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kumimoji="0" lang="en-US" alt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–3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 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</a:rPr>
                        <a:t>Kilohertz 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</a:rPr>
                        <a:t>(KHz)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kumimoji="0" lang="en-US" alt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 Hz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imes New Roman" panose="02020603050405020304" pitchFamily="18" charset="0"/>
                        </a:rPr>
                        <a:t>Microseconds (ms)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kumimoji="0" lang="en-US" alt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–6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 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</a:rPr>
                        <a:t>Megahertz 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</a:rPr>
                        <a:t>(MHz)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kumimoji="0" lang="en-US" alt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 Hz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imes New Roman" panose="02020603050405020304" pitchFamily="18" charset="0"/>
                        </a:rPr>
                        <a:t>Nanoseconds (ns)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kumimoji="0" lang="en-US" alt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–9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 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</a:rPr>
                        <a:t>gigahertz 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</a:rPr>
                        <a:t>(GHz)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kumimoji="0" lang="en-US" alt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 Hz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Times New Roman" panose="02020603050405020304" pitchFamily="18" charset="0"/>
                        </a:rPr>
                        <a:t>Picoseconds (ps)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kumimoji="0" lang="en-US" altLang="en-US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–12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 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</a:rPr>
                        <a:t>Terahertz 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</a:rPr>
                        <a:t>(THz)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kumimoji="0" lang="en-US" altLang="en-US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 Hz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840149B-81B0-4161-80F6-931A02CC5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smtClean="0"/>
              <a:t>Example 3.3 </a:t>
            </a:r>
            <a:endParaRPr lang="en-US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" y="990600"/>
                <a:ext cx="8686800" cy="4565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GB" sz="3000" dirty="0" smtClean="0">
                    <a:latin typeface="+mn-lt"/>
                  </a:rPr>
                  <a:t>The power we use at home has a frequency of 60 Hz (50 Hz in  Europe</a:t>
                </a:r>
                <a:r>
                  <a:rPr lang="en-GB" sz="3000" dirty="0">
                    <a:latin typeface="+mn-lt"/>
                  </a:rPr>
                  <a:t>). </a:t>
                </a:r>
                <a:endParaRPr lang="en-GB" sz="3000" dirty="0" smtClean="0">
                  <a:latin typeface="+mn-lt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GB" sz="3000" dirty="0" smtClean="0">
                    <a:latin typeface="+mn-lt"/>
                  </a:rPr>
                  <a:t>The </a:t>
                </a:r>
                <a:r>
                  <a:rPr lang="en-GB" sz="3000" dirty="0">
                    <a:latin typeface="+mn-lt"/>
                  </a:rPr>
                  <a:t>period of this </a:t>
                </a:r>
                <a:r>
                  <a:rPr lang="en-GB" sz="3000" dirty="0" smtClean="0">
                    <a:latin typeface="+mn-lt"/>
                  </a:rPr>
                  <a:t>sine wave </a:t>
                </a:r>
                <a:r>
                  <a:rPr lang="en-GB" sz="3000" dirty="0">
                    <a:latin typeface="+mn-lt"/>
                  </a:rPr>
                  <a:t>can be determined as follows</a:t>
                </a:r>
                <a:r>
                  <a:rPr lang="en-GB" sz="3000" dirty="0" smtClean="0">
                    <a:latin typeface="+mn-lt"/>
                  </a:rPr>
                  <a:t>:</a:t>
                </a:r>
              </a:p>
              <a:p>
                <a:pPr algn="just"/>
                <a:endParaRPr lang="en-GB" sz="1000" dirty="0" smtClean="0">
                  <a:latin typeface="+mn-lt"/>
                </a:endParaRPr>
              </a:p>
              <a:p>
                <a:pPr algn="just"/>
                <a:r>
                  <a:rPr lang="en-GB" sz="3000" dirty="0" smtClean="0">
                    <a:latin typeface="+mn-lt"/>
                  </a:rPr>
                  <a:t>T=1/f= 1/60 = 0.0166 </a:t>
                </a:r>
                <a:r>
                  <a:rPr lang="en-GB" sz="3000" dirty="0">
                    <a:latin typeface="+mn-lt"/>
                  </a:rPr>
                  <a:t>s = 0.0166 </a:t>
                </a:r>
                <a:r>
                  <a:rPr lang="en-GB" sz="3000" dirty="0" smtClean="0">
                    <a:latin typeface="+mn-lt"/>
                  </a:rPr>
                  <a:t>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3000" dirty="0" smtClean="0">
                    <a:latin typeface="+mn-lt"/>
                  </a:rPr>
                  <a:t> ms </a:t>
                </a:r>
                <a:r>
                  <a:rPr lang="en-GB" sz="3000" dirty="0">
                    <a:latin typeface="+mn-lt"/>
                  </a:rPr>
                  <a:t>=16.6 </a:t>
                </a:r>
                <a:r>
                  <a:rPr lang="en-GB" sz="3000" dirty="0" smtClean="0">
                    <a:latin typeface="+mn-lt"/>
                  </a:rPr>
                  <a:t>ms</a:t>
                </a:r>
              </a:p>
              <a:p>
                <a:pPr algn="just"/>
                <a:endParaRPr lang="en-GB" sz="1000" dirty="0" smtClean="0">
                  <a:latin typeface="+mn-lt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GB" sz="3000" dirty="0" smtClean="0">
                    <a:latin typeface="+mn-lt"/>
                  </a:rPr>
                  <a:t>This </a:t>
                </a:r>
                <a:r>
                  <a:rPr lang="en-GB" sz="3000" dirty="0">
                    <a:latin typeface="+mn-lt"/>
                  </a:rPr>
                  <a:t>means that the period of the power for our lights at home is 0.0116 s, or 16.6 ms. </a:t>
                </a:r>
                <a:endParaRPr lang="en-GB" sz="3000" dirty="0" smtClean="0">
                  <a:latin typeface="+mn-lt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GB" sz="3000" dirty="0" smtClean="0">
                    <a:latin typeface="+mn-lt"/>
                  </a:rPr>
                  <a:t>Our eyes </a:t>
                </a:r>
                <a:r>
                  <a:rPr lang="en-GB" sz="3000" dirty="0">
                    <a:latin typeface="+mn-lt"/>
                  </a:rPr>
                  <a:t>are not sensitive enough to distinguish these rapid changes in amplitude.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990600"/>
                <a:ext cx="8686800" cy="4565545"/>
              </a:xfrm>
              <a:prstGeom prst="rect">
                <a:avLst/>
              </a:prstGeom>
              <a:blipFill>
                <a:blip r:embed="rId2"/>
                <a:stretch>
                  <a:fillRect l="-1684" t="-1738" r="-1614" b="-32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649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7AE51C6-5E38-4D34-A839-FA8B26B30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5513"/>
            <a:ext cx="7543800" cy="289560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b="1" i="1"/>
              <a:t>Frequency is the rate of change with respect to time. Change in a short span of time means high frequency. Change over a long span of time means low frequency.</a:t>
            </a:r>
          </a:p>
        </p:txBody>
      </p:sp>
      <p:sp>
        <p:nvSpPr>
          <p:cNvPr id="15363" name="PubRRectCallout">
            <a:extLst>
              <a:ext uri="{FF2B5EF4-FFF2-40B4-BE49-F238E27FC236}">
                <a16:creationId xmlns:a16="http://schemas.microsoft.com/office/drawing/2014/main" id="{EC6CF15E-001C-4ABE-919F-06AE297B44B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990600"/>
            <a:ext cx="2743200" cy="1143000"/>
          </a:xfrm>
          <a:custGeom>
            <a:avLst/>
            <a:gdLst>
              <a:gd name="T0" fmla="*/ 1371600 w 21600"/>
              <a:gd name="T1" fmla="*/ 0 h 21600"/>
              <a:gd name="T2" fmla="*/ 0 w 21600"/>
              <a:gd name="T3" fmla="*/ 457094 h 21600"/>
              <a:gd name="T4" fmla="*/ 1093089 w 21600"/>
              <a:gd name="T5" fmla="*/ 1143000 h 21600"/>
              <a:gd name="T6" fmla="*/ 1371600 w 21600"/>
              <a:gd name="T7" fmla="*/ 914241 h 21600"/>
              <a:gd name="T8" fmla="*/ 2743200 w 21600"/>
              <a:gd name="T9" fmla="*/ 457094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lnTo>
                  <a:pt x="532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96389036-45E3-4F96-A0DD-CD0A4BCC4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90600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6789" name="Text Box 5">
            <a:extLst>
              <a:ext uri="{FF2B5EF4-FFF2-40B4-BE49-F238E27FC236}">
                <a16:creationId xmlns:a16="http://schemas.microsoft.com/office/drawing/2014/main" id="{679CFEF7-D1AF-4D07-835F-3FAA034C6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143000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sz="3600">
                <a:effectLst>
                  <a:outerShdw blurRad="38100" dist="38100" dir="2700000" algn="tl">
                    <a:srgbClr val="C0C0C0"/>
                  </a:outerShdw>
                </a:effectLst>
              </a:rPr>
              <a:t>Note: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234CF579-9F91-4F6C-BF96-F7AE2C6CB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216525"/>
            <a:ext cx="7543800" cy="75882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2000" b="1"/>
              <a:t>If a signal does not change at all, its frequency is zero. If a signal changes instantaneously, its frequency is infinite.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0755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13D8268-7E62-4BA0-8421-DB5C6C4D2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Phase</a:t>
            </a:r>
          </a:p>
        </p:txBody>
      </p:sp>
      <p:pic>
        <p:nvPicPr>
          <p:cNvPr id="16387" name="Picture 4">
            <a:extLst>
              <a:ext uri="{FF2B5EF4-FFF2-40B4-BE49-F238E27FC236}">
                <a16:creationId xmlns:a16="http://schemas.microsoft.com/office/drawing/2014/main" id="{7A9194E6-7578-4F0C-9DEE-1F396020F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0"/>
            <a:ext cx="8382000" cy="225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8" name="Rectangle 5">
            <a:extLst>
              <a:ext uri="{FF2B5EF4-FFF2-40B4-BE49-F238E27FC236}">
                <a16:creationId xmlns:a16="http://schemas.microsoft.com/office/drawing/2014/main" id="{9E17DA6B-F3E6-4B51-A44D-EA3949891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066800"/>
            <a:ext cx="8534400" cy="111312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dirty="0"/>
              <a:t>Phase describes the </a:t>
            </a:r>
            <a:r>
              <a:rPr lang="en-US" altLang="en-US" dirty="0">
                <a:solidFill>
                  <a:srgbClr val="FF3300"/>
                </a:solidFill>
              </a:rPr>
              <a:t>position</a:t>
            </a:r>
            <a:r>
              <a:rPr lang="en-US" altLang="en-US" dirty="0"/>
              <a:t> of the waveform relative to time zero</a:t>
            </a:r>
          </a:p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dirty="0"/>
              <a:t>Phase is measured in radians or degrees: 360</a:t>
            </a:r>
            <a:r>
              <a:rPr lang="en-US" altLang="en-US" baseline="30000" dirty="0"/>
              <a:t>o</a:t>
            </a:r>
            <a:r>
              <a:rPr lang="en-US" altLang="en-US" dirty="0"/>
              <a:t> means 1 cycle shifted</a:t>
            </a:r>
          </a:p>
        </p:txBody>
      </p:sp>
      <p:sp>
        <p:nvSpPr>
          <p:cNvPr id="16389" name="Rectangle 9">
            <a:extLst>
              <a:ext uri="{FF2B5EF4-FFF2-40B4-BE49-F238E27FC236}">
                <a16:creationId xmlns:a16="http://schemas.microsoft.com/office/drawing/2014/main" id="{7F648660-0014-408C-836D-B24E860C8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34000"/>
            <a:ext cx="8458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 dirty="0"/>
              <a:t>Question</a:t>
            </a:r>
            <a:r>
              <a:rPr lang="en-US" altLang="en-US" dirty="0"/>
              <a:t>: A sine wave is offset one-sixth of a cycle with respect to time zero. What is its phase in degrees and radians???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86868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98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47954DE-E12D-4FD2-BA66-31E9A141E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Sine Wave: Examples</a:t>
            </a:r>
          </a:p>
        </p:txBody>
      </p:sp>
      <p:pic>
        <p:nvPicPr>
          <p:cNvPr id="17411" name="Picture 4">
            <a:extLst>
              <a:ext uri="{FF2B5EF4-FFF2-40B4-BE49-F238E27FC236}">
                <a16:creationId xmlns:a16="http://schemas.microsoft.com/office/drawing/2014/main" id="{9A3E0138-9172-4D92-B1AF-B669EF1347C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066800"/>
            <a:ext cx="7543800" cy="20494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8">
            <a:extLst>
              <a:ext uri="{FF2B5EF4-FFF2-40B4-BE49-F238E27FC236}">
                <a16:creationId xmlns:a16="http://schemas.microsoft.com/office/drawing/2014/main" id="{91C822CC-347A-4F64-A255-27264B3F2D6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3648075"/>
            <a:ext cx="7772400" cy="2143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ADF9D6D-BDCE-4ED6-9544-7A45E4CDF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62113"/>
            <a:ext cx="7543800" cy="124777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b="1" i="1"/>
              <a:t>An analog signal is best represented in the </a:t>
            </a:r>
            <a:r>
              <a:rPr lang="en-US" altLang="en-US" sz="3600" b="1" i="1">
                <a:solidFill>
                  <a:srgbClr val="3333CC"/>
                </a:solidFill>
              </a:rPr>
              <a:t>frequency domain</a:t>
            </a:r>
            <a:r>
              <a:rPr lang="en-US" altLang="en-US" sz="3600" b="1" i="1"/>
              <a:t>.</a:t>
            </a:r>
          </a:p>
        </p:txBody>
      </p:sp>
      <p:sp>
        <p:nvSpPr>
          <p:cNvPr id="18435" name="PubRRectCallout">
            <a:extLst>
              <a:ext uri="{FF2B5EF4-FFF2-40B4-BE49-F238E27FC236}">
                <a16:creationId xmlns:a16="http://schemas.microsoft.com/office/drawing/2014/main" id="{5AC0FF59-AE8E-45AD-A1DD-56A5B2ECBD5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457200"/>
            <a:ext cx="2743200" cy="1143000"/>
          </a:xfrm>
          <a:custGeom>
            <a:avLst/>
            <a:gdLst>
              <a:gd name="T0" fmla="*/ 1371600 w 21600"/>
              <a:gd name="T1" fmla="*/ 0 h 21600"/>
              <a:gd name="T2" fmla="*/ 0 w 21600"/>
              <a:gd name="T3" fmla="*/ 457094 h 21600"/>
              <a:gd name="T4" fmla="*/ 1093089 w 21600"/>
              <a:gd name="T5" fmla="*/ 1143000 h 21600"/>
              <a:gd name="T6" fmla="*/ 1371600 w 21600"/>
              <a:gd name="T7" fmla="*/ 914241 h 21600"/>
              <a:gd name="T8" fmla="*/ 2743200 w 21600"/>
              <a:gd name="T9" fmla="*/ 457094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lnTo>
                  <a:pt x="532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E2E57C7D-F192-4917-BE94-35DAAAE47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57200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4981" name="Text Box 5">
            <a:extLst>
              <a:ext uri="{FF2B5EF4-FFF2-40B4-BE49-F238E27FC236}">
                <a16:creationId xmlns:a16="http://schemas.microsoft.com/office/drawing/2014/main" id="{F4C081AE-5228-48A8-BD24-49CD492A9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609600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sz="3600">
                <a:effectLst>
                  <a:outerShdw blurRad="38100" dist="38100" dir="2700000" algn="tl">
                    <a:srgbClr val="C0C0C0"/>
                  </a:outerShdw>
                </a:effectLst>
              </a:rPr>
              <a:t>Note:</a:t>
            </a:r>
          </a:p>
        </p:txBody>
      </p:sp>
      <p:pic>
        <p:nvPicPr>
          <p:cNvPr id="18438" name="Picture 6">
            <a:extLst>
              <a:ext uri="{FF2B5EF4-FFF2-40B4-BE49-F238E27FC236}">
                <a16:creationId xmlns:a16="http://schemas.microsoft.com/office/drawing/2014/main" id="{FFA7F627-AAF8-44B9-8B8D-12ABD0EB9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429000"/>
            <a:ext cx="8839200" cy="246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>
            <a:extLst>
              <a:ext uri="{FF2B5EF4-FFF2-40B4-BE49-F238E27FC236}">
                <a16:creationId xmlns:a16="http://schemas.microsoft.com/office/drawing/2014/main" id="{1A23A237-C31E-401D-ADAC-19DC34252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Frequency Domain</a:t>
            </a:r>
          </a:p>
        </p:txBody>
      </p:sp>
      <p:pic>
        <p:nvPicPr>
          <p:cNvPr id="19459" name="Picture 4">
            <a:extLst>
              <a:ext uri="{FF2B5EF4-FFF2-40B4-BE49-F238E27FC236}">
                <a16:creationId xmlns:a16="http://schemas.microsoft.com/office/drawing/2014/main" id="{DD1744E3-25F8-4C72-97F1-3CCCCF10B34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277938"/>
            <a:ext cx="7924800" cy="21510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7">
            <a:extLst>
              <a:ext uri="{FF2B5EF4-FFF2-40B4-BE49-F238E27FC236}">
                <a16:creationId xmlns:a16="http://schemas.microsoft.com/office/drawing/2014/main" id="{46BEBFB4-6031-42C6-A65B-816FE76D866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825875"/>
            <a:ext cx="8001000" cy="21177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B47F6B-05AA-4039-9564-B48C1DD44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Wavelength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90600"/>
            <a:ext cx="8534400" cy="3352800"/>
          </a:xfrm>
        </p:spPr>
        <p:txBody>
          <a:bodyPr/>
          <a:lstStyle/>
          <a:p>
            <a:pPr algn="just"/>
            <a:r>
              <a:rPr lang="en-GB" sz="3000" dirty="0" smtClean="0"/>
              <a:t>The </a:t>
            </a:r>
            <a:r>
              <a:rPr lang="en-GB" sz="3000" dirty="0"/>
              <a:t>distance between successive crests of a wave, especially points in a sound wave or </a:t>
            </a:r>
            <a:r>
              <a:rPr lang="en-GB" sz="3000" dirty="0" smtClean="0"/>
              <a:t>electromagnetic wave</a:t>
            </a:r>
            <a:r>
              <a:rPr lang="en-GB" sz="3000" dirty="0"/>
              <a:t>. It is denoted by the Greek letter lambda (λ</a:t>
            </a:r>
            <a:r>
              <a:rPr lang="en-GB" sz="3000" dirty="0" smtClean="0"/>
              <a:t>).</a:t>
            </a:r>
          </a:p>
          <a:p>
            <a:pPr marL="0" indent="0" algn="just">
              <a:buNone/>
            </a:pPr>
            <a:r>
              <a:rPr lang="en-GB" sz="3000" b="1" i="1" dirty="0" smtClean="0"/>
              <a:t>     λ = c/ f</a:t>
            </a:r>
          </a:p>
          <a:p>
            <a:pPr marL="0" indent="0" algn="just">
              <a:buNone/>
            </a:pPr>
            <a:endParaRPr lang="en-GB" sz="3000" b="1" i="1" dirty="0" smtClean="0"/>
          </a:p>
          <a:p>
            <a:pPr marL="0" indent="0" algn="just">
              <a:buNone/>
            </a:pPr>
            <a:endParaRPr lang="en-GB" sz="3000" b="1" i="1" dirty="0"/>
          </a:p>
          <a:p>
            <a:pPr marL="0" indent="0" algn="just">
              <a:buNone/>
            </a:pPr>
            <a:endParaRPr lang="en-GB" sz="3000" dirty="0" smtClean="0"/>
          </a:p>
          <a:p>
            <a:pPr marL="0" indent="0" algn="just">
              <a:buNone/>
            </a:pPr>
            <a:r>
              <a:rPr lang="en-GB" sz="3000" dirty="0" smtClean="0"/>
              <a:t>Wavelength= Propagation speed * Period</a:t>
            </a:r>
          </a:p>
          <a:p>
            <a:pPr marL="0" indent="0" algn="just">
              <a:buNone/>
            </a:pPr>
            <a:r>
              <a:rPr lang="en-GB" sz="3000" dirty="0"/>
              <a:t> </a:t>
            </a:r>
            <a:r>
              <a:rPr lang="en-GB" sz="3000" dirty="0" smtClean="0"/>
              <a:t>                   = </a:t>
            </a:r>
            <a:r>
              <a:rPr lang="en-GB" sz="3000" dirty="0"/>
              <a:t>Propagation </a:t>
            </a:r>
            <a:r>
              <a:rPr lang="en-GB" sz="3000" dirty="0" smtClean="0"/>
              <a:t>speed / frequency    </a:t>
            </a:r>
            <a:endParaRPr lang="en-GB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2667000"/>
            <a:ext cx="3429000" cy="246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43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B47F6B-05AA-4039-9564-B48C1DD44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Wavelength</a:t>
            </a:r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E717B4E8-AF28-49AD-8B86-364103FCCA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7813" y="1371600"/>
            <a:ext cx="8586787" cy="31638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Text Box 6">
            <a:extLst>
              <a:ext uri="{FF2B5EF4-FFF2-40B4-BE49-F238E27FC236}">
                <a16:creationId xmlns:a16="http://schemas.microsoft.com/office/drawing/2014/main" id="{65A8F792-B6EB-4097-A4F6-B69BC16CD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740275"/>
            <a:ext cx="6324600" cy="11874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Wavelength (for electromagnetic signals) </a:t>
            </a:r>
          </a:p>
          <a:p>
            <a:pPr eaLnBrk="1" hangingPunct="1"/>
            <a:r>
              <a:rPr lang="en-US" altLang="en-US"/>
              <a:t>	= 	speed-of-light / frequency</a:t>
            </a:r>
          </a:p>
          <a:p>
            <a:pPr eaLnBrk="1" hangingPunct="1"/>
            <a:r>
              <a:rPr lang="en-US" altLang="en-US"/>
              <a:t>	= 	3*10</a:t>
            </a:r>
            <a:r>
              <a:rPr lang="en-US" altLang="en-US" baseline="30000"/>
              <a:t>8</a:t>
            </a:r>
            <a:r>
              <a:rPr lang="en-US" altLang="en-US"/>
              <a:t> (m/s) / 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0100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6428DB6-E41D-4B57-9E9D-919BBB299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Bandwidth of Transmission Medium</a:t>
            </a:r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02A540A0-E4F2-4F80-B679-13DB8C997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95513"/>
            <a:ext cx="8534400" cy="230832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>
              <a:spcBef>
                <a:spcPts val="1200"/>
              </a:spcBef>
              <a:spcAft>
                <a:spcPts val="1000"/>
              </a:spcAft>
              <a:defRPr/>
            </a:pPr>
            <a:r>
              <a:rPr lang="en-US" altLang="en-US" sz="36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The bandwidth is a property of a medium: It is the difference between the highest and the lowest frequencies that the medium can </a:t>
            </a:r>
            <a:r>
              <a:rPr lang="en-US" altLang="en-US" sz="3600" b="1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satisfactorily </a:t>
            </a:r>
            <a:r>
              <a:rPr lang="en-US" altLang="en-US" sz="36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pass. </a:t>
            </a:r>
          </a:p>
        </p:txBody>
      </p:sp>
      <p:sp>
        <p:nvSpPr>
          <p:cNvPr id="20484" name="PubRRectCallout">
            <a:extLst>
              <a:ext uri="{FF2B5EF4-FFF2-40B4-BE49-F238E27FC236}">
                <a16:creationId xmlns:a16="http://schemas.microsoft.com/office/drawing/2014/main" id="{6FCB7400-A417-43AB-9617-8080EB44E1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990600"/>
            <a:ext cx="2743200" cy="1143000"/>
          </a:xfrm>
          <a:custGeom>
            <a:avLst/>
            <a:gdLst>
              <a:gd name="T0" fmla="*/ 1371600 w 21600"/>
              <a:gd name="T1" fmla="*/ 0 h 21600"/>
              <a:gd name="T2" fmla="*/ 0 w 21600"/>
              <a:gd name="T3" fmla="*/ 457094 h 21600"/>
              <a:gd name="T4" fmla="*/ 1093089 w 21600"/>
              <a:gd name="T5" fmla="*/ 1143000 h 21600"/>
              <a:gd name="T6" fmla="*/ 1371600 w 21600"/>
              <a:gd name="T7" fmla="*/ 914241 h 21600"/>
              <a:gd name="T8" fmla="*/ 2743200 w 21600"/>
              <a:gd name="T9" fmla="*/ 457094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lnTo>
                  <a:pt x="532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485" name="Picture 6">
            <a:extLst>
              <a:ext uri="{FF2B5EF4-FFF2-40B4-BE49-F238E27FC236}">
                <a16:creationId xmlns:a16="http://schemas.microsoft.com/office/drawing/2014/main" id="{743F4723-1CC6-44AD-956F-C00F121C3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90600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5095" name="Text Box 7">
            <a:extLst>
              <a:ext uri="{FF2B5EF4-FFF2-40B4-BE49-F238E27FC236}">
                <a16:creationId xmlns:a16="http://schemas.microsoft.com/office/drawing/2014/main" id="{59FD70C3-CD63-4E4F-928C-734544784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143000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sz="3600">
                <a:effectLst>
                  <a:outerShdw blurRad="38100" dist="38100" dir="2700000" algn="tl">
                    <a:srgbClr val="C0C0C0"/>
                  </a:outerShdw>
                </a:effectLst>
              </a:rPr>
              <a:t>Note:</a:t>
            </a:r>
          </a:p>
        </p:txBody>
      </p:sp>
      <p:sp>
        <p:nvSpPr>
          <p:cNvPr id="20487" name="Text Box 10">
            <a:extLst>
              <a:ext uri="{FF2B5EF4-FFF2-40B4-BE49-F238E27FC236}">
                <a16:creationId xmlns:a16="http://schemas.microsoft.com/office/drawing/2014/main" id="{DA78AE07-7F03-4E87-BAFB-51D9A8996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4985593"/>
            <a:ext cx="6654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Telephone line: Bandwidth between 3KHz and 4Khz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1F9AEA7-DDAE-41BD-8799-126CA2A45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Propagation Time</a:t>
            </a:r>
          </a:p>
        </p:txBody>
      </p:sp>
      <p:pic>
        <p:nvPicPr>
          <p:cNvPr id="29699" name="Picture 4">
            <a:extLst>
              <a:ext uri="{FF2B5EF4-FFF2-40B4-BE49-F238E27FC236}">
                <a16:creationId xmlns:a16="http://schemas.microsoft.com/office/drawing/2014/main" id="{765EC517-C7E6-4AD2-9A5B-54B1BA2E1B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2100263"/>
            <a:ext cx="8686800" cy="319087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6923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B53E6D9-ECC5-4ABF-9DFA-6C2373FBF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Digital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6700" y="838200"/>
            <a:ext cx="8686800" cy="4953000"/>
          </a:xfrm>
        </p:spPr>
        <p:txBody>
          <a:bodyPr/>
          <a:lstStyle/>
          <a:p>
            <a:pPr algn="just"/>
            <a:r>
              <a:rPr lang="en-GB" sz="3000" dirty="0"/>
              <a:t>In addition to being represented by an analog signal, information can also be </a:t>
            </a:r>
            <a:r>
              <a:rPr lang="en-GB" sz="3000" dirty="0" smtClean="0"/>
              <a:t>represented by </a:t>
            </a:r>
            <a:r>
              <a:rPr lang="en-GB" sz="3000" dirty="0"/>
              <a:t>a digital signal. </a:t>
            </a:r>
            <a:endParaRPr lang="en-GB" sz="3000" dirty="0" smtClean="0"/>
          </a:p>
          <a:p>
            <a:pPr algn="just"/>
            <a:r>
              <a:rPr lang="en-GB" sz="3000" dirty="0" smtClean="0"/>
              <a:t>For </a:t>
            </a:r>
            <a:r>
              <a:rPr lang="en-GB" sz="3000" dirty="0"/>
              <a:t>example, a </a:t>
            </a:r>
            <a:r>
              <a:rPr lang="en-GB" sz="3000" dirty="0" smtClean="0"/>
              <a:t>1 </a:t>
            </a:r>
            <a:r>
              <a:rPr lang="en-GB" sz="3000" dirty="0"/>
              <a:t>can be encoded as a positive voltage and a </a:t>
            </a:r>
            <a:r>
              <a:rPr lang="en-GB" sz="3000" dirty="0" smtClean="0"/>
              <a:t>0 as </a:t>
            </a:r>
            <a:r>
              <a:rPr lang="en-GB" sz="3000" dirty="0"/>
              <a:t>zero voltage. </a:t>
            </a:r>
            <a:endParaRPr lang="en-GB" sz="3000" dirty="0" smtClean="0"/>
          </a:p>
          <a:p>
            <a:pPr algn="just"/>
            <a:r>
              <a:rPr lang="en-GB" sz="3000" dirty="0" smtClean="0"/>
              <a:t>A </a:t>
            </a:r>
            <a:r>
              <a:rPr lang="en-GB" sz="3000" dirty="0"/>
              <a:t>digital signal can have more than two levels. </a:t>
            </a:r>
            <a:endParaRPr lang="en-GB" sz="3000" dirty="0" smtClean="0"/>
          </a:p>
          <a:p>
            <a:pPr algn="just"/>
            <a:r>
              <a:rPr lang="en-GB" sz="3000" dirty="0" smtClean="0"/>
              <a:t>In </a:t>
            </a:r>
            <a:r>
              <a:rPr lang="en-GB" sz="3000" dirty="0"/>
              <a:t>this case, we </a:t>
            </a:r>
            <a:r>
              <a:rPr lang="en-GB" sz="3000" dirty="0" smtClean="0"/>
              <a:t>can send </a:t>
            </a:r>
            <a:r>
              <a:rPr lang="en-GB" sz="3000" dirty="0"/>
              <a:t>more than 1 bit for each level. </a:t>
            </a:r>
            <a:endParaRPr lang="en-GB" sz="3000" dirty="0" smtClean="0"/>
          </a:p>
          <a:p>
            <a:pPr algn="just"/>
            <a:r>
              <a:rPr lang="en-GB" sz="3000" dirty="0" smtClean="0"/>
              <a:t>Figure </a:t>
            </a:r>
            <a:r>
              <a:rPr lang="en-GB" sz="3000" dirty="0"/>
              <a:t>3.16 shows two signals, one with two </a:t>
            </a:r>
            <a:r>
              <a:rPr lang="en-GB" sz="3000" dirty="0" smtClean="0"/>
              <a:t>levels and </a:t>
            </a:r>
            <a:r>
              <a:rPr lang="en-GB" sz="3000" dirty="0"/>
              <a:t>the other with four.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2400"/>
            <a:ext cx="75438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17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B53E6D9-ECC5-4ABF-9DFA-6C2373FBF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Digital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6700" y="838200"/>
            <a:ext cx="8686800" cy="4953000"/>
          </a:xfrm>
        </p:spPr>
        <p:txBody>
          <a:bodyPr/>
          <a:lstStyle/>
          <a:p>
            <a:pPr algn="just"/>
            <a:r>
              <a:rPr lang="en-GB" sz="3000" dirty="0"/>
              <a:t>We send 1 bit per level in part a of the figure and 2 bits per level in part b of </a:t>
            </a:r>
            <a:r>
              <a:rPr lang="en-GB" sz="3000" dirty="0" smtClean="0"/>
              <a:t>the figure</a:t>
            </a:r>
            <a:r>
              <a:rPr lang="en-GB" sz="3000" dirty="0"/>
              <a:t>. </a:t>
            </a:r>
            <a:endParaRPr lang="en-GB" sz="3000" dirty="0" smtClean="0"/>
          </a:p>
          <a:p>
            <a:pPr algn="just"/>
            <a:r>
              <a:rPr lang="en-GB" sz="3000" dirty="0" smtClean="0"/>
              <a:t>In </a:t>
            </a:r>
            <a:r>
              <a:rPr lang="en-GB" sz="3000" dirty="0"/>
              <a:t>general, if a signal has L levels, each level needs </a:t>
            </a:r>
            <a:r>
              <a:rPr lang="en-GB" sz="3000" i="1" dirty="0" smtClean="0"/>
              <a:t>log2L</a:t>
            </a:r>
            <a:r>
              <a:rPr lang="en-GB" sz="3000" dirty="0" smtClean="0"/>
              <a:t> </a:t>
            </a:r>
            <a:r>
              <a:rPr lang="en-GB" sz="3000" dirty="0"/>
              <a:t>bits. </a:t>
            </a:r>
            <a:endParaRPr lang="en-GB" sz="3000" dirty="0" smtClean="0"/>
          </a:p>
          <a:p>
            <a:pPr marL="0" indent="0" algn="just">
              <a:buNone/>
            </a:pPr>
            <a:r>
              <a:rPr lang="en-GB" sz="3000" b="1" dirty="0">
                <a:solidFill>
                  <a:srgbClr val="3333CC"/>
                </a:solidFill>
              </a:rPr>
              <a:t>Example 3.16</a:t>
            </a:r>
          </a:p>
          <a:p>
            <a:pPr algn="just"/>
            <a:r>
              <a:rPr lang="en-GB" sz="3000" dirty="0"/>
              <a:t>A digital signal has eight levels. How many bits are needed per level? </a:t>
            </a:r>
            <a:endParaRPr lang="en-GB" sz="3000" dirty="0" smtClean="0"/>
          </a:p>
          <a:p>
            <a:pPr marL="857250" lvl="1" indent="-457200" algn="just">
              <a:buFont typeface="Courier New" panose="02070309020205020404" pitchFamily="49" charset="0"/>
              <a:buChar char="o"/>
            </a:pPr>
            <a:r>
              <a:rPr lang="en-GB" sz="2600" dirty="0" smtClean="0"/>
              <a:t>We </a:t>
            </a:r>
            <a:r>
              <a:rPr lang="en-GB" sz="2600" dirty="0"/>
              <a:t>calculate the </a:t>
            </a:r>
            <a:r>
              <a:rPr lang="en-GB" sz="2600" dirty="0" smtClean="0"/>
              <a:t>number of </a:t>
            </a:r>
            <a:r>
              <a:rPr lang="en-GB" sz="2600" dirty="0"/>
              <a:t>bits from the formula</a:t>
            </a:r>
          </a:p>
          <a:p>
            <a:pPr marL="857250" lvl="1" indent="-457200" algn="just">
              <a:buFont typeface="Courier New" panose="02070309020205020404" pitchFamily="49" charset="0"/>
              <a:buChar char="o"/>
            </a:pPr>
            <a:r>
              <a:rPr lang="en-GB" sz="2600" dirty="0"/>
              <a:t>Number of bits per level =</a:t>
            </a:r>
            <a:r>
              <a:rPr lang="en-GB" sz="2600" i="1" dirty="0"/>
              <a:t>log2 8</a:t>
            </a:r>
            <a:r>
              <a:rPr lang="en-GB" sz="2600" dirty="0"/>
              <a:t> =3</a:t>
            </a:r>
          </a:p>
          <a:p>
            <a:pPr marL="857250" lvl="1" indent="-457200" algn="just">
              <a:buFont typeface="Courier New" panose="02070309020205020404" pitchFamily="49" charset="0"/>
              <a:buChar char="o"/>
            </a:pPr>
            <a:r>
              <a:rPr lang="en-GB" sz="2600" dirty="0"/>
              <a:t>Each signal level is represented by 3 bits.</a:t>
            </a:r>
          </a:p>
        </p:txBody>
      </p:sp>
    </p:spTree>
    <p:extLst>
      <p:ext uri="{BB962C8B-B14F-4D97-AF65-F5344CB8AC3E}">
        <p14:creationId xmlns:p14="http://schemas.microsoft.com/office/powerpoint/2010/main" val="28774040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B53E6D9-ECC5-4ABF-9DFA-6C2373FBF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Digital Signals</a:t>
            </a:r>
          </a:p>
        </p:txBody>
      </p:sp>
      <p:pic>
        <p:nvPicPr>
          <p:cNvPr id="21507" name="Picture 7">
            <a:extLst>
              <a:ext uri="{FF2B5EF4-FFF2-40B4-BE49-F238E27FC236}">
                <a16:creationId xmlns:a16="http://schemas.microsoft.com/office/drawing/2014/main" id="{7CBEEEA4-1E30-4755-A8E5-1E2B53C43C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8686800" cy="32766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9">
            <a:extLst>
              <a:ext uri="{FF2B5EF4-FFF2-40B4-BE49-F238E27FC236}">
                <a16:creationId xmlns:a16="http://schemas.microsoft.com/office/drawing/2014/main" id="{B68A6DFE-33C2-403D-9D9B-D9EDE8647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68914"/>
            <a:ext cx="86868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algn="just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 smtClean="0"/>
              <a:t>Most </a:t>
            </a:r>
            <a:r>
              <a:rPr lang="en-US" altLang="en-US" dirty="0"/>
              <a:t>digital signals are aperiodic =&gt; frequency or period is irrelevant. Instead, we use the terms “bit rate” and “bit interval</a:t>
            </a:r>
            <a:r>
              <a:rPr lang="en-US" altLang="en-US" dirty="0" smtClean="0"/>
              <a:t>”.</a:t>
            </a:r>
          </a:p>
          <a:p>
            <a:pPr marL="342900" indent="-342900" algn="just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dirty="0" smtClean="0"/>
              <a:t>The </a:t>
            </a:r>
            <a:r>
              <a:rPr lang="en-GB" dirty="0"/>
              <a:t>bit rate is the number of bits sent in </a:t>
            </a:r>
            <a:r>
              <a:rPr lang="en-GB" dirty="0" smtClean="0"/>
              <a:t>1s</a:t>
            </a:r>
            <a:r>
              <a:rPr lang="en-GB" dirty="0"/>
              <a:t>, expressed in bits </a:t>
            </a:r>
            <a:r>
              <a:rPr lang="en-GB" dirty="0" smtClean="0"/>
              <a:t>per second </a:t>
            </a:r>
            <a:r>
              <a:rPr lang="en-GB" dirty="0"/>
              <a:t>(bps</a:t>
            </a:r>
            <a:r>
              <a:rPr lang="en-GB" dirty="0" smtClean="0"/>
              <a:t>).</a:t>
            </a:r>
            <a:endParaRPr lang="en-US" alt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7194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B53E6D9-ECC5-4ABF-9DFA-6C2373FBF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Digital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029200"/>
          </a:xfrm>
        </p:spPr>
        <p:txBody>
          <a:bodyPr/>
          <a:lstStyle/>
          <a:p>
            <a:pPr marL="0" indent="0" algn="just">
              <a:buNone/>
            </a:pPr>
            <a:r>
              <a:rPr lang="en-GB" sz="2800" b="1" dirty="0">
                <a:solidFill>
                  <a:srgbClr val="3333CC"/>
                </a:solidFill>
              </a:rPr>
              <a:t>Example 3.18</a:t>
            </a:r>
          </a:p>
          <a:p>
            <a:pPr algn="just"/>
            <a:r>
              <a:rPr lang="en-GB" sz="2800" dirty="0"/>
              <a:t>Assume we need to download text documents at the rate of 100 pages per minute. What is </a:t>
            </a:r>
            <a:r>
              <a:rPr lang="en-GB" sz="2800" dirty="0" smtClean="0"/>
              <a:t>the required </a:t>
            </a:r>
            <a:r>
              <a:rPr lang="en-GB" sz="2800" dirty="0"/>
              <a:t>bit rate of the channel?</a:t>
            </a:r>
          </a:p>
          <a:p>
            <a:pPr marL="0" indent="0" algn="just">
              <a:buNone/>
            </a:pPr>
            <a:r>
              <a:rPr lang="en-GB" sz="2800" b="1" dirty="0">
                <a:solidFill>
                  <a:srgbClr val="3333CC"/>
                </a:solidFill>
              </a:rPr>
              <a:t>Solution</a:t>
            </a:r>
          </a:p>
          <a:p>
            <a:pPr algn="just"/>
            <a:r>
              <a:rPr lang="en-GB" sz="2800" dirty="0"/>
              <a:t>A page is an average of 24 lines with 80 characters in each line. If we assume that one </a:t>
            </a:r>
            <a:r>
              <a:rPr lang="en-GB" sz="2800" dirty="0" smtClean="0"/>
              <a:t>character requires </a:t>
            </a:r>
            <a:r>
              <a:rPr lang="en-GB" sz="2800" dirty="0"/>
              <a:t>8 bits, the bit </a:t>
            </a:r>
            <a:r>
              <a:rPr lang="en-GB" sz="2800" dirty="0" smtClean="0"/>
              <a:t>rate</a:t>
            </a:r>
            <a:endParaRPr lang="en-GB" sz="2800" dirty="0"/>
          </a:p>
          <a:p>
            <a:pPr marL="0" indent="0" algn="just">
              <a:buNone/>
            </a:pPr>
            <a:r>
              <a:rPr lang="en-GB" sz="2800" dirty="0" smtClean="0"/>
              <a:t>          =100 </a:t>
            </a:r>
            <a:r>
              <a:rPr lang="en-GB" sz="2800" dirty="0"/>
              <a:t>x 24 x 80 x 8 =1,636,000 bps =1.636 Mbps</a:t>
            </a:r>
          </a:p>
        </p:txBody>
      </p:sp>
    </p:spTree>
    <p:extLst>
      <p:ext uri="{BB962C8B-B14F-4D97-AF65-F5344CB8AC3E}">
        <p14:creationId xmlns:p14="http://schemas.microsoft.com/office/powerpoint/2010/main" val="40108628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B53E6D9-ECC5-4ABF-9DFA-6C2373FBF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Digital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562600"/>
          </a:xfrm>
        </p:spPr>
        <p:txBody>
          <a:bodyPr/>
          <a:lstStyle/>
          <a:p>
            <a:pPr marL="0" indent="0" algn="just">
              <a:buNone/>
            </a:pPr>
            <a:r>
              <a:rPr lang="en-GB" sz="2600" b="1" dirty="0">
                <a:solidFill>
                  <a:srgbClr val="3333CC"/>
                </a:solidFill>
              </a:rPr>
              <a:t>Example 3.20</a:t>
            </a:r>
          </a:p>
          <a:p>
            <a:pPr marL="0" indent="0" algn="just">
              <a:buNone/>
            </a:pPr>
            <a:r>
              <a:rPr lang="en-GB" sz="2600" dirty="0"/>
              <a:t>What is the bit rate for high-definition TV (HDTV)?</a:t>
            </a:r>
          </a:p>
          <a:p>
            <a:pPr marL="0" indent="0" algn="just">
              <a:buNone/>
            </a:pPr>
            <a:r>
              <a:rPr lang="en-GB" sz="2600" b="1" dirty="0">
                <a:solidFill>
                  <a:srgbClr val="3333CC"/>
                </a:solidFill>
              </a:rPr>
              <a:t>Solution</a:t>
            </a:r>
          </a:p>
          <a:p>
            <a:pPr algn="just"/>
            <a:r>
              <a:rPr lang="en-GB" sz="2600" dirty="0"/>
              <a:t>HDTV uses digital signals to broadcast high quality video signals. The HDTV Screen is </a:t>
            </a:r>
            <a:r>
              <a:rPr lang="en-GB" sz="2600" dirty="0" smtClean="0"/>
              <a:t>normally a </a:t>
            </a:r>
            <a:r>
              <a:rPr lang="en-GB" sz="2600" dirty="0"/>
              <a:t>ratio of 16 : 9 (in contrast to 4 : 3 for regular TV), which means the screen is wider. </a:t>
            </a:r>
            <a:endParaRPr lang="en-GB" sz="2600" dirty="0" smtClean="0"/>
          </a:p>
          <a:p>
            <a:pPr algn="just"/>
            <a:r>
              <a:rPr lang="en-GB" sz="2600" dirty="0" smtClean="0"/>
              <a:t>There are 1920 </a:t>
            </a:r>
            <a:r>
              <a:rPr lang="en-GB" sz="2600" dirty="0"/>
              <a:t>by 1080 pixels per screen, and the screen is renewed 30 times per second. Twenty-four </a:t>
            </a:r>
            <a:r>
              <a:rPr lang="en-GB" sz="2600" dirty="0" smtClean="0"/>
              <a:t>bits represents </a:t>
            </a:r>
            <a:r>
              <a:rPr lang="en-GB" sz="2600" dirty="0"/>
              <a:t>one </a:t>
            </a:r>
            <a:r>
              <a:rPr lang="en-GB" sz="2600" dirty="0" smtClean="0"/>
              <a:t>colour </a:t>
            </a:r>
            <a:r>
              <a:rPr lang="en-GB" sz="2600" dirty="0"/>
              <a:t>pixel. We can calculate the bit </a:t>
            </a:r>
            <a:r>
              <a:rPr lang="en-GB" sz="2600" dirty="0" smtClean="0"/>
              <a:t>rate</a:t>
            </a:r>
            <a:endParaRPr lang="en-GB" sz="2600" dirty="0"/>
          </a:p>
          <a:p>
            <a:pPr marL="0" indent="0" algn="just">
              <a:buNone/>
            </a:pPr>
            <a:r>
              <a:rPr lang="en-GB" sz="2600" dirty="0" smtClean="0"/>
              <a:t>            =1920 </a:t>
            </a:r>
            <a:r>
              <a:rPr lang="en-GB" sz="2600" dirty="0"/>
              <a:t>x 1080 x 30 x 24 = 1,492,992,000 or 1.5 </a:t>
            </a:r>
            <a:r>
              <a:rPr lang="en-GB" sz="2600" dirty="0" err="1"/>
              <a:t>Gbps</a:t>
            </a:r>
            <a:endParaRPr lang="en-GB" sz="2600" dirty="0"/>
          </a:p>
          <a:p>
            <a:pPr algn="just"/>
            <a:r>
              <a:rPr lang="en-GB" sz="2200" dirty="0"/>
              <a:t>The TV stations reduce this rate to 20 to 40 Mbps through compression.</a:t>
            </a:r>
          </a:p>
        </p:txBody>
      </p:sp>
    </p:spTree>
    <p:extLst>
      <p:ext uri="{BB962C8B-B14F-4D97-AF65-F5344CB8AC3E}">
        <p14:creationId xmlns:p14="http://schemas.microsoft.com/office/powerpoint/2010/main" val="10674597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71565B9-B573-432A-A151-D9FF2A171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Digital Bandwidth</a:t>
            </a:r>
          </a:p>
        </p:txBody>
      </p:sp>
      <p:sp>
        <p:nvSpPr>
          <p:cNvPr id="363524" name="Rectangle 4">
            <a:extLst>
              <a:ext uri="{FF2B5EF4-FFF2-40B4-BE49-F238E27FC236}">
                <a16:creationId xmlns:a16="http://schemas.microsoft.com/office/drawing/2014/main" id="{BD033EA9-42D0-4EC5-B460-3A54D393A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90775"/>
            <a:ext cx="7543800" cy="225742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  <a:defRPr/>
            </a:pPr>
            <a:r>
              <a:rPr lang="en-US" altLang="en-US" sz="36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The maximum bit rate that can be passed by the transmission medium</a:t>
            </a:r>
          </a:p>
          <a:p>
            <a:pPr algn="ctr" eaLnBrk="1" hangingPunct="1">
              <a:spcBef>
                <a:spcPts val="1200"/>
              </a:spcBef>
              <a:spcAft>
                <a:spcPts val="1000"/>
              </a:spcAft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The analog bandwidth of a medium is expressed in hertz; the digital bandwidth, in bits per second.</a:t>
            </a:r>
          </a:p>
        </p:txBody>
      </p:sp>
      <p:sp>
        <p:nvSpPr>
          <p:cNvPr id="22532" name="PubRRectCallout">
            <a:extLst>
              <a:ext uri="{FF2B5EF4-FFF2-40B4-BE49-F238E27FC236}">
                <a16:creationId xmlns:a16="http://schemas.microsoft.com/office/drawing/2014/main" id="{2E83A4F3-6F9F-4B70-8793-9B9CE8DD56C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1185863"/>
            <a:ext cx="2743200" cy="1143000"/>
          </a:xfrm>
          <a:custGeom>
            <a:avLst/>
            <a:gdLst>
              <a:gd name="T0" fmla="*/ 1371600 w 21600"/>
              <a:gd name="T1" fmla="*/ 0 h 21600"/>
              <a:gd name="T2" fmla="*/ 0 w 21600"/>
              <a:gd name="T3" fmla="*/ 457094 h 21600"/>
              <a:gd name="T4" fmla="*/ 1093089 w 21600"/>
              <a:gd name="T5" fmla="*/ 1143000 h 21600"/>
              <a:gd name="T6" fmla="*/ 1371600 w 21600"/>
              <a:gd name="T7" fmla="*/ 914241 h 21600"/>
              <a:gd name="T8" fmla="*/ 2743200 w 21600"/>
              <a:gd name="T9" fmla="*/ 457094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lnTo>
                  <a:pt x="532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533" name="Picture 6">
            <a:extLst>
              <a:ext uri="{FF2B5EF4-FFF2-40B4-BE49-F238E27FC236}">
                <a16:creationId xmlns:a16="http://schemas.microsoft.com/office/drawing/2014/main" id="{17841C6C-E4C0-4B8A-8AF6-CEBA5D694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85863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3527" name="Text Box 7">
            <a:extLst>
              <a:ext uri="{FF2B5EF4-FFF2-40B4-BE49-F238E27FC236}">
                <a16:creationId xmlns:a16="http://schemas.microsoft.com/office/drawing/2014/main" id="{5428B689-2C87-4E71-BDBF-F0C51C767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338263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sz="3600">
                <a:effectLst>
                  <a:outerShdw blurRad="38100" dist="38100" dir="2700000" algn="tl">
                    <a:srgbClr val="C0C0C0"/>
                  </a:outerShdw>
                </a:effectLst>
              </a:rPr>
              <a:t>Note: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1D93F5E-B688-4EAD-8903-27244C8F9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Digital vs. Analog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7FAF465-A009-4F3E-A338-53D397C3E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Digital’s </a:t>
            </a:r>
            <a:r>
              <a:rPr lang="en-US" altLang="en-US" b="1"/>
              <a:t>advantage</a:t>
            </a:r>
            <a:r>
              <a:rPr lang="en-US" altLang="en-US"/>
              <a:t>:</a:t>
            </a:r>
          </a:p>
          <a:p>
            <a:pPr lvl="1" eaLnBrk="1" hangingPunct="1"/>
            <a:r>
              <a:rPr lang="en-US" altLang="en-US"/>
              <a:t>Digital design less expensive and more reliable</a:t>
            </a:r>
          </a:p>
          <a:p>
            <a:pPr lvl="1" eaLnBrk="1" hangingPunct="1"/>
            <a:r>
              <a:rPr lang="en-US" altLang="en-US"/>
              <a:t>Greater dynamic range and error detection and recovery by the use of coding</a:t>
            </a:r>
          </a:p>
          <a:p>
            <a:pPr lvl="1" eaLnBrk="1" hangingPunct="1"/>
            <a:r>
              <a:rPr lang="en-US" altLang="en-US"/>
              <a:t>Many sources can be combine (voice, video, data) and sent over the same channel</a:t>
            </a:r>
          </a:p>
          <a:p>
            <a:pPr eaLnBrk="1" hangingPunct="1"/>
            <a:r>
              <a:rPr lang="en-US" altLang="en-US"/>
              <a:t>Digital’s </a:t>
            </a:r>
            <a:r>
              <a:rPr lang="en-US" altLang="en-US" b="1"/>
              <a:t>disadvantage</a:t>
            </a:r>
          </a:p>
          <a:p>
            <a:pPr lvl="1" eaLnBrk="1" hangingPunct="1"/>
            <a:r>
              <a:rPr lang="en-US" altLang="en-US"/>
              <a:t>More bandwidth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2186C79-DE96-4677-A35E-6EA6CAD67D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Data Rate Limits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3A5A893-7643-4284-B46F-8724C4AE5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fast can we send data (in bps) over a link?</a:t>
            </a:r>
          </a:p>
          <a:p>
            <a:pPr eaLnBrk="1" hangingPunct="1"/>
            <a:r>
              <a:rPr lang="en-US" altLang="en-US"/>
              <a:t>The answer depends on</a:t>
            </a:r>
          </a:p>
          <a:p>
            <a:pPr lvl="1" eaLnBrk="1" hangingPunct="1"/>
            <a:r>
              <a:rPr lang="en-US" altLang="en-US"/>
              <a:t>Bandwidth available</a:t>
            </a:r>
          </a:p>
          <a:p>
            <a:pPr lvl="1" eaLnBrk="1" hangingPunct="1"/>
            <a:r>
              <a:rPr lang="en-US" altLang="en-US"/>
              <a:t>Levels of signals we can use</a:t>
            </a:r>
          </a:p>
          <a:p>
            <a:pPr lvl="1" eaLnBrk="1" hangingPunct="1"/>
            <a:r>
              <a:rPr lang="en-US" altLang="en-US"/>
              <a:t>Quality of channel (level of noise)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C5A7258-3DD7-4820-AD74-14473666A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Transmission Impairment</a:t>
            </a:r>
          </a:p>
        </p:txBody>
      </p:sp>
      <p:pic>
        <p:nvPicPr>
          <p:cNvPr id="26627" name="Picture 4">
            <a:extLst>
              <a:ext uri="{FF2B5EF4-FFF2-40B4-BE49-F238E27FC236}">
                <a16:creationId xmlns:a16="http://schemas.microsoft.com/office/drawing/2014/main" id="{36B0295D-19FF-491D-B3F9-A33A385103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676400"/>
            <a:ext cx="7524750" cy="18478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 Box 6">
            <a:extLst>
              <a:ext uri="{FF2B5EF4-FFF2-40B4-BE49-F238E27FC236}">
                <a16:creationId xmlns:a16="http://schemas.microsoft.com/office/drawing/2014/main" id="{9CD2E58E-0B29-41F8-B14B-2067B8D29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537075"/>
            <a:ext cx="7577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Transmission medium is not perfect =&gt; impairment in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797EA4E-8F5E-4D2F-8310-919064A92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Attenuation</a:t>
            </a:r>
            <a:endParaRPr lang="en-US" altLang="en-US" dirty="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5F17D43-4102-4616-940B-7A27EABE5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534400" cy="5562600"/>
          </a:xfrm>
        </p:spPr>
        <p:txBody>
          <a:bodyPr/>
          <a:lstStyle/>
          <a:p>
            <a:pPr algn="just" eaLnBrk="1" hangingPunct="1"/>
            <a:r>
              <a:rPr lang="en-US" altLang="en-US" dirty="0" smtClean="0"/>
              <a:t> </a:t>
            </a:r>
            <a:r>
              <a:rPr lang="en-US" altLang="en-US" dirty="0"/>
              <a:t>Attenuation means loss of energy. </a:t>
            </a:r>
            <a:endParaRPr lang="en-US" altLang="en-US" dirty="0" smtClean="0"/>
          </a:p>
          <a:p>
            <a:pPr algn="just" eaLnBrk="1" hangingPunct="1"/>
            <a:r>
              <a:rPr lang="en-US" altLang="en-US" dirty="0" smtClean="0"/>
              <a:t>When </a:t>
            </a:r>
            <a:r>
              <a:rPr lang="en-US" altLang="en-US" dirty="0"/>
              <a:t>a signal </a:t>
            </a:r>
            <a:r>
              <a:rPr lang="en-US" altLang="en-US" dirty="0" smtClean="0"/>
              <a:t>(simple </a:t>
            </a:r>
            <a:r>
              <a:rPr lang="en-US" altLang="en-US" dirty="0"/>
              <a:t>or </a:t>
            </a:r>
            <a:r>
              <a:rPr lang="en-US" altLang="en-US" dirty="0" smtClean="0"/>
              <a:t>composite) </a:t>
            </a:r>
            <a:r>
              <a:rPr lang="en-US" altLang="en-US" dirty="0"/>
              <a:t>,travels through a </a:t>
            </a:r>
            <a:r>
              <a:rPr lang="en-US" altLang="en-US" dirty="0" smtClean="0"/>
              <a:t>medium, it </a:t>
            </a:r>
            <a:r>
              <a:rPr lang="en-US" altLang="en-US" dirty="0"/>
              <a:t>losses some energy, so that it can overcome the resistance of the medium. </a:t>
            </a:r>
            <a:endParaRPr lang="en-US" altLang="en-US" dirty="0" smtClean="0"/>
          </a:p>
          <a:p>
            <a:pPr algn="just" eaLnBrk="1" hangingPunct="1"/>
            <a:r>
              <a:rPr lang="en-US" altLang="en-US" dirty="0" smtClean="0"/>
              <a:t>That </a:t>
            </a:r>
            <a:r>
              <a:rPr lang="en-US" altLang="en-US" dirty="0"/>
              <a:t>is why a wire carrying electric signals gets warms. </a:t>
            </a:r>
            <a:endParaRPr lang="en-US" altLang="en-US" dirty="0" smtClean="0"/>
          </a:p>
          <a:p>
            <a:pPr algn="just" eaLnBrk="1" hangingPunct="1"/>
            <a:r>
              <a:rPr lang="en-US" altLang="en-US" dirty="0" smtClean="0"/>
              <a:t>And </a:t>
            </a:r>
            <a:r>
              <a:rPr lang="en-US" altLang="en-US" dirty="0"/>
              <a:t>some of the electric energy signal is converted to heat. </a:t>
            </a:r>
            <a:endParaRPr lang="en-US" altLang="en-US" dirty="0" smtClean="0"/>
          </a:p>
          <a:p>
            <a:pPr algn="just" eaLnBrk="1" hangingPunct="1"/>
            <a:r>
              <a:rPr lang="en-US" altLang="en-US" dirty="0" smtClean="0"/>
              <a:t>To </a:t>
            </a:r>
            <a:r>
              <a:rPr lang="en-US" altLang="en-US" dirty="0"/>
              <a:t>compensate for this lose, the amplifier is used to  amplify the signal.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736EDE4-C2EE-476F-B116-D4519DED1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Attenuation</a:t>
            </a:r>
          </a:p>
        </p:txBody>
      </p:sp>
      <p:pic>
        <p:nvPicPr>
          <p:cNvPr id="28675" name="Picture 4">
            <a:extLst>
              <a:ext uri="{FF2B5EF4-FFF2-40B4-BE49-F238E27FC236}">
                <a16:creationId xmlns:a16="http://schemas.microsoft.com/office/drawing/2014/main" id="{609F0878-ABB2-43A6-A170-926AB58E0D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467600" cy="269557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6">
            <a:extLst>
              <a:ext uri="{FF2B5EF4-FFF2-40B4-BE49-F238E27FC236}">
                <a16:creationId xmlns:a16="http://schemas.microsoft.com/office/drawing/2014/main" id="{637B86B5-2B29-4F19-BF8C-7EA04F24A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581400"/>
            <a:ext cx="8001000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dirty="0"/>
              <a:t>To show that a signal has lost or gained strength, engineers use the unit of the decibel</a:t>
            </a:r>
            <a:r>
              <a:rPr lang="en-GB" altLang="en-US" dirty="0" smtClean="0"/>
              <a:t>.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 smtClean="0"/>
              <a:t>The </a:t>
            </a:r>
            <a:r>
              <a:rPr lang="en-US" altLang="en-US" dirty="0"/>
              <a:t>decibel (dB) measures the relative strengths of two signals or a signal at two different points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b="1" dirty="0" smtClean="0">
                <a:solidFill>
                  <a:srgbClr val="3333CC"/>
                </a:solidFill>
              </a:rPr>
              <a:t>                          dB </a:t>
            </a:r>
            <a:r>
              <a:rPr lang="en-US" altLang="en-US" b="1" dirty="0">
                <a:solidFill>
                  <a:srgbClr val="3333CC"/>
                </a:solidFill>
              </a:rPr>
              <a:t>= 10 log</a:t>
            </a:r>
            <a:r>
              <a:rPr lang="en-US" altLang="en-US" b="1" baseline="-25000" dirty="0">
                <a:solidFill>
                  <a:srgbClr val="3333CC"/>
                </a:solidFill>
              </a:rPr>
              <a:t>10</a:t>
            </a:r>
            <a:r>
              <a:rPr lang="en-US" altLang="en-US" b="1" dirty="0">
                <a:solidFill>
                  <a:srgbClr val="3333CC"/>
                </a:solidFill>
              </a:rPr>
              <a:t>(P</a:t>
            </a:r>
            <a:r>
              <a:rPr lang="en-US" altLang="en-US" b="1" baseline="-25000" dirty="0">
                <a:solidFill>
                  <a:srgbClr val="3333CC"/>
                </a:solidFill>
              </a:rPr>
              <a:t>2</a:t>
            </a:r>
            <a:r>
              <a:rPr lang="en-US" altLang="en-US" b="1" dirty="0">
                <a:solidFill>
                  <a:srgbClr val="3333CC"/>
                </a:solidFill>
              </a:rPr>
              <a:t>/P</a:t>
            </a:r>
            <a:r>
              <a:rPr lang="en-US" altLang="en-US" b="1" baseline="-25000" dirty="0">
                <a:solidFill>
                  <a:srgbClr val="3333CC"/>
                </a:solidFill>
              </a:rPr>
              <a:t>1</a:t>
            </a:r>
            <a:r>
              <a:rPr lang="en-US" altLang="en-US" b="1" dirty="0" smtClean="0">
                <a:solidFill>
                  <a:srgbClr val="3333CC"/>
                </a:solidFill>
              </a:rPr>
              <a:t>)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GB" altLang="en-US" sz="2000" dirty="0"/>
              <a:t>Variables PI and P2 are the powers of a signal at points 1 and 2, respectively.</a:t>
            </a:r>
            <a:endParaRPr lang="en-US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41052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B47F6B-05AA-4039-9564-B48C1DD44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b="1" dirty="0">
                <a:solidFill>
                  <a:srgbClr val="FFFF00"/>
                </a:solidFill>
                <a:latin typeface="+mn-lt"/>
              </a:rPr>
              <a:t>Distortion</a:t>
            </a:r>
            <a:endParaRPr lang="en-US" altLang="en-US" sz="4400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F94884-2C9A-40F6-BB0A-29E180F92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4953000"/>
          </a:xfrm>
        </p:spPr>
        <p:txBody>
          <a:bodyPr/>
          <a:lstStyle/>
          <a:p>
            <a:pPr algn="just"/>
            <a:r>
              <a:rPr lang="en-US" sz="2700" b="1" dirty="0">
                <a:solidFill>
                  <a:srgbClr val="3333CC"/>
                </a:solidFill>
                <a:latin typeface="Times New Roman (Body)"/>
              </a:rPr>
              <a:t>Distortion: </a:t>
            </a:r>
            <a:endParaRPr lang="en-US" sz="2700" b="1" dirty="0" smtClean="0">
              <a:solidFill>
                <a:srgbClr val="3333CC"/>
              </a:solidFill>
              <a:latin typeface="Times New Roman (Body)"/>
            </a:endParaRPr>
          </a:p>
          <a:p>
            <a:pPr algn="just"/>
            <a:r>
              <a:rPr lang="en-US" sz="2700" dirty="0" smtClean="0">
                <a:latin typeface="Times New Roman (Body)"/>
              </a:rPr>
              <a:t>It </a:t>
            </a:r>
            <a:r>
              <a:rPr lang="en-US" sz="2700" dirty="0">
                <a:latin typeface="Times New Roman (Body)"/>
              </a:rPr>
              <a:t>means change in the shape of signal. </a:t>
            </a:r>
            <a:endParaRPr lang="en-US" sz="2700" dirty="0" smtClean="0">
              <a:latin typeface="Times New Roman (Body)"/>
            </a:endParaRPr>
          </a:p>
          <a:p>
            <a:pPr algn="just"/>
            <a:r>
              <a:rPr lang="en-US" sz="2700" dirty="0" smtClean="0">
                <a:latin typeface="Times New Roman (Body)"/>
              </a:rPr>
              <a:t>This </a:t>
            </a:r>
            <a:r>
              <a:rPr lang="en-US" sz="2700" dirty="0">
                <a:latin typeface="Times New Roman (Body)"/>
              </a:rPr>
              <a:t>is generally seen in composite signals with different frequencies. </a:t>
            </a:r>
            <a:endParaRPr lang="en-US" sz="2700" dirty="0" smtClean="0">
              <a:latin typeface="Times New Roman (Body)"/>
            </a:endParaRPr>
          </a:p>
          <a:p>
            <a:pPr algn="just"/>
            <a:r>
              <a:rPr lang="en-US" sz="2700" dirty="0" smtClean="0">
                <a:latin typeface="Times New Roman (Body)"/>
              </a:rPr>
              <a:t>Each </a:t>
            </a:r>
            <a:r>
              <a:rPr lang="en-US" sz="2700" dirty="0">
                <a:latin typeface="Times New Roman (Body)"/>
              </a:rPr>
              <a:t>frequency component has its own propagation speed travelling through a medium. </a:t>
            </a:r>
            <a:endParaRPr lang="en-US" sz="2700" dirty="0" smtClean="0">
              <a:latin typeface="Times New Roman (Body)"/>
            </a:endParaRPr>
          </a:p>
          <a:p>
            <a:pPr algn="just"/>
            <a:r>
              <a:rPr lang="en-US" sz="2700" dirty="0" smtClean="0">
                <a:latin typeface="Times New Roman (Body)"/>
              </a:rPr>
              <a:t>Every </a:t>
            </a:r>
            <a:r>
              <a:rPr lang="en-US" sz="2700" dirty="0">
                <a:latin typeface="Times New Roman (Body)"/>
              </a:rPr>
              <a:t>component arrive at different time which leads to delay distortion. </a:t>
            </a:r>
            <a:endParaRPr lang="en-US" sz="2700" dirty="0" smtClean="0">
              <a:latin typeface="Times New Roman (Body)"/>
            </a:endParaRPr>
          </a:p>
          <a:p>
            <a:pPr algn="just"/>
            <a:r>
              <a:rPr lang="en-US" sz="2700" dirty="0" smtClean="0">
                <a:latin typeface="Times New Roman (Body)"/>
              </a:rPr>
              <a:t>Therefore</a:t>
            </a:r>
            <a:r>
              <a:rPr lang="en-US" sz="2700" dirty="0">
                <a:latin typeface="Times New Roman (Body)"/>
              </a:rPr>
              <a:t>, they have different phases at receiver end from what they had at senders end.</a:t>
            </a:r>
          </a:p>
          <a:p>
            <a:pPr algn="just"/>
            <a:endParaRPr lang="en-US" sz="2700" dirty="0">
              <a:latin typeface="Times New Roman (Body)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15050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B47F6B-05AA-4039-9564-B48C1DD44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b="1" dirty="0">
                <a:solidFill>
                  <a:srgbClr val="FFFF00"/>
                </a:solidFill>
                <a:latin typeface="+mn-lt"/>
              </a:rPr>
              <a:t>Distortion</a:t>
            </a:r>
            <a:endParaRPr lang="en-US" altLang="en-US" sz="4400" dirty="0">
              <a:solidFill>
                <a:srgbClr val="FFFF00"/>
              </a:solidFill>
              <a:latin typeface="+mn-lt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923925"/>
            <a:ext cx="8686801" cy="5095875"/>
          </a:xfrm>
        </p:spPr>
      </p:pic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23891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B47F6B-05AA-4039-9564-B48C1DD44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 dirty="0">
                <a:solidFill>
                  <a:srgbClr val="FFFF00"/>
                </a:solidFill>
                <a:latin typeface="+mn-lt"/>
              </a:rPr>
              <a:t>Noise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13" y="843950"/>
            <a:ext cx="8104804" cy="4718650"/>
          </a:xfrm>
        </p:spPr>
      </p:pic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4096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B47F6B-05AA-4039-9564-B48C1DD44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 dirty="0">
                <a:solidFill>
                  <a:srgbClr val="FFFF00"/>
                </a:solidFill>
                <a:latin typeface="+mn-lt"/>
              </a:rPr>
              <a:t>Noise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F94884-2C9A-40F6-BB0A-29E180F92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52500"/>
            <a:ext cx="8534400" cy="4953000"/>
          </a:xfrm>
        </p:spPr>
        <p:txBody>
          <a:bodyPr/>
          <a:lstStyle/>
          <a:p>
            <a:pPr algn="just"/>
            <a:r>
              <a:rPr lang="en-US" sz="3000" b="1" dirty="0">
                <a:latin typeface="Times New Roman (Body)"/>
              </a:rPr>
              <a:t>Noise –</a:t>
            </a:r>
            <a:r>
              <a:rPr lang="en-US" sz="3000" dirty="0">
                <a:latin typeface="Times New Roman (Body)"/>
              </a:rPr>
              <a:t> The random or unwanted signal that mixes up with the original signal is called noise. </a:t>
            </a:r>
            <a:endParaRPr lang="en-US" sz="3000" dirty="0" smtClean="0">
              <a:latin typeface="Times New Roman (Body)"/>
            </a:endParaRPr>
          </a:p>
          <a:p>
            <a:pPr algn="just"/>
            <a:r>
              <a:rPr lang="en-US" sz="3000" dirty="0" smtClean="0">
                <a:latin typeface="Times New Roman (Body)"/>
              </a:rPr>
              <a:t>There </a:t>
            </a:r>
            <a:r>
              <a:rPr lang="en-US" sz="3000" dirty="0">
                <a:latin typeface="Times New Roman (Body)"/>
              </a:rPr>
              <a:t>are several types of noise such as induced noise, crosstalk noise, thermal noise and impulse noise which may corrupt the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13839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B47F6B-05AA-4039-9564-B48C1DD44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 dirty="0">
                <a:solidFill>
                  <a:srgbClr val="FFFF00"/>
                </a:solidFill>
                <a:latin typeface="+mn-lt"/>
              </a:rPr>
              <a:t>Noise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F94884-2C9A-40F6-BB0A-29E180F92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52500"/>
            <a:ext cx="8534400" cy="5295900"/>
          </a:xfrm>
        </p:spPr>
        <p:txBody>
          <a:bodyPr/>
          <a:lstStyle/>
          <a:p>
            <a:pPr algn="just"/>
            <a:r>
              <a:rPr lang="en-GB" sz="2500" dirty="0">
                <a:latin typeface="Times New Roman (Body)"/>
              </a:rPr>
              <a:t>Thermal noise </a:t>
            </a:r>
            <a:r>
              <a:rPr lang="en-GB" sz="2500" dirty="0" smtClean="0">
                <a:latin typeface="Times New Roman (Body)"/>
              </a:rPr>
              <a:t>is the </a:t>
            </a:r>
            <a:r>
              <a:rPr lang="en-GB" sz="2500" dirty="0">
                <a:latin typeface="Times New Roman (Body)"/>
              </a:rPr>
              <a:t>random motion of electrons in a wire which creates an extra signal not </a:t>
            </a:r>
            <a:r>
              <a:rPr lang="en-GB" sz="2500" dirty="0" smtClean="0">
                <a:latin typeface="Times New Roman (Body)"/>
              </a:rPr>
              <a:t>originally sent </a:t>
            </a:r>
            <a:r>
              <a:rPr lang="en-GB" sz="2500" dirty="0">
                <a:latin typeface="Times New Roman (Body)"/>
              </a:rPr>
              <a:t>by the transmitter. </a:t>
            </a:r>
            <a:endParaRPr lang="en-GB" sz="2500" dirty="0" smtClean="0">
              <a:latin typeface="Times New Roman (Body)"/>
            </a:endParaRPr>
          </a:p>
          <a:p>
            <a:pPr algn="just"/>
            <a:r>
              <a:rPr lang="en-GB" sz="2500" dirty="0" smtClean="0">
                <a:latin typeface="Times New Roman (Body)"/>
              </a:rPr>
              <a:t>Induced </a:t>
            </a:r>
            <a:r>
              <a:rPr lang="en-GB" sz="2500" dirty="0">
                <a:latin typeface="Times New Roman (Body)"/>
              </a:rPr>
              <a:t>noise comes from sources such as motors and appliances</a:t>
            </a:r>
            <a:r>
              <a:rPr lang="en-GB" sz="2500" dirty="0" smtClean="0">
                <a:latin typeface="Times New Roman (Body)"/>
              </a:rPr>
              <a:t>. These </a:t>
            </a:r>
            <a:r>
              <a:rPr lang="en-GB" sz="2500" dirty="0">
                <a:latin typeface="Times New Roman (Body)"/>
              </a:rPr>
              <a:t>devices act as a sending antenna, and the transmission medium acts as </a:t>
            </a:r>
            <a:r>
              <a:rPr lang="en-GB" sz="2500" dirty="0" smtClean="0">
                <a:latin typeface="Times New Roman (Body)"/>
              </a:rPr>
              <a:t>the receiving </a:t>
            </a:r>
            <a:r>
              <a:rPr lang="en-GB" sz="2500" dirty="0">
                <a:latin typeface="Times New Roman (Body)"/>
              </a:rPr>
              <a:t>antenna. </a:t>
            </a:r>
            <a:endParaRPr lang="en-GB" sz="2500" dirty="0" smtClean="0">
              <a:latin typeface="Times New Roman (Body)"/>
            </a:endParaRPr>
          </a:p>
          <a:p>
            <a:pPr algn="just"/>
            <a:r>
              <a:rPr lang="en-GB" sz="2500" dirty="0" smtClean="0">
                <a:latin typeface="Times New Roman (Body)"/>
              </a:rPr>
              <a:t>Crosstalk </a:t>
            </a:r>
            <a:r>
              <a:rPr lang="en-GB" sz="2500" dirty="0">
                <a:latin typeface="Times New Roman (Body)"/>
              </a:rPr>
              <a:t>is the effect of one wire on the other. One wire acts as </a:t>
            </a:r>
            <a:r>
              <a:rPr lang="en-GB" sz="2500" dirty="0" smtClean="0">
                <a:latin typeface="Times New Roman (Body)"/>
              </a:rPr>
              <a:t>a sending </a:t>
            </a:r>
            <a:r>
              <a:rPr lang="en-GB" sz="2500" dirty="0">
                <a:latin typeface="Times New Roman (Body)"/>
              </a:rPr>
              <a:t>antenna and the other as the receiving antenna. </a:t>
            </a:r>
            <a:endParaRPr lang="en-GB" sz="2500" dirty="0" smtClean="0">
              <a:latin typeface="Times New Roman (Body)"/>
            </a:endParaRPr>
          </a:p>
          <a:p>
            <a:pPr algn="just"/>
            <a:r>
              <a:rPr lang="en-GB" sz="2500" dirty="0" smtClean="0">
                <a:latin typeface="Times New Roman (Body)"/>
              </a:rPr>
              <a:t>Impulse </a:t>
            </a:r>
            <a:r>
              <a:rPr lang="en-GB" sz="2500" dirty="0">
                <a:latin typeface="Times New Roman (Body)"/>
              </a:rPr>
              <a:t>noise is a spike (a </a:t>
            </a:r>
            <a:r>
              <a:rPr lang="en-GB" sz="2500" dirty="0" smtClean="0">
                <a:latin typeface="Times New Roman (Body)"/>
              </a:rPr>
              <a:t>signal with </a:t>
            </a:r>
            <a:r>
              <a:rPr lang="en-GB" sz="2500" dirty="0">
                <a:latin typeface="Times New Roman (Body)"/>
              </a:rPr>
              <a:t>high energy in a very short time) that comes from power lines, lightning, and </a:t>
            </a:r>
            <a:r>
              <a:rPr lang="en-GB" sz="2500" dirty="0" smtClean="0">
                <a:latin typeface="Times New Roman (Body)"/>
              </a:rPr>
              <a:t>so on</a:t>
            </a:r>
            <a:r>
              <a:rPr lang="en-GB" sz="2500" dirty="0">
                <a:latin typeface="Times New Roman (Body)"/>
              </a:rPr>
              <a:t>. </a:t>
            </a:r>
            <a:endParaRPr lang="en-US" sz="2500" dirty="0">
              <a:latin typeface="Times New Roman (Body)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32535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B47F6B-05AA-4039-9564-B48C1DD44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 dirty="0">
                <a:solidFill>
                  <a:srgbClr val="FFFF00"/>
                </a:solidFill>
                <a:latin typeface="+mn-lt"/>
              </a:rPr>
              <a:t>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6F94884-2C9A-40F6-BB0A-29E180F92E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952500"/>
                <a:ext cx="8534400" cy="5219700"/>
              </a:xfrm>
            </p:spPr>
            <p:txBody>
              <a:bodyPr/>
              <a:lstStyle/>
              <a:p>
                <a:pPr algn="just"/>
                <a:r>
                  <a:rPr lang="en-GB" sz="2600" dirty="0" smtClean="0"/>
                  <a:t>To </a:t>
                </a:r>
                <a:r>
                  <a:rPr lang="en-GB" sz="2600" dirty="0"/>
                  <a:t>find the theoretical bit rate limit, we need to know the ratio </a:t>
                </a:r>
                <a:r>
                  <a:rPr lang="en-GB" sz="2600" dirty="0" smtClean="0"/>
                  <a:t>of the </a:t>
                </a:r>
                <a:r>
                  <a:rPr lang="en-GB" sz="2600" dirty="0"/>
                  <a:t>signal power to the noise power. </a:t>
                </a:r>
                <a:endParaRPr lang="en-GB" sz="2600" dirty="0" smtClean="0"/>
              </a:p>
              <a:p>
                <a:pPr algn="just"/>
                <a:r>
                  <a:rPr lang="en-GB" sz="2600" dirty="0" smtClean="0"/>
                  <a:t>The </a:t>
                </a:r>
                <a:r>
                  <a:rPr lang="en-GB" sz="2600" dirty="0"/>
                  <a:t>signal-to-noise ratio is defined </a:t>
                </a:r>
                <a:r>
                  <a:rPr lang="en-GB" sz="2600" dirty="0" smtClean="0"/>
                  <a:t>as</a:t>
                </a:r>
              </a:p>
              <a:p>
                <a:pPr marL="0" indent="0" algn="ctr">
                  <a:buNone/>
                </a:pPr>
                <a:r>
                  <a:rPr lang="en-US" altLang="en-US" sz="2600" dirty="0" smtClean="0">
                    <a:solidFill>
                      <a:srgbClr val="3333CC"/>
                    </a:solidFill>
                  </a:rPr>
                  <a:t>SNR </a:t>
                </a:r>
                <a:r>
                  <a:rPr lang="en-US" altLang="en-US" sz="2600" dirty="0">
                    <a:solidFill>
                      <a:srgbClr val="3333CC"/>
                    </a:solidFill>
                  </a:rPr>
                  <a:t>= AVG SIGNAL POWER / AVG NOISE POWER </a:t>
                </a:r>
              </a:p>
              <a:p>
                <a:pPr algn="just"/>
                <a:r>
                  <a:rPr lang="en-GB" sz="2600" dirty="0" smtClean="0"/>
                  <a:t>A </a:t>
                </a:r>
                <a:r>
                  <a:rPr lang="en-GB" sz="2600" dirty="0"/>
                  <a:t>high SNR means the signal is less corrupted by noise; a low SNR means the signal </a:t>
                </a:r>
                <a:r>
                  <a:rPr lang="en-GB" sz="2600" dirty="0" smtClean="0"/>
                  <a:t>is more </a:t>
                </a:r>
                <a:r>
                  <a:rPr lang="en-GB" sz="2600" dirty="0"/>
                  <a:t>corrupted by noise.</a:t>
                </a:r>
              </a:p>
              <a:p>
                <a:pPr algn="just"/>
                <a:r>
                  <a:rPr lang="en-GB" sz="2600" dirty="0"/>
                  <a:t>Because SNR is the ratio of two powers, it is often described in decibel </a:t>
                </a:r>
                <a:r>
                  <a:rPr lang="en-GB" sz="2600" dirty="0" smtClean="0"/>
                  <a:t>units,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b="0" i="1" smtClean="0">
                            <a:latin typeface="Cambria Math" panose="02040503050406030204" pitchFamily="18" charset="0"/>
                          </a:rPr>
                          <m:t>𝑆𝑁𝑅</m:t>
                        </m:r>
                      </m:e>
                      <m:sub>
                        <m:r>
                          <a:rPr lang="en-GB" sz="2600" b="0" i="1" smtClean="0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r>
                      <a:rPr lang="en-GB" sz="26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600" dirty="0" smtClean="0"/>
              </a:p>
              <a:p>
                <a:pPr marL="0" indent="0" algn="just">
                  <a:buNone/>
                </a:pPr>
                <a:endParaRPr lang="en-US" sz="10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𝑆𝑁𝑅</m:t>
                        </m:r>
                      </m:e>
                      <m:sub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</m:oMath>
                </a14:m>
                <a:r>
                  <a:rPr lang="en-US" sz="2600" i="1" dirty="0" smtClean="0"/>
                  <a:t> = 10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6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2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sz="2600" i="1" dirty="0" smtClean="0"/>
                  <a:t> SNR</a:t>
                </a:r>
                <a:endParaRPr lang="en-US" sz="2600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6F94884-2C9A-40F6-BB0A-29E180F92E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52500"/>
                <a:ext cx="8534400" cy="5219700"/>
              </a:xfrm>
              <a:blipFill>
                <a:blip r:embed="rId2"/>
                <a:stretch>
                  <a:fillRect l="-1143" t="-1050" r="-1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691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5943600"/>
          </a:xfrm>
        </p:spPr>
        <p:txBody>
          <a:bodyPr/>
          <a:lstStyle/>
          <a:p>
            <a:pPr marL="0" indent="0" algn="ctr">
              <a:buNone/>
            </a:pPr>
            <a:r>
              <a:rPr lang="en-GB" sz="3600" dirty="0" smtClean="0">
                <a:solidFill>
                  <a:srgbClr val="3333CC"/>
                </a:solidFill>
              </a:rPr>
              <a:t>Questions???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Define </a:t>
            </a:r>
            <a:r>
              <a:rPr lang="en-GB" sz="2800" dirty="0"/>
              <a:t>analog data, analog signal, digital data, and digital signal with examples.   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Differentiate </a:t>
            </a:r>
            <a:r>
              <a:rPr lang="en-GB" sz="2800" dirty="0"/>
              <a:t>Periodic and Aperiodic signals.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State </a:t>
            </a:r>
            <a:r>
              <a:rPr lang="en-GB" sz="2800" dirty="0"/>
              <a:t>Period and Frequency, phase, wavelength with </a:t>
            </a:r>
            <a:r>
              <a:rPr lang="en-GB" sz="2800" dirty="0" smtClean="0"/>
              <a:t>appropriate </a:t>
            </a:r>
            <a:r>
              <a:rPr lang="en-GB" sz="2800" dirty="0"/>
              <a:t>figures. 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Define </a:t>
            </a:r>
            <a:r>
              <a:rPr lang="en-GB" sz="2800" dirty="0"/>
              <a:t>bandwidth with appropriate examples.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Advantages </a:t>
            </a:r>
            <a:r>
              <a:rPr lang="en-GB" sz="2800" dirty="0"/>
              <a:t>of digital signals. 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Describe </a:t>
            </a:r>
            <a:r>
              <a:rPr lang="en-GB" sz="2800" dirty="0"/>
              <a:t>transmission impairments.  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Classify </a:t>
            </a:r>
            <a:r>
              <a:rPr lang="en-GB" sz="2800" dirty="0"/>
              <a:t>noise. Define signal-to-noise ratio. </a:t>
            </a:r>
          </a:p>
        </p:txBody>
      </p:sp>
    </p:spTree>
    <p:extLst>
      <p:ext uri="{BB962C8B-B14F-4D97-AF65-F5344CB8AC3E}">
        <p14:creationId xmlns:p14="http://schemas.microsoft.com/office/powerpoint/2010/main" val="39542871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03EACE-74C1-4510-A401-931B63193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762001"/>
            <a:ext cx="7201237" cy="4952999"/>
          </a:xfrm>
        </p:spPr>
      </p:pic>
      <p:sp>
        <p:nvSpPr>
          <p:cNvPr id="3" name="TextBox 2"/>
          <p:cNvSpPr txBox="1"/>
          <p:nvPr/>
        </p:nvSpPr>
        <p:spPr>
          <a:xfrm>
            <a:off x="7086600" y="6400800"/>
            <a:ext cx="19812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838348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1925</TotalTime>
  <Words>2160</Words>
  <Application>Microsoft Office PowerPoint</Application>
  <PresentationFormat>On-screen Show (4:3)</PresentationFormat>
  <Paragraphs>237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Cambria Math</vt:lpstr>
      <vt:lpstr>Comic Sans MS</vt:lpstr>
      <vt:lpstr>Courier New</vt:lpstr>
      <vt:lpstr>Symbol</vt:lpstr>
      <vt:lpstr>Times New Roman</vt:lpstr>
      <vt:lpstr>Times New Roman (Body)</vt:lpstr>
      <vt:lpstr>Default Design</vt:lpstr>
      <vt:lpstr>PowerPoint Presentation</vt:lpstr>
      <vt:lpstr>PowerPoint Presentation</vt:lpstr>
      <vt:lpstr>Introduction </vt:lpstr>
      <vt:lpstr>Introduction </vt:lpstr>
      <vt:lpstr>Analog and Digital Data</vt:lpstr>
      <vt:lpstr>Analog and Digital Data</vt:lpstr>
      <vt:lpstr>Analog and Digital Signals</vt:lpstr>
      <vt:lpstr>Analog and Digital Signals</vt:lpstr>
      <vt:lpstr>Periodic and Aperiodic signals</vt:lpstr>
      <vt:lpstr>PowerPoint Presentation</vt:lpstr>
      <vt:lpstr>PERIODIC ANALOG SIGNALS</vt:lpstr>
      <vt:lpstr>Simple Analog Signals: Sine Waves</vt:lpstr>
      <vt:lpstr>Simple Analog Signals: Sine Waves</vt:lpstr>
      <vt:lpstr>Simple Analog Signals: Sine Waves</vt:lpstr>
      <vt:lpstr>Simple Analog Signals: Sine Waves</vt:lpstr>
      <vt:lpstr>Period and Frequency</vt:lpstr>
      <vt:lpstr>Period and Frequency</vt:lpstr>
      <vt:lpstr>Period and Frequency</vt:lpstr>
      <vt:lpstr>Units of Frequency and Periods</vt:lpstr>
      <vt:lpstr>Example 3.3 </vt:lpstr>
      <vt:lpstr>PowerPoint Presentation</vt:lpstr>
      <vt:lpstr>Phase</vt:lpstr>
      <vt:lpstr>PowerPoint Presentation</vt:lpstr>
      <vt:lpstr>Sine Wave: Examples</vt:lpstr>
      <vt:lpstr>PowerPoint Presentation</vt:lpstr>
      <vt:lpstr>Frequency Domain</vt:lpstr>
      <vt:lpstr>Wavelength</vt:lpstr>
      <vt:lpstr>Wavelength</vt:lpstr>
      <vt:lpstr>Bandwidth of Transmission Medium</vt:lpstr>
      <vt:lpstr>Propagation Time</vt:lpstr>
      <vt:lpstr>Digital Signals</vt:lpstr>
      <vt:lpstr>PowerPoint Presentation</vt:lpstr>
      <vt:lpstr>Digital Signals</vt:lpstr>
      <vt:lpstr>Digital Signals</vt:lpstr>
      <vt:lpstr>Digital Signals</vt:lpstr>
      <vt:lpstr>Digital Signals</vt:lpstr>
      <vt:lpstr>Digital Bandwidth</vt:lpstr>
      <vt:lpstr>Digital vs. Analog</vt:lpstr>
      <vt:lpstr>Data Rate Limits</vt:lpstr>
      <vt:lpstr>Transmission Impairment</vt:lpstr>
      <vt:lpstr>Attenuation</vt:lpstr>
      <vt:lpstr>Attenuation</vt:lpstr>
      <vt:lpstr>Distortion</vt:lpstr>
      <vt:lpstr>Distortion</vt:lpstr>
      <vt:lpstr>Noise</vt:lpstr>
      <vt:lpstr>Noise</vt:lpstr>
      <vt:lpstr>Noise</vt:lpstr>
      <vt:lpstr>Noise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DIU</dc:creator>
  <cp:lastModifiedBy>Mohammad SI</cp:lastModifiedBy>
  <cp:revision>144</cp:revision>
  <dcterms:created xsi:type="dcterms:W3CDTF">1601-01-01T00:00:00Z</dcterms:created>
  <dcterms:modified xsi:type="dcterms:W3CDTF">2022-10-12T09:57:29Z</dcterms:modified>
</cp:coreProperties>
</file>