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05" r:id="rId1"/>
  </p:sldMasterIdLst>
  <p:notesMasterIdLst>
    <p:notesMasterId r:id="rId9"/>
  </p:notesMasterIdLst>
  <p:sldIdLst>
    <p:sldId id="262" r:id="rId2"/>
    <p:sldId id="263" r:id="rId3"/>
    <p:sldId id="284" r:id="rId4"/>
    <p:sldId id="275" r:id="rId5"/>
    <p:sldId id="279" r:id="rId6"/>
    <p:sldId id="278" r:id="rId7"/>
    <p:sldId id="285" r:id="rId8"/>
  </p:sldIdLst>
  <p:sldSz cx="9144000" cy="5143500" type="screen16x9"/>
  <p:notesSz cx="6858000" cy="9144000"/>
  <p:embeddedFontLst>
    <p:embeddedFont>
      <p:font typeface="Corbel" panose="020B0503020204020204" pitchFamily="34" charset="0"/>
      <p:regular r:id="rId10"/>
      <p:bold r:id="rId11"/>
      <p:italic r:id="rId12"/>
      <p:boldItalic r:id="rId1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D010478-F138-4EF5-870D-C743B711A1FD}">
  <a:tblStyle styleId="{0D010478-F138-4EF5-870D-C743B711A1F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5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cd8a80d6b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0" name="Google Shape;550;gcd8a80d6b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105aad17dc0_0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g105aad17dc0_0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gcc7554a049_0_4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8" name="Google Shape;868;gcc7554a049_0_4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g107aaa41fe9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1" name="Google Shape;671;g107aaa41fe9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g107aaa41fe9_0_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4" name="Google Shape;714;g107aaa41fe9_0_1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gcc7554a049_0_4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6" name="Google Shape;706;gcc7554a049_0_4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409575" y="-3572"/>
            <a:ext cx="3761184" cy="5147072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96301" y="1035052"/>
            <a:ext cx="6430967" cy="1962149"/>
          </a:xfrm>
        </p:spPr>
        <p:txBody>
          <a:bodyPr anchor="b">
            <a:normAutofit/>
          </a:bodyPr>
          <a:lstStyle>
            <a:lvl1pPr algn="r">
              <a:defRPr sz="45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86533" y="2997200"/>
            <a:ext cx="5240734" cy="1041401"/>
          </a:xfrm>
        </p:spPr>
        <p:txBody>
          <a:bodyPr anchor="t">
            <a:normAutofit/>
          </a:bodyPr>
          <a:lstStyle>
            <a:lvl1pPr marL="0" indent="0" algn="r">
              <a:buNone/>
              <a:defRPr sz="1575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99309" y="4412457"/>
            <a:ext cx="3243033" cy="27384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49143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13893" y="4400349"/>
            <a:ext cx="413375" cy="273844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14585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29210" y="2000249"/>
            <a:ext cx="6698060" cy="1582787"/>
          </a:xfrm>
        </p:spPr>
        <p:txBody>
          <a:bodyPr anchor="b"/>
          <a:lstStyle>
            <a:lvl1pPr algn="r">
              <a:defRPr sz="3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29209" y="3583036"/>
            <a:ext cx="6698061" cy="645300"/>
          </a:xfrm>
        </p:spPr>
        <p:txBody>
          <a:bodyPr anchor="t">
            <a:normAutofit/>
          </a:bodyPr>
          <a:lstStyle>
            <a:lvl1pPr marL="0" indent="0" algn="r">
              <a:buNone/>
              <a:defRPr sz="15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01733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234" y="514351"/>
            <a:ext cx="7514035" cy="13144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13235" y="2000250"/>
            <a:ext cx="3671291" cy="2343151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5975" y="2000250"/>
            <a:ext cx="3671292" cy="2343150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10517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29134" y="1993900"/>
            <a:ext cx="3455391" cy="432197"/>
          </a:xfrm>
        </p:spPr>
        <p:txBody>
          <a:bodyPr anchor="b">
            <a:noAutofit/>
          </a:bodyPr>
          <a:lstStyle>
            <a:lvl1pPr marL="0" indent="0">
              <a:buNone/>
              <a:defRPr sz="2100" b="0">
                <a:solidFill>
                  <a:schemeClr val="accent1">
                    <a:lumMod val="7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3233" y="2501503"/>
            <a:ext cx="3671292" cy="1841897"/>
          </a:xfrm>
        </p:spPr>
        <p:txBody>
          <a:bodyPr anchor="t"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60366" y="2000250"/>
            <a:ext cx="3466903" cy="432197"/>
          </a:xfrm>
        </p:spPr>
        <p:txBody>
          <a:bodyPr anchor="b">
            <a:noAutofit/>
          </a:bodyPr>
          <a:lstStyle>
            <a:lvl1pPr marL="0" indent="0">
              <a:buNone/>
              <a:defRPr sz="2100" b="0">
                <a:solidFill>
                  <a:schemeClr val="accent1">
                    <a:lumMod val="7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55975" y="2501503"/>
            <a:ext cx="3671292" cy="1841897"/>
          </a:xfrm>
        </p:spPr>
        <p:txBody>
          <a:bodyPr anchor="t"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20022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8194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668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234" y="1200150"/>
            <a:ext cx="2661841" cy="1028700"/>
          </a:xfrm>
        </p:spPr>
        <p:txBody>
          <a:bodyPr anchor="b">
            <a:normAutofit/>
          </a:bodyPr>
          <a:lstStyle>
            <a:lvl1pPr algn="ctr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6525" y="514350"/>
            <a:ext cx="4680743" cy="3829051"/>
          </a:xfrm>
        </p:spPr>
        <p:txBody>
          <a:bodyPr anchor="ctr">
            <a:normAutofit/>
          </a:bodyPr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234" y="2228850"/>
            <a:ext cx="2661841" cy="1371600"/>
          </a:xfrm>
        </p:spPr>
        <p:txBody>
          <a:bodyPr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49578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2043" y="1314449"/>
            <a:ext cx="4069619" cy="1028700"/>
          </a:xfrm>
        </p:spPr>
        <p:txBody>
          <a:bodyPr anchor="b">
            <a:normAutofit/>
          </a:bodyPr>
          <a:lstStyle>
            <a:lvl1pPr algn="ctr">
              <a:defRPr sz="21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96011" y="685800"/>
            <a:ext cx="2460731" cy="3429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2043" y="2343149"/>
            <a:ext cx="4069619" cy="1371600"/>
          </a:xfrm>
        </p:spPr>
        <p:txBody>
          <a:bodyPr>
            <a:normAutofit/>
          </a:bodyPr>
          <a:lstStyle>
            <a:lvl1pPr marL="0" indent="0" algn="ctr">
              <a:buNone/>
              <a:defRPr sz="13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8756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234" y="3549649"/>
            <a:ext cx="7514033" cy="425054"/>
          </a:xfrm>
        </p:spPr>
        <p:txBody>
          <a:bodyPr anchor="b">
            <a:normAutofit/>
          </a:bodyPr>
          <a:lstStyle>
            <a:lvl1pPr algn="ctr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89509" y="699084"/>
            <a:ext cx="6169458" cy="2373732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234" y="3974702"/>
            <a:ext cx="7514033" cy="370284"/>
          </a:xfrm>
        </p:spPr>
        <p:txBody>
          <a:bodyPr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7237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235" y="514350"/>
            <a:ext cx="7514033" cy="2286000"/>
          </a:xfrm>
        </p:spPr>
        <p:txBody>
          <a:bodyPr anchor="ctr">
            <a:normAutofit/>
          </a:bodyPr>
          <a:lstStyle>
            <a:lvl1pPr algn="ctr">
              <a:defRPr sz="2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234" y="3257550"/>
            <a:ext cx="7514035" cy="10858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5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9230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198959" y="64726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0069" y="2114549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56159" y="514351"/>
            <a:ext cx="6742509" cy="2057399"/>
          </a:xfrm>
        </p:spPr>
        <p:txBody>
          <a:bodyPr anchor="ctr">
            <a:normAutofit/>
          </a:bodyPr>
          <a:lstStyle>
            <a:lvl1pPr algn="ctr">
              <a:defRPr sz="24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827609" y="2571749"/>
            <a:ext cx="6399611" cy="28575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350"/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234" y="3257550"/>
            <a:ext cx="7514033" cy="10858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5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94258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235" y="2481436"/>
            <a:ext cx="7514032" cy="1101600"/>
          </a:xfrm>
        </p:spPr>
        <p:txBody>
          <a:bodyPr anchor="b">
            <a:normAutofit/>
          </a:bodyPr>
          <a:lstStyle>
            <a:lvl1pPr algn="r">
              <a:defRPr sz="2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234" y="3583036"/>
            <a:ext cx="7514033" cy="645300"/>
          </a:xfrm>
        </p:spPr>
        <p:txBody>
          <a:bodyPr anchor="t">
            <a:normAutofit/>
          </a:bodyPr>
          <a:lstStyle>
            <a:lvl1pPr marL="0" indent="0" algn="r">
              <a:buNone/>
              <a:defRPr sz="15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68569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198959" y="64726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0069" y="2114549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56159" y="514351"/>
            <a:ext cx="6742509" cy="2057399"/>
          </a:xfrm>
        </p:spPr>
        <p:txBody>
          <a:bodyPr anchor="ctr">
            <a:normAutofit/>
          </a:bodyPr>
          <a:lstStyle>
            <a:lvl1pPr algn="ctr">
              <a:defRPr sz="24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235" y="2914650"/>
            <a:ext cx="7514033" cy="66675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1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234" y="3581400"/>
            <a:ext cx="7514033" cy="762000"/>
          </a:xfrm>
        </p:spPr>
        <p:txBody>
          <a:bodyPr anchor="t">
            <a:normAutofit/>
          </a:bodyPr>
          <a:lstStyle>
            <a:lvl1pPr marL="0" indent="0" algn="r">
              <a:buNone/>
              <a:defRPr sz="135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14487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235" y="514350"/>
            <a:ext cx="7514034" cy="2045494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234" y="2628900"/>
            <a:ext cx="7514035" cy="62865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1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234" y="3257550"/>
            <a:ext cx="7514035" cy="1085850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32623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8013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299492" y="514350"/>
            <a:ext cx="1327777" cy="38290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3234" y="514350"/>
            <a:ext cx="6014807" cy="382905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18961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Title and text 1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8"/>
          <p:cNvSpPr txBox="1">
            <a:spLocks noGrp="1"/>
          </p:cNvSpPr>
          <p:nvPr>
            <p:ph type="subTitle" idx="1"/>
          </p:nvPr>
        </p:nvSpPr>
        <p:spPr>
          <a:xfrm>
            <a:off x="895950" y="1682000"/>
            <a:ext cx="3847200" cy="237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4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34" name="Google Shape;134;p18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5679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3273510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Title and text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7"/>
          <p:cNvSpPr txBox="1">
            <a:spLocks noGrp="1"/>
          </p:cNvSpPr>
          <p:nvPr>
            <p:ph type="subTitle" idx="1"/>
          </p:nvPr>
        </p:nvSpPr>
        <p:spPr>
          <a:xfrm>
            <a:off x="2648400" y="1682000"/>
            <a:ext cx="3847200" cy="237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27" name="Google Shape;127;p17"/>
          <p:cNvSpPr txBox="1">
            <a:spLocks noGrp="1"/>
          </p:cNvSpPr>
          <p:nvPr>
            <p:ph type="title"/>
          </p:nvPr>
        </p:nvSpPr>
        <p:spPr>
          <a:xfrm>
            <a:off x="1732050" y="445025"/>
            <a:ext cx="5679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6058957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Title and text 3"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9"/>
          <p:cNvSpPr txBox="1">
            <a:spLocks noGrp="1"/>
          </p:cNvSpPr>
          <p:nvPr>
            <p:ph type="title"/>
          </p:nvPr>
        </p:nvSpPr>
        <p:spPr>
          <a:xfrm>
            <a:off x="1043725" y="922567"/>
            <a:ext cx="3123000" cy="225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 sz="35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17" name="Google Shape;217;p29"/>
          <p:cNvSpPr txBox="1">
            <a:spLocks noGrp="1"/>
          </p:cNvSpPr>
          <p:nvPr>
            <p:ph type="subTitle" idx="1"/>
          </p:nvPr>
        </p:nvSpPr>
        <p:spPr>
          <a:xfrm>
            <a:off x="1043725" y="3360938"/>
            <a:ext cx="3013500" cy="78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5427365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 1">
  <p:cSld name="Big number 1"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6"/>
          <p:cNvSpPr txBox="1">
            <a:spLocks noGrp="1"/>
          </p:cNvSpPr>
          <p:nvPr>
            <p:ph type="title" hasCustomPrompt="1"/>
          </p:nvPr>
        </p:nvSpPr>
        <p:spPr>
          <a:xfrm>
            <a:off x="713225" y="1345375"/>
            <a:ext cx="6120300" cy="164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93" name="Google Shape;193;p26"/>
          <p:cNvSpPr txBox="1">
            <a:spLocks noGrp="1"/>
          </p:cNvSpPr>
          <p:nvPr>
            <p:ph type="subTitle" idx="1"/>
          </p:nvPr>
        </p:nvSpPr>
        <p:spPr>
          <a:xfrm>
            <a:off x="713225" y="3188648"/>
            <a:ext cx="6120300" cy="37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6323455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3">
  <p:cSld name="Section header 3"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8"/>
          <p:cNvSpPr txBox="1">
            <a:spLocks noGrp="1"/>
          </p:cNvSpPr>
          <p:nvPr>
            <p:ph type="title"/>
          </p:nvPr>
        </p:nvSpPr>
        <p:spPr>
          <a:xfrm>
            <a:off x="4373850" y="944250"/>
            <a:ext cx="4009500" cy="64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5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07" name="Google Shape;207;p28"/>
          <p:cNvSpPr txBox="1">
            <a:spLocks noGrp="1"/>
          </p:cNvSpPr>
          <p:nvPr>
            <p:ph type="title" idx="2" hasCustomPrompt="1"/>
          </p:nvPr>
        </p:nvSpPr>
        <p:spPr>
          <a:xfrm>
            <a:off x="2294850" y="1096650"/>
            <a:ext cx="1650900" cy="97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7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9pPr>
          </a:lstStyle>
          <a:p>
            <a:r>
              <a:t>xx%</a:t>
            </a:r>
          </a:p>
        </p:txBody>
      </p:sp>
      <p:sp>
        <p:nvSpPr>
          <p:cNvPr id="208" name="Google Shape;208;p28"/>
          <p:cNvSpPr txBox="1">
            <a:spLocks noGrp="1"/>
          </p:cNvSpPr>
          <p:nvPr>
            <p:ph type="subTitle" idx="1"/>
          </p:nvPr>
        </p:nvSpPr>
        <p:spPr>
          <a:xfrm>
            <a:off x="4373850" y="1593150"/>
            <a:ext cx="2475300" cy="62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1936550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>
  <p:cSld name="Section header 2"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7"/>
          <p:cNvSpPr txBox="1">
            <a:spLocks noGrp="1"/>
          </p:cNvSpPr>
          <p:nvPr>
            <p:ph type="title"/>
          </p:nvPr>
        </p:nvSpPr>
        <p:spPr>
          <a:xfrm>
            <a:off x="4346500" y="2467375"/>
            <a:ext cx="4083600" cy="1200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5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00" name="Google Shape;200;p27"/>
          <p:cNvSpPr txBox="1">
            <a:spLocks noGrp="1"/>
          </p:cNvSpPr>
          <p:nvPr>
            <p:ph type="title" idx="2" hasCustomPrompt="1"/>
          </p:nvPr>
        </p:nvSpPr>
        <p:spPr>
          <a:xfrm>
            <a:off x="4956100" y="1021325"/>
            <a:ext cx="1650900" cy="97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7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9pPr>
          </a:lstStyle>
          <a:p>
            <a:r>
              <a:t>xx%</a:t>
            </a:r>
          </a:p>
        </p:txBody>
      </p:sp>
      <p:sp>
        <p:nvSpPr>
          <p:cNvPr id="201" name="Google Shape;201;p27"/>
          <p:cNvSpPr txBox="1">
            <a:spLocks noGrp="1"/>
          </p:cNvSpPr>
          <p:nvPr>
            <p:ph type="subTitle" idx="1"/>
          </p:nvPr>
        </p:nvSpPr>
        <p:spPr>
          <a:xfrm>
            <a:off x="4346500" y="3649675"/>
            <a:ext cx="4083600" cy="62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34162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13109" y="0"/>
            <a:ext cx="1827610" cy="51435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13234" y="514351"/>
            <a:ext cx="7514035" cy="131444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233" y="2000250"/>
            <a:ext cx="7514035" cy="23431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99492" y="4412457"/>
            <a:ext cx="85725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29210" y="4412457"/>
            <a:ext cx="5313133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13893" y="4412457"/>
            <a:ext cx="413375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5920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  <p:sldLayoutId id="2147483717" r:id="rId12"/>
    <p:sldLayoutId id="2147483718" r:id="rId13"/>
    <p:sldLayoutId id="2147483719" r:id="rId14"/>
    <p:sldLayoutId id="2147483720" r:id="rId15"/>
    <p:sldLayoutId id="2147483721" r:id="rId16"/>
    <p:sldLayoutId id="2147483722" r:id="rId17"/>
    <p:sldLayoutId id="2147483723" r:id="rId18"/>
    <p:sldLayoutId id="2147483724" r:id="rId19"/>
    <p:sldLayoutId id="2147483725" r:id="rId20"/>
    <p:sldLayoutId id="2147483726" r:id="rId21"/>
    <p:sldLayoutId id="2147483727" r:id="rId22"/>
    <p:sldLayoutId id="2147483728" r:id="rId23"/>
  </p:sldLayoutIdLst>
  <p:hf hdr="0" ftr="0" dt="0"/>
  <p:txStyles>
    <p:titleStyle>
      <a:lvl1pPr algn="ctr" defTabSz="342900" rtl="0" eaLnBrk="1" latinLnBrk="0" hangingPunct="1">
        <a:spcBef>
          <a:spcPct val="0"/>
        </a:spcBef>
        <a:buNone/>
        <a:defRPr sz="3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143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5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9001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35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157288" indent="-128588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1500188" indent="-128588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05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05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05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05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05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66"/>
          <p:cNvSpPr txBox="1">
            <a:spLocks noGrp="1"/>
          </p:cNvSpPr>
          <p:nvPr>
            <p:ph type="subTitle" idx="1"/>
          </p:nvPr>
        </p:nvSpPr>
        <p:spPr>
          <a:xfrm>
            <a:off x="1478756" y="1682000"/>
            <a:ext cx="4807744" cy="283999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/>
              <a:t>Presented By Team </a:t>
            </a:r>
            <a:r>
              <a:rPr lang="en-US" sz="2000" b="1" dirty="0"/>
              <a:t>ZERO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2000"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/>
              <a:t>Our Group Members Are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/>
              <a:t>1.S M Nabil Ausaf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/>
              <a:t>2.Adib Chowdhury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/>
              <a:t>3.Sumaiya Rahaman Ava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/>
              <a:t>4.Rayhan Hossain Rohan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/>
              <a:t>5.MD Akram </a:t>
            </a:r>
            <a:endParaRPr sz="1800" b="1" dirty="0"/>
          </a:p>
        </p:txBody>
      </p:sp>
      <p:sp>
        <p:nvSpPr>
          <p:cNvPr id="553" name="Google Shape;553;p66"/>
          <p:cNvSpPr txBox="1">
            <a:spLocks noGrp="1"/>
          </p:cNvSpPr>
          <p:nvPr>
            <p:ph type="title"/>
          </p:nvPr>
        </p:nvSpPr>
        <p:spPr>
          <a:xfrm>
            <a:off x="713225" y="445024"/>
            <a:ext cx="5644375" cy="7789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                             </a:t>
            </a:r>
            <a:r>
              <a:rPr lang="en-US" sz="3200" dirty="0"/>
              <a:t>LL1 parser table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67"/>
          <p:cNvSpPr txBox="1">
            <a:spLocks noGrp="1"/>
          </p:cNvSpPr>
          <p:nvPr>
            <p:ph type="subTitle" idx="1"/>
          </p:nvPr>
        </p:nvSpPr>
        <p:spPr>
          <a:xfrm>
            <a:off x="1335880" y="814388"/>
            <a:ext cx="7188919" cy="340481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2800" b="1" dirty="0"/>
              <a:t>Grammar:</a:t>
            </a:r>
            <a:endParaRPr lang="en-US" sz="2800" dirty="0"/>
          </a:p>
          <a:p>
            <a:r>
              <a:rPr lang="en-US" sz="2800" dirty="0"/>
              <a:t>S → LM  </a:t>
            </a:r>
          </a:p>
          <a:p>
            <a:r>
              <a:rPr lang="en-US" sz="2800" dirty="0"/>
              <a:t>L → l | ε  </a:t>
            </a:r>
          </a:p>
          <a:p>
            <a:r>
              <a:rPr lang="en-US" sz="2800" dirty="0"/>
              <a:t>M → </a:t>
            </a:r>
            <a:r>
              <a:rPr lang="en-US" sz="2800" dirty="0" err="1"/>
              <a:t>mN</a:t>
            </a:r>
            <a:r>
              <a:rPr lang="en-US" sz="2800" dirty="0"/>
              <a:t>  </a:t>
            </a:r>
          </a:p>
          <a:p>
            <a:r>
              <a:rPr lang="en-US" sz="2800" dirty="0"/>
              <a:t>N → n | ε</a:t>
            </a:r>
          </a:p>
          <a:p>
            <a:r>
              <a:rPr lang="en-US" sz="2800" dirty="0"/>
              <a:t>Given that, The input string is  </a:t>
            </a:r>
            <a:r>
              <a:rPr lang="en-US" sz="2800" b="1" dirty="0" err="1"/>
              <a:t>lmn</a:t>
            </a:r>
            <a:r>
              <a:rPr lang="en-US" sz="2800" b="1" dirty="0"/>
              <a:t>$</a:t>
            </a:r>
            <a:r>
              <a:rPr lang="en-US" sz="2800" dirty="0"/>
              <a:t>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5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BC2565D-5E56-49DC-9C5F-E41916C321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419907"/>
              </p:ext>
            </p:extLst>
          </p:nvPr>
        </p:nvGraphicFramePr>
        <p:xfrm>
          <a:off x="1209600" y="1288800"/>
          <a:ext cx="5695200" cy="2497706"/>
        </p:xfrm>
        <a:graphic>
          <a:graphicData uri="http://schemas.openxmlformats.org/drawingml/2006/table">
            <a:tbl>
              <a:tblPr firstRow="1" firstCol="1" bandRow="1">
                <a:tableStyleId>{0D010478-F138-4EF5-870D-C743B711A1FD}</a:tableStyleId>
              </a:tblPr>
              <a:tblGrid>
                <a:gridCol w="1713600">
                  <a:extLst>
                    <a:ext uri="{9D8B030D-6E8A-4147-A177-3AD203B41FA5}">
                      <a16:colId xmlns:a16="http://schemas.microsoft.com/office/drawing/2014/main" val="854223800"/>
                    </a:ext>
                  </a:extLst>
                </a:gridCol>
                <a:gridCol w="2083200">
                  <a:extLst>
                    <a:ext uri="{9D8B030D-6E8A-4147-A177-3AD203B41FA5}">
                      <a16:colId xmlns:a16="http://schemas.microsoft.com/office/drawing/2014/main" val="3195538911"/>
                    </a:ext>
                  </a:extLst>
                </a:gridCol>
                <a:gridCol w="1898400">
                  <a:extLst>
                    <a:ext uri="{9D8B030D-6E8A-4147-A177-3AD203B41FA5}">
                      <a16:colId xmlns:a16="http://schemas.microsoft.com/office/drawing/2014/main" val="3524390615"/>
                    </a:ext>
                  </a:extLst>
                </a:gridCol>
              </a:tblGrid>
              <a:tr h="52370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STRING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FIRST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FOLLOW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971826153"/>
                  </a:ext>
                </a:extLst>
              </a:tr>
              <a:tr h="49898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S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735823608"/>
                  </a:ext>
                </a:extLst>
              </a:tr>
              <a:tr h="48801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</a:rPr>
                        <a:t>L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179213321"/>
                  </a:ext>
                </a:extLst>
              </a:tr>
              <a:tr h="48801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M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345080448"/>
                  </a:ext>
                </a:extLst>
              </a:tr>
              <a:tr h="49898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N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602840936"/>
                  </a:ext>
                </a:extLst>
              </a:tr>
            </a:tbl>
          </a:graphicData>
        </a:graphic>
      </p:graphicFrame>
      <p:sp>
        <p:nvSpPr>
          <p:cNvPr id="7" name="Rectangle 1">
            <a:extLst>
              <a:ext uri="{FF2B5EF4-FFF2-40B4-BE49-F238E27FC236}">
                <a16:creationId xmlns:a16="http://schemas.microsoft.com/office/drawing/2014/main" id="{54ADE91E-37E9-41A7-8D64-969E5838A5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9600" y="403057"/>
            <a:ext cx="58752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FIRST and FOLLOW Sets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804C006-09BA-40E3-859F-6EBE12C83ACF}"/>
              </a:ext>
            </a:extLst>
          </p:cNvPr>
          <p:cNvSpPr txBox="1"/>
          <p:nvPr/>
        </p:nvSpPr>
        <p:spPr>
          <a:xfrm>
            <a:off x="3225600" y="1821600"/>
            <a:ext cx="9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{l, m}</a:t>
            </a:r>
            <a:endParaRPr lang="en-US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4826E6FE-94B3-40D0-9E2E-9B10717C73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586177"/>
              </p:ext>
            </p:extLst>
          </p:nvPr>
        </p:nvGraphicFramePr>
        <p:xfrm>
          <a:off x="3309303" y="2353160"/>
          <a:ext cx="1154697" cy="367030"/>
        </p:xfrm>
        <a:graphic>
          <a:graphicData uri="http://schemas.openxmlformats.org/drawingml/2006/table">
            <a:tbl>
              <a:tblPr firstRow="1" firstCol="1" bandRow="1">
                <a:tableStyleId>{0D010478-F138-4EF5-870D-C743B711A1FD}</a:tableStyleId>
              </a:tblPr>
              <a:tblGrid>
                <a:gridCol w="1154697">
                  <a:extLst>
                    <a:ext uri="{9D8B030D-6E8A-4147-A177-3AD203B41FA5}">
                      <a16:colId xmlns:a16="http://schemas.microsoft.com/office/drawing/2014/main" val="29445610"/>
                    </a:ext>
                  </a:extLst>
                </a:gridCol>
              </a:tblGrid>
              <a:tr h="36703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800" kern="100" dirty="0">
                          <a:effectLst/>
                        </a:rPr>
                        <a:t>{l, ε}</a:t>
                      </a:r>
                      <a:endParaRPr lang="en-US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153918122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35B3C8B2-7D83-4CBE-92E5-6D77B5A58544}"/>
              </a:ext>
            </a:extLst>
          </p:cNvPr>
          <p:cNvSpPr txBox="1"/>
          <p:nvPr/>
        </p:nvSpPr>
        <p:spPr>
          <a:xfrm>
            <a:off x="3232800" y="2813671"/>
            <a:ext cx="1231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{m}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2774C50-F676-4E65-9F02-61A57352D51E}"/>
              </a:ext>
            </a:extLst>
          </p:cNvPr>
          <p:cNvSpPr txBox="1"/>
          <p:nvPr/>
        </p:nvSpPr>
        <p:spPr>
          <a:xfrm>
            <a:off x="3232800" y="3358712"/>
            <a:ext cx="1418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{n, ε}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BBB356E-397B-4474-BD67-5A85FF66C60D}"/>
              </a:ext>
            </a:extLst>
          </p:cNvPr>
          <p:cNvSpPr txBox="1"/>
          <p:nvPr/>
        </p:nvSpPr>
        <p:spPr>
          <a:xfrm>
            <a:off x="5115600" y="1921293"/>
            <a:ext cx="1227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{$}</a:t>
            </a:r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7C9548E-423A-40FD-9F0A-5D00F9DEFEEC}"/>
              </a:ext>
            </a:extLst>
          </p:cNvPr>
          <p:cNvSpPr txBox="1"/>
          <p:nvPr/>
        </p:nvSpPr>
        <p:spPr>
          <a:xfrm>
            <a:off x="5108400" y="2412000"/>
            <a:ext cx="961200" cy="367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{m, $}</a:t>
            </a:r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011DBA0-205F-46EE-A562-87859F25F160}"/>
              </a:ext>
            </a:extLst>
          </p:cNvPr>
          <p:cNvSpPr txBox="1"/>
          <p:nvPr/>
        </p:nvSpPr>
        <p:spPr>
          <a:xfrm>
            <a:off x="5108400" y="2894400"/>
            <a:ext cx="961200" cy="367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{$}</a:t>
            </a:r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8D1A0DC-9F15-4501-ABDF-AD8FBDA078AC}"/>
              </a:ext>
            </a:extLst>
          </p:cNvPr>
          <p:cNvSpPr txBox="1"/>
          <p:nvPr/>
        </p:nvSpPr>
        <p:spPr>
          <a:xfrm>
            <a:off x="5115600" y="3261430"/>
            <a:ext cx="87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{$}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5" grpId="0"/>
      <p:bldP spid="13" grpId="0"/>
      <p:bldP spid="14" grpId="0"/>
      <p:bldP spid="18" grpId="0"/>
      <p:bldP spid="19" grpId="0"/>
      <p:bldP spid="2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4B5ABEBF-82A3-4DC6-BE2A-F30DB41125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0881016"/>
              </p:ext>
            </p:extLst>
          </p:nvPr>
        </p:nvGraphicFramePr>
        <p:xfrm>
          <a:off x="1724428" y="1605776"/>
          <a:ext cx="5523865" cy="2460704"/>
        </p:xfrm>
        <a:graphic>
          <a:graphicData uri="http://schemas.openxmlformats.org/drawingml/2006/table">
            <a:tbl>
              <a:tblPr firstRow="1" firstCol="1" bandRow="1">
                <a:tableStyleId>{0D010478-F138-4EF5-870D-C743B711A1FD}</a:tableStyleId>
              </a:tblPr>
              <a:tblGrid>
                <a:gridCol w="1104773">
                  <a:extLst>
                    <a:ext uri="{9D8B030D-6E8A-4147-A177-3AD203B41FA5}">
                      <a16:colId xmlns:a16="http://schemas.microsoft.com/office/drawing/2014/main" val="1252083494"/>
                    </a:ext>
                  </a:extLst>
                </a:gridCol>
                <a:gridCol w="1104773">
                  <a:extLst>
                    <a:ext uri="{9D8B030D-6E8A-4147-A177-3AD203B41FA5}">
                      <a16:colId xmlns:a16="http://schemas.microsoft.com/office/drawing/2014/main" val="1440426631"/>
                    </a:ext>
                  </a:extLst>
                </a:gridCol>
                <a:gridCol w="1104773">
                  <a:extLst>
                    <a:ext uri="{9D8B030D-6E8A-4147-A177-3AD203B41FA5}">
                      <a16:colId xmlns:a16="http://schemas.microsoft.com/office/drawing/2014/main" val="2756521518"/>
                    </a:ext>
                  </a:extLst>
                </a:gridCol>
                <a:gridCol w="1104773">
                  <a:extLst>
                    <a:ext uri="{9D8B030D-6E8A-4147-A177-3AD203B41FA5}">
                      <a16:colId xmlns:a16="http://schemas.microsoft.com/office/drawing/2014/main" val="2716913806"/>
                    </a:ext>
                  </a:extLst>
                </a:gridCol>
                <a:gridCol w="1104773">
                  <a:extLst>
                    <a:ext uri="{9D8B030D-6E8A-4147-A177-3AD203B41FA5}">
                      <a16:colId xmlns:a16="http://schemas.microsoft.com/office/drawing/2014/main" val="2720732120"/>
                    </a:ext>
                  </a:extLst>
                </a:gridCol>
              </a:tblGrid>
              <a:tr h="86202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</a:rPr>
                        <a:t>Non-Terminal</a:t>
                      </a:r>
                      <a:endParaRPr lang="en-US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</a:rPr>
                        <a:t>l</a:t>
                      </a:r>
                      <a:endParaRPr lang="en-US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</a:rPr>
                        <a:t>m</a:t>
                      </a:r>
                      <a:endParaRPr lang="en-US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</a:rPr>
                        <a:t>n</a:t>
                      </a:r>
                      <a:endParaRPr lang="en-US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</a:rPr>
                        <a:t>$</a:t>
                      </a:r>
                      <a:endParaRPr lang="en-US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924868569"/>
                  </a:ext>
                </a:extLst>
              </a:tr>
              <a:tr h="39966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</a:rPr>
                        <a:t>S</a:t>
                      </a:r>
                      <a:endParaRPr lang="en-US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</a:rPr>
                        <a:t>S → LM</a:t>
                      </a:r>
                      <a:endParaRPr lang="en-US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</a:rPr>
                        <a:t>S → LM</a:t>
                      </a:r>
                      <a:endParaRPr lang="en-US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800" kern="1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800" kern="1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779696663"/>
                  </a:ext>
                </a:extLst>
              </a:tr>
              <a:tr h="39966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</a:rPr>
                        <a:t>L</a:t>
                      </a:r>
                      <a:endParaRPr lang="en-US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</a:rPr>
                        <a:t>L → l</a:t>
                      </a:r>
                      <a:endParaRPr lang="en-US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</a:rPr>
                        <a:t>L → ε</a:t>
                      </a:r>
                      <a:endParaRPr lang="en-US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800" kern="1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</a:rPr>
                        <a:t>L → ε</a:t>
                      </a:r>
                      <a:endParaRPr lang="en-US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722327006"/>
                  </a:ext>
                </a:extLst>
              </a:tr>
              <a:tr h="39966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</a:rPr>
                        <a:t>M</a:t>
                      </a:r>
                      <a:endParaRPr lang="en-US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800" kern="1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</a:rPr>
                        <a:t>M → </a:t>
                      </a:r>
                      <a:r>
                        <a:rPr lang="en-US" sz="1800" kern="0" dirty="0" err="1">
                          <a:effectLst/>
                        </a:rPr>
                        <a:t>mN</a:t>
                      </a:r>
                      <a:endParaRPr lang="en-US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800" kern="1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800" kern="1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336041301"/>
                  </a:ext>
                </a:extLst>
              </a:tr>
              <a:tr h="39966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</a:rPr>
                        <a:t>N</a:t>
                      </a:r>
                      <a:endParaRPr lang="en-US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800" kern="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800" kern="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</a:rPr>
                        <a:t>N → n</a:t>
                      </a:r>
                      <a:endParaRPr lang="en-US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</a:rPr>
                        <a:t>N → ε</a:t>
                      </a:r>
                      <a:endParaRPr lang="en-US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570413340"/>
                  </a:ext>
                </a:extLst>
              </a:tr>
            </a:tbl>
          </a:graphicData>
        </a:graphic>
      </p:graphicFrame>
      <p:sp>
        <p:nvSpPr>
          <p:cNvPr id="15" name="Rectangle 2">
            <a:extLst>
              <a:ext uri="{FF2B5EF4-FFF2-40B4-BE49-F238E27FC236}">
                <a16:creationId xmlns:a16="http://schemas.microsoft.com/office/drawing/2014/main" id="{8D5444A7-426C-4A15-A9AF-35E8E3E621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8861" y="448644"/>
            <a:ext cx="2528256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LL(1) Parser Table: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A0376886-A431-484B-8604-2545CC4912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864321"/>
              </p:ext>
            </p:extLst>
          </p:nvPr>
        </p:nvGraphicFramePr>
        <p:xfrm>
          <a:off x="1514049" y="1004890"/>
          <a:ext cx="5446828" cy="3747137"/>
        </p:xfrm>
        <a:graphic>
          <a:graphicData uri="http://schemas.openxmlformats.org/drawingml/2006/table">
            <a:tbl>
              <a:tblPr firstRow="1" firstCol="1" bandRow="1">
                <a:tableStyleId>{0D010478-F138-4EF5-870D-C743B711A1FD}</a:tableStyleId>
              </a:tblPr>
              <a:tblGrid>
                <a:gridCol w="1361707">
                  <a:extLst>
                    <a:ext uri="{9D8B030D-6E8A-4147-A177-3AD203B41FA5}">
                      <a16:colId xmlns:a16="http://schemas.microsoft.com/office/drawing/2014/main" val="922754854"/>
                    </a:ext>
                  </a:extLst>
                </a:gridCol>
                <a:gridCol w="1361707">
                  <a:extLst>
                    <a:ext uri="{9D8B030D-6E8A-4147-A177-3AD203B41FA5}">
                      <a16:colId xmlns:a16="http://schemas.microsoft.com/office/drawing/2014/main" val="2433368357"/>
                    </a:ext>
                  </a:extLst>
                </a:gridCol>
                <a:gridCol w="1361707">
                  <a:extLst>
                    <a:ext uri="{9D8B030D-6E8A-4147-A177-3AD203B41FA5}">
                      <a16:colId xmlns:a16="http://schemas.microsoft.com/office/drawing/2014/main" val="2365773526"/>
                    </a:ext>
                  </a:extLst>
                </a:gridCol>
                <a:gridCol w="1361707">
                  <a:extLst>
                    <a:ext uri="{9D8B030D-6E8A-4147-A177-3AD203B41FA5}">
                      <a16:colId xmlns:a16="http://schemas.microsoft.com/office/drawing/2014/main" val="1831972395"/>
                    </a:ext>
                  </a:extLst>
                </a:gridCol>
              </a:tblGrid>
              <a:tr h="375297">
                <a:tc>
                  <a:txBody>
                    <a:bodyPr/>
                    <a:lstStyle/>
                    <a:p>
                      <a:pPr marL="45720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</a:rPr>
                        <a:t>Step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47" marR="8647" marT="8647" marB="8647" anchor="ctr"/>
                </a:tc>
                <a:tc>
                  <a:txBody>
                    <a:bodyPr/>
                    <a:lstStyle/>
                    <a:p>
                      <a:pPr marL="45720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</a:rPr>
                        <a:t>Stack</a:t>
                      </a:r>
                      <a:endParaRPr lang="en-US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47" marR="8647" marT="8647" marB="8647" anchor="ctr"/>
                </a:tc>
                <a:tc>
                  <a:txBody>
                    <a:bodyPr/>
                    <a:lstStyle/>
                    <a:p>
                      <a:pPr marL="45720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</a:rPr>
                        <a:t>Input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47" marR="8647" marT="8647" marB="8647" anchor="ctr"/>
                </a:tc>
                <a:tc>
                  <a:txBody>
                    <a:bodyPr/>
                    <a:lstStyle/>
                    <a:p>
                      <a:pPr marL="45720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kern="0">
                          <a:effectLst/>
                        </a:rPr>
                        <a:t>Action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47" marR="8647" marT="8647" marB="8647" anchor="ctr"/>
                </a:tc>
                <a:extLst>
                  <a:ext uri="{0D108BD9-81ED-4DB2-BD59-A6C34878D82A}">
                    <a16:rowId xmlns:a16="http://schemas.microsoft.com/office/drawing/2014/main" val="1215414495"/>
                  </a:ext>
                </a:extLst>
              </a:tr>
              <a:tr h="375297">
                <a:tc>
                  <a:txBody>
                    <a:bodyPr/>
                    <a:lstStyle/>
                    <a:p>
                      <a:pPr marL="45720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</a:rPr>
                        <a:t>1</a:t>
                      </a:r>
                      <a:endParaRPr lang="en-US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47" marR="8647" marT="8647" marB="8647" anchor="ctr"/>
                </a:tc>
                <a:tc>
                  <a:txBody>
                    <a:bodyPr/>
                    <a:lstStyle/>
                    <a:p>
                      <a:pPr marL="45720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</a:rPr>
                        <a:t>S$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47" marR="8647" marT="8647" marB="8647" anchor="ctr"/>
                </a:tc>
                <a:tc>
                  <a:txBody>
                    <a:bodyPr/>
                    <a:lstStyle/>
                    <a:p>
                      <a:pPr marL="45720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</a:rPr>
                        <a:t>lmn$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47" marR="8647" marT="8647" marB="8647" anchor="ctr"/>
                </a:tc>
                <a:tc>
                  <a:txBody>
                    <a:bodyPr/>
                    <a:lstStyle/>
                    <a:p>
                      <a:pPr marL="45720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kern="0">
                          <a:effectLst/>
                        </a:rPr>
                        <a:t>S → LM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47" marR="8647" marT="8647" marB="8647" anchor="ctr"/>
                </a:tc>
                <a:extLst>
                  <a:ext uri="{0D108BD9-81ED-4DB2-BD59-A6C34878D82A}">
                    <a16:rowId xmlns:a16="http://schemas.microsoft.com/office/drawing/2014/main" val="1280310332"/>
                  </a:ext>
                </a:extLst>
              </a:tr>
              <a:tr h="375297">
                <a:tc>
                  <a:txBody>
                    <a:bodyPr/>
                    <a:lstStyle/>
                    <a:p>
                      <a:pPr marL="45720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</a:rPr>
                        <a:t>2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47" marR="8647" marT="8647" marB="8647" anchor="ctr"/>
                </a:tc>
                <a:tc>
                  <a:txBody>
                    <a:bodyPr/>
                    <a:lstStyle/>
                    <a:p>
                      <a:pPr marL="45720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</a:rPr>
                        <a:t>M L $</a:t>
                      </a:r>
                      <a:endParaRPr lang="en-US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47" marR="8647" marT="8647" marB="8647" anchor="ctr"/>
                </a:tc>
                <a:tc>
                  <a:txBody>
                    <a:bodyPr/>
                    <a:lstStyle/>
                    <a:p>
                      <a:pPr marL="45720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</a:rPr>
                        <a:t>lmn$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47" marR="8647" marT="8647" marB="8647" anchor="ctr"/>
                </a:tc>
                <a:tc>
                  <a:txBody>
                    <a:bodyPr/>
                    <a:lstStyle/>
                    <a:p>
                      <a:pPr marL="45720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kern="0">
                          <a:effectLst/>
                        </a:rPr>
                        <a:t>L → l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47" marR="8647" marT="8647" marB="8647" anchor="ctr"/>
                </a:tc>
                <a:extLst>
                  <a:ext uri="{0D108BD9-81ED-4DB2-BD59-A6C34878D82A}">
                    <a16:rowId xmlns:a16="http://schemas.microsoft.com/office/drawing/2014/main" val="1445022823"/>
                  </a:ext>
                </a:extLst>
              </a:tr>
              <a:tr h="375297">
                <a:tc>
                  <a:txBody>
                    <a:bodyPr/>
                    <a:lstStyle/>
                    <a:p>
                      <a:pPr marL="45720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</a:rPr>
                        <a:t>3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47" marR="8647" marT="8647" marB="8647" anchor="ctr"/>
                </a:tc>
                <a:tc>
                  <a:txBody>
                    <a:bodyPr/>
                    <a:lstStyle/>
                    <a:p>
                      <a:pPr marL="45720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</a:rPr>
                        <a:t>M l $</a:t>
                      </a:r>
                      <a:endParaRPr lang="en-US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47" marR="8647" marT="8647" marB="8647" anchor="ctr"/>
                </a:tc>
                <a:tc>
                  <a:txBody>
                    <a:bodyPr/>
                    <a:lstStyle/>
                    <a:p>
                      <a:pPr marL="45720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</a:rPr>
                        <a:t>lmn$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47" marR="8647" marT="8647" marB="8647" anchor="ctr"/>
                </a:tc>
                <a:tc>
                  <a:txBody>
                    <a:bodyPr/>
                    <a:lstStyle/>
                    <a:p>
                      <a:pPr marL="45720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kern="0">
                          <a:effectLst/>
                        </a:rPr>
                        <a:t>pop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47" marR="8647" marT="8647" marB="8647" anchor="ctr"/>
                </a:tc>
                <a:extLst>
                  <a:ext uri="{0D108BD9-81ED-4DB2-BD59-A6C34878D82A}">
                    <a16:rowId xmlns:a16="http://schemas.microsoft.com/office/drawing/2014/main" val="734656562"/>
                  </a:ext>
                </a:extLst>
              </a:tr>
              <a:tr h="375297">
                <a:tc>
                  <a:txBody>
                    <a:bodyPr/>
                    <a:lstStyle/>
                    <a:p>
                      <a:pPr marL="45720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</a:rPr>
                        <a:t>4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47" marR="8647" marT="8647" marB="8647" anchor="ctr"/>
                </a:tc>
                <a:tc>
                  <a:txBody>
                    <a:bodyPr/>
                    <a:lstStyle/>
                    <a:p>
                      <a:pPr marL="45720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</a:rPr>
                        <a:t>M $</a:t>
                      </a:r>
                      <a:endParaRPr lang="en-US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47" marR="8647" marT="8647" marB="8647" anchor="ctr"/>
                </a:tc>
                <a:tc>
                  <a:txBody>
                    <a:bodyPr/>
                    <a:lstStyle/>
                    <a:p>
                      <a:pPr marL="45720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</a:rPr>
                        <a:t>mn$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47" marR="8647" marT="8647" marB="8647" anchor="ctr"/>
                </a:tc>
                <a:tc>
                  <a:txBody>
                    <a:bodyPr/>
                    <a:lstStyle/>
                    <a:p>
                      <a:pPr marL="45720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kern="0">
                          <a:effectLst/>
                        </a:rPr>
                        <a:t>M → mN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47" marR="8647" marT="8647" marB="8647" anchor="ctr"/>
                </a:tc>
                <a:extLst>
                  <a:ext uri="{0D108BD9-81ED-4DB2-BD59-A6C34878D82A}">
                    <a16:rowId xmlns:a16="http://schemas.microsoft.com/office/drawing/2014/main" val="3616283589"/>
                  </a:ext>
                </a:extLst>
              </a:tr>
              <a:tr h="375297">
                <a:tc>
                  <a:txBody>
                    <a:bodyPr/>
                    <a:lstStyle/>
                    <a:p>
                      <a:pPr marL="45720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</a:rPr>
                        <a:t>5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47" marR="8647" marT="8647" marB="8647" anchor="ctr"/>
                </a:tc>
                <a:tc>
                  <a:txBody>
                    <a:bodyPr/>
                    <a:lstStyle/>
                    <a:p>
                      <a:pPr marL="45720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</a:rPr>
                        <a:t>N m $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47" marR="8647" marT="8647" marB="8647" anchor="ctr"/>
                </a:tc>
                <a:tc>
                  <a:txBody>
                    <a:bodyPr/>
                    <a:lstStyle/>
                    <a:p>
                      <a:pPr marL="45720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</a:rPr>
                        <a:t>mn$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47" marR="8647" marT="8647" marB="8647" anchor="ctr"/>
                </a:tc>
                <a:tc>
                  <a:txBody>
                    <a:bodyPr/>
                    <a:lstStyle/>
                    <a:p>
                      <a:pPr marL="45720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kern="0">
                          <a:effectLst/>
                        </a:rPr>
                        <a:t>pop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47" marR="8647" marT="8647" marB="8647" anchor="ctr"/>
                </a:tc>
                <a:extLst>
                  <a:ext uri="{0D108BD9-81ED-4DB2-BD59-A6C34878D82A}">
                    <a16:rowId xmlns:a16="http://schemas.microsoft.com/office/drawing/2014/main" val="3315297336"/>
                  </a:ext>
                </a:extLst>
              </a:tr>
              <a:tr h="375297">
                <a:tc>
                  <a:txBody>
                    <a:bodyPr/>
                    <a:lstStyle/>
                    <a:p>
                      <a:pPr marL="45720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</a:rPr>
                        <a:t>6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47" marR="8647" marT="8647" marB="8647" anchor="ctr"/>
                </a:tc>
                <a:tc>
                  <a:txBody>
                    <a:bodyPr/>
                    <a:lstStyle/>
                    <a:p>
                      <a:pPr marL="45720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</a:rPr>
                        <a:t>N $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47" marR="8647" marT="8647" marB="8647" anchor="ctr"/>
                </a:tc>
                <a:tc>
                  <a:txBody>
                    <a:bodyPr/>
                    <a:lstStyle/>
                    <a:p>
                      <a:pPr marL="45720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</a:rPr>
                        <a:t>n$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47" marR="8647" marT="8647" marB="8647" anchor="ctr"/>
                </a:tc>
                <a:tc>
                  <a:txBody>
                    <a:bodyPr/>
                    <a:lstStyle/>
                    <a:p>
                      <a:pPr marL="45720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kern="0">
                          <a:effectLst/>
                        </a:rPr>
                        <a:t>N → n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47" marR="8647" marT="8647" marB="8647" anchor="ctr"/>
                </a:tc>
                <a:extLst>
                  <a:ext uri="{0D108BD9-81ED-4DB2-BD59-A6C34878D82A}">
                    <a16:rowId xmlns:a16="http://schemas.microsoft.com/office/drawing/2014/main" val="521428796"/>
                  </a:ext>
                </a:extLst>
              </a:tr>
              <a:tr h="375297">
                <a:tc>
                  <a:txBody>
                    <a:bodyPr/>
                    <a:lstStyle/>
                    <a:p>
                      <a:pPr marL="45720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</a:rPr>
                        <a:t>7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47" marR="8647" marT="8647" marB="8647" anchor="ctr"/>
                </a:tc>
                <a:tc>
                  <a:txBody>
                    <a:bodyPr/>
                    <a:lstStyle/>
                    <a:p>
                      <a:pPr marL="45720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</a:rPr>
                        <a:t>$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47" marR="8647" marT="8647" marB="8647" anchor="ctr"/>
                </a:tc>
                <a:tc>
                  <a:txBody>
                    <a:bodyPr/>
                    <a:lstStyle/>
                    <a:p>
                      <a:pPr marL="45720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</a:rPr>
                        <a:t>$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47" marR="8647" marT="8647" marB="8647" anchor="ctr"/>
                </a:tc>
                <a:tc>
                  <a:txBody>
                    <a:bodyPr/>
                    <a:lstStyle/>
                    <a:p>
                      <a:pPr marL="45720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kern="0">
                          <a:effectLst/>
                        </a:rPr>
                        <a:t>Pop  (end)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47" marR="8647" marT="8647" marB="8647" anchor="ctr"/>
                </a:tc>
                <a:extLst>
                  <a:ext uri="{0D108BD9-81ED-4DB2-BD59-A6C34878D82A}">
                    <a16:rowId xmlns:a16="http://schemas.microsoft.com/office/drawing/2014/main" val="39705830"/>
                  </a:ext>
                </a:extLst>
              </a:tr>
              <a:tr h="413922">
                <a:tc>
                  <a:txBody>
                    <a:bodyPr/>
                    <a:lstStyle/>
                    <a:p>
                      <a:pPr marL="45720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</a:rPr>
                        <a:t>8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47" marR="8647" marT="8647" marB="8647" anchor="ctr"/>
                </a:tc>
                <a:tc>
                  <a:txBody>
                    <a:bodyPr/>
                    <a:lstStyle/>
                    <a:p>
                      <a:pPr marL="45720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</a:rPr>
                        <a:t>(empty)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47" marR="8647" marT="8647" marB="8647" anchor="ctr"/>
                </a:tc>
                <a:tc>
                  <a:txBody>
                    <a:bodyPr/>
                    <a:lstStyle/>
                    <a:p>
                      <a:pPr marL="45720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</a:rPr>
                        <a:t>(empty)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47" marR="8647" marT="8647" marB="8647" anchor="ctr"/>
                </a:tc>
                <a:tc>
                  <a:txBody>
                    <a:bodyPr/>
                    <a:lstStyle/>
                    <a:p>
                      <a:pPr marL="45720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kern="0" dirty="0">
                          <a:effectLst/>
                        </a:rPr>
                        <a:t> Accepted</a:t>
                      </a:r>
                      <a:endParaRPr lang="en-US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47" marR="8647" marT="8647" marB="8647" anchor="ctr"/>
                </a:tc>
                <a:extLst>
                  <a:ext uri="{0D108BD9-81ED-4DB2-BD59-A6C34878D82A}">
                    <a16:rowId xmlns:a16="http://schemas.microsoft.com/office/drawing/2014/main" val="3612212447"/>
                  </a:ext>
                </a:extLst>
              </a:tr>
            </a:tbl>
          </a:graphicData>
        </a:graphic>
      </p:graphicFrame>
      <p:sp>
        <p:nvSpPr>
          <p:cNvPr id="9" name="Rectangle 1">
            <a:extLst>
              <a:ext uri="{FF2B5EF4-FFF2-40B4-BE49-F238E27FC236}">
                <a16:creationId xmlns:a16="http://schemas.microsoft.com/office/drawing/2014/main" id="{E2A67528-CF97-46B5-B55E-D7906DC602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78322" y="383683"/>
            <a:ext cx="6343843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LL(1) Stack Implementation: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3D8E3195-E27E-4873-8372-06878CF294A8}"/>
              </a:ext>
            </a:extLst>
          </p:cNvPr>
          <p:cNvSpPr/>
          <p:nvPr/>
        </p:nvSpPr>
        <p:spPr>
          <a:xfrm>
            <a:off x="4665598" y="655200"/>
            <a:ext cx="626400" cy="583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52E4E7C-FB55-453F-A9C6-BAF707FA7F3C}"/>
              </a:ext>
            </a:extLst>
          </p:cNvPr>
          <p:cNvCxnSpPr>
            <a:cxnSpLocks/>
          </p:cNvCxnSpPr>
          <p:nvPr/>
        </p:nvCxnSpPr>
        <p:spPr>
          <a:xfrm>
            <a:off x="5111996" y="1072800"/>
            <a:ext cx="367202" cy="576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ECD7314-D975-4AF1-A3A3-E8B40038617C}"/>
              </a:ext>
            </a:extLst>
          </p:cNvPr>
          <p:cNvCxnSpPr>
            <a:cxnSpLocks/>
            <a:stCxn id="7" idx="3"/>
          </p:cNvCxnSpPr>
          <p:nvPr/>
        </p:nvCxnSpPr>
        <p:spPr>
          <a:xfrm flipH="1">
            <a:off x="4478398" y="1152992"/>
            <a:ext cx="278934" cy="4958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C5003873-8581-4AB3-B739-355B2F3EF1BB}"/>
              </a:ext>
            </a:extLst>
          </p:cNvPr>
          <p:cNvSpPr/>
          <p:nvPr/>
        </p:nvSpPr>
        <p:spPr>
          <a:xfrm>
            <a:off x="4032004" y="1648800"/>
            <a:ext cx="539996" cy="633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C3C5A1C1-4114-4C0E-902D-771BEEC26C92}"/>
              </a:ext>
            </a:extLst>
          </p:cNvPr>
          <p:cNvSpPr/>
          <p:nvPr/>
        </p:nvSpPr>
        <p:spPr>
          <a:xfrm>
            <a:off x="5392800" y="1648800"/>
            <a:ext cx="539996" cy="633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47C73C7-F680-4093-86CE-39F276F87AB4}"/>
              </a:ext>
            </a:extLst>
          </p:cNvPr>
          <p:cNvCxnSpPr>
            <a:stCxn id="17" idx="4"/>
          </p:cNvCxnSpPr>
          <p:nvPr/>
        </p:nvCxnSpPr>
        <p:spPr>
          <a:xfrm flipH="1">
            <a:off x="3909600" y="2282400"/>
            <a:ext cx="392402" cy="374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5FB1FA23-517E-45C4-9F6E-5A3E904005CB}"/>
              </a:ext>
            </a:extLst>
          </p:cNvPr>
          <p:cNvCxnSpPr>
            <a:stCxn id="18" idx="4"/>
          </p:cNvCxnSpPr>
          <p:nvPr/>
        </p:nvCxnSpPr>
        <p:spPr>
          <a:xfrm flipH="1">
            <a:off x="5111996" y="2282400"/>
            <a:ext cx="550802" cy="446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B5C59984-4CEE-4A27-B152-DEA42AF40E81}"/>
              </a:ext>
            </a:extLst>
          </p:cNvPr>
          <p:cNvSpPr/>
          <p:nvPr/>
        </p:nvSpPr>
        <p:spPr>
          <a:xfrm>
            <a:off x="3425332" y="2627008"/>
            <a:ext cx="606672" cy="54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6BCC64E9-AB2A-4B1C-A801-02CCF183BFB1}"/>
              </a:ext>
            </a:extLst>
          </p:cNvPr>
          <p:cNvSpPr/>
          <p:nvPr/>
        </p:nvSpPr>
        <p:spPr>
          <a:xfrm>
            <a:off x="4572000" y="2663008"/>
            <a:ext cx="606672" cy="54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CA2A14A-C675-46F1-96A7-3581135E1BF9}"/>
              </a:ext>
            </a:extLst>
          </p:cNvPr>
          <p:cNvCxnSpPr>
            <a:stCxn id="18" idx="4"/>
          </p:cNvCxnSpPr>
          <p:nvPr/>
        </p:nvCxnSpPr>
        <p:spPr>
          <a:xfrm>
            <a:off x="5662798" y="2282400"/>
            <a:ext cx="529202" cy="5112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D430A0BC-0087-442D-BD2B-BD7F2965C57B}"/>
              </a:ext>
            </a:extLst>
          </p:cNvPr>
          <p:cNvSpPr/>
          <p:nvPr/>
        </p:nvSpPr>
        <p:spPr>
          <a:xfrm>
            <a:off x="6096524" y="2728800"/>
            <a:ext cx="529202" cy="62379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C5088AF7-1FEA-4CD8-A1D1-86C70085BAE6}"/>
              </a:ext>
            </a:extLst>
          </p:cNvPr>
          <p:cNvCxnSpPr>
            <a:stCxn id="26" idx="4"/>
          </p:cNvCxnSpPr>
          <p:nvPr/>
        </p:nvCxnSpPr>
        <p:spPr>
          <a:xfrm>
            <a:off x="6361125" y="3352592"/>
            <a:ext cx="0" cy="4418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Oval 29">
            <a:extLst>
              <a:ext uri="{FF2B5EF4-FFF2-40B4-BE49-F238E27FC236}">
                <a16:creationId xmlns:a16="http://schemas.microsoft.com/office/drawing/2014/main" id="{9650FA3A-75EB-4E36-9699-47E32E8DF8A5}"/>
              </a:ext>
            </a:extLst>
          </p:cNvPr>
          <p:cNvSpPr/>
          <p:nvPr/>
        </p:nvSpPr>
        <p:spPr>
          <a:xfrm>
            <a:off x="6096524" y="3794400"/>
            <a:ext cx="529202" cy="62379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687FB8A-D609-4D79-89CB-1106754F3028}"/>
              </a:ext>
            </a:extLst>
          </p:cNvPr>
          <p:cNvSpPr txBox="1"/>
          <p:nvPr/>
        </p:nvSpPr>
        <p:spPr>
          <a:xfrm>
            <a:off x="1457324" y="221456"/>
            <a:ext cx="257467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Parse Tree: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7" grpId="0" animBg="1"/>
      <p:bldP spid="18" grpId="0" animBg="1"/>
      <p:bldP spid="23" grpId="0" animBg="1"/>
      <p:bldP spid="28" grpId="0" animBg="1"/>
      <p:bldP spid="2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D867555-0B63-1F81-9506-7960DAB304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0126" y="871538"/>
            <a:ext cx="2407444" cy="607217"/>
          </a:xfrm>
        </p:spPr>
        <p:txBody>
          <a:bodyPr/>
          <a:lstStyle/>
          <a:p>
            <a:r>
              <a:rPr lang="en-US" altLang="en-US" sz="2000" b="1" dirty="0">
                <a:ln>
                  <a:noFill/>
                </a:ln>
                <a:latin typeface="Arial" panose="020B0604020202020204" pitchFamily="34" charset="0"/>
              </a:rPr>
              <a:t>✅ Conclusion:</a:t>
            </a:r>
            <a:br>
              <a:rPr lang="en-US" altLang="en-US" sz="800" b="1" dirty="0">
                <a:ln>
                  <a:noFill/>
                </a:ln>
                <a:latin typeface="Arial" panose="020B0604020202020204" pitchFamily="34" charset="0"/>
              </a:rPr>
            </a:b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9A5167E-E4C2-DBFE-6067-7233A0FE7858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100138" y="1536494"/>
            <a:ext cx="7286625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given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grammar is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LL(1)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as its parse table has no conflicts (each cell has at most one production). Using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FIRST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FOLLOW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sets, we successfully built the parse table and simulated the input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lmn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$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using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LL(1) stack parsing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which ended in acceptance. This confirms that the string “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lmn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”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is part of the language defined by the grammar. The corresponding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parse tree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follows the derivation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 → LM → l m 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clearly showing how the input is generated by the grammar.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805859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Parallax</Template>
  <TotalTime>76</TotalTime>
  <Words>327</Words>
  <Application>Microsoft Office PowerPoint</Application>
  <PresentationFormat>On-screen Show (16:9)</PresentationFormat>
  <Paragraphs>98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 Unicode MS</vt:lpstr>
      <vt:lpstr>Arial</vt:lpstr>
      <vt:lpstr>Corbel</vt:lpstr>
      <vt:lpstr>Calibri</vt:lpstr>
      <vt:lpstr>Parallax</vt:lpstr>
      <vt:lpstr>                             LL1 parser table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✅ Conclusion: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iFarmer – Empowering Farmers Through Technology -</dc:title>
  <dc:creator>User</dc:creator>
  <cp:lastModifiedBy>s m nabil ausaf</cp:lastModifiedBy>
  <cp:revision>7</cp:revision>
  <dcterms:modified xsi:type="dcterms:W3CDTF">2025-07-31T05:18:34Z</dcterms:modified>
</cp:coreProperties>
</file>