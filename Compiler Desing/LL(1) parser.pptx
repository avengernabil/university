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7" r:id="rId5"/>
    <p:sldId id="259" r:id="rId6"/>
    <p:sldId id="260" r:id="rId7"/>
    <p:sldId id="264" r:id="rId8"/>
    <p:sldId id="265" r:id="rId9"/>
    <p:sldId id="268" r:id="rId10"/>
    <p:sldId id="261" r:id="rId11"/>
    <p:sldId id="262" r:id="rId12"/>
    <p:sldId id="263" r:id="rId13"/>
    <p:sldId id="266" r:id="rId14"/>
    <p:sldId id="269" r:id="rId15"/>
    <p:sldId id="270" r:id="rId16"/>
    <p:sldId id="271" r:id="rId17"/>
    <p:sldId id="272" r:id="rId18"/>
    <p:sldId id="273" r:id="rId19"/>
    <p:sldId id="279" r:id="rId20"/>
    <p:sldId id="280" r:id="rId21"/>
    <p:sldId id="274" r:id="rId22"/>
    <p:sldId id="275" r:id="rId23"/>
    <p:sldId id="276" r:id="rId24"/>
    <p:sldId id="277" r:id="rId25"/>
    <p:sldId id="278" r:id="rId26"/>
    <p:sldId id="281" r:id="rId27"/>
  </p:sldIdLst>
  <p:sldSz cx="12192000" cy="6858000"/>
  <p:notesSz cx="6858000" cy="9144000"/>
  <p:defaultTextStyle>
    <a:defPPr>
      <a:defRPr lang="en-B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83"/>
    <p:restoredTop sz="94690"/>
  </p:normalViewPr>
  <p:slideViewPr>
    <p:cSldViewPr snapToGrid="0">
      <p:cViewPr varScale="1">
        <p:scale>
          <a:sx n="81" d="100"/>
          <a:sy n="81" d="100"/>
        </p:scale>
        <p:origin x="97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28426-1218-7E8D-5639-7B5770ED96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4DA995-CBC6-831E-7638-8A6ED07452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66087-9318-E40D-8C31-93CC7E1DE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33746-D5D5-3F44-A96E-2E990A68D4E1}" type="datetimeFigureOut">
              <a:rPr lang="en-BD" smtClean="0"/>
              <a:t>08/30/2025</a:t>
            </a:fld>
            <a:endParaRPr lang="e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39C73-471B-B744-7E31-86B8DC982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A6E083-6127-F5A1-54D3-3C34DE0EB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9EA2A-03BA-034B-8B8A-A65C711E9339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061131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C65B9-ECCF-D430-D78D-EE46D52F7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C1EBB-E8F8-C4B1-8AEA-79783591E4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89251-CBAA-39D8-910B-CE7E0C552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33746-D5D5-3F44-A96E-2E990A68D4E1}" type="datetimeFigureOut">
              <a:rPr lang="en-BD" smtClean="0"/>
              <a:t>08/30/2025</a:t>
            </a:fld>
            <a:endParaRPr lang="e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48C30-FDC3-9166-0449-B18FB28DB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1C128-3B2E-AEEF-3FC8-AE186E0F3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9EA2A-03BA-034B-8B8A-A65C711E9339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64126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B3520-6B1A-C246-DEC3-792D73433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83C9E4-FFEA-5A92-D460-F03A53EFC5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9840A-640E-BA75-E8DE-0A8DFFEE8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33746-D5D5-3F44-A96E-2E990A68D4E1}" type="datetimeFigureOut">
              <a:rPr lang="en-BD" smtClean="0"/>
              <a:t>08/30/2025</a:t>
            </a:fld>
            <a:endParaRPr lang="e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03D79E-D53B-AA60-55D9-5B8EDE920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8DDCA-8986-FE9B-C437-239581BA8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9EA2A-03BA-034B-8B8A-A65C711E9339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890371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789CF-6BE7-A893-8F82-0DDE84B60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25604-A44D-0521-2CFB-702DE7B959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F00355-0180-734E-FC6D-CB77CD7CE3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27A79E-8AA5-F546-3BCA-395ECFA1C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33746-D5D5-3F44-A96E-2E990A68D4E1}" type="datetimeFigureOut">
              <a:rPr lang="en-BD" smtClean="0"/>
              <a:t>08/30/2025</a:t>
            </a:fld>
            <a:endParaRPr lang="en-B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373E66-12EA-B8A1-5F16-238D1B3A0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D58F92-A3FC-A50B-FD0C-5328825F4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9EA2A-03BA-034B-8B8A-A65C711E9339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593367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641B1-B460-3612-450D-A10CE7220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320622-89BB-F528-8881-BC5F4B58D9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B95A53-A751-0163-9FDA-7C248590E0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38406F-98B7-C30C-6ADE-D70ADA0A0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E341B8-369D-93E1-B6FC-5686FA0367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479440-81D2-179B-9ADE-4A02B5A8E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33746-D5D5-3F44-A96E-2E990A68D4E1}" type="datetimeFigureOut">
              <a:rPr lang="en-BD" smtClean="0"/>
              <a:t>08/30/2025</a:t>
            </a:fld>
            <a:endParaRPr lang="en-B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EC8A30-39D2-C9DF-22EB-573F389DD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A721B8-2C97-59D1-3F47-4C314412C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9EA2A-03BA-034B-8B8A-A65C711E9339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443453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4AE79-025A-B8FC-E69E-7C989A624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5DCBF4-31BC-A2AD-5056-B3444B0ED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33746-D5D5-3F44-A96E-2E990A68D4E1}" type="datetimeFigureOut">
              <a:rPr lang="en-BD" smtClean="0"/>
              <a:t>08/30/2025</a:t>
            </a:fld>
            <a:endParaRPr lang="en-B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6E70C2-D302-768B-249B-FD5CA461F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2833D0-2C49-E238-F634-B76B3F7CA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9EA2A-03BA-034B-8B8A-A65C711E9339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135598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AB78F7-7DCE-C215-1F07-954D9BDAA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33746-D5D5-3F44-A96E-2E990A68D4E1}" type="datetimeFigureOut">
              <a:rPr lang="en-BD" smtClean="0"/>
              <a:t>08/30/2025</a:t>
            </a:fld>
            <a:endParaRPr lang="en-B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4621E6-D19E-B2BD-696F-267F92E58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8A4BBC-5629-386F-2859-5F12CB760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9EA2A-03BA-034B-8B8A-A65C711E9339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763440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0EAB3-358F-905D-2DC8-9CE5FD04B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6ED61-8FEF-C53C-BD92-82C0B17F3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7351E3-781C-7EFE-4B8C-FA08C1950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538D26-47E4-01A0-76A8-B89C93E19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33746-D5D5-3F44-A96E-2E990A68D4E1}" type="datetimeFigureOut">
              <a:rPr lang="en-BD" smtClean="0"/>
              <a:t>08/30/2025</a:t>
            </a:fld>
            <a:endParaRPr lang="en-B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2E7B37-5528-F564-DE2D-B7FF88128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F3DA8-C6E2-9396-E2CE-3E2B5249A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9EA2A-03BA-034B-8B8A-A65C711E9339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647999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F2490-A1C3-6943-5B5F-54FE5B716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4F1584-986E-6917-F323-06E0CBEBC9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7F2C81-A395-4E49-23E3-2D77DFD136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A53828-82E5-E9CF-BE6F-82702CBFB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33746-D5D5-3F44-A96E-2E990A68D4E1}" type="datetimeFigureOut">
              <a:rPr lang="en-BD" smtClean="0"/>
              <a:t>08/30/2025</a:t>
            </a:fld>
            <a:endParaRPr lang="en-B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0F6F89-BFB2-F7CD-954B-0D1F089AF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049769-233F-C946-1817-5463F2A37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9EA2A-03BA-034B-8B8A-A65C711E9339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434765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7AF05-5281-E5A4-4D97-017D6258B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E7EA43-4F7C-D819-92ED-62AB6A30F2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2DED51-1CFE-7ECF-0FC9-F244BF683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33746-D5D5-3F44-A96E-2E990A68D4E1}" type="datetimeFigureOut">
              <a:rPr lang="en-BD" smtClean="0"/>
              <a:t>08/30/2025</a:t>
            </a:fld>
            <a:endParaRPr lang="e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C98F11-8136-D5BB-FCF5-C214E4437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6DE507-7A26-D2EE-FB56-6F36FB360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9EA2A-03BA-034B-8B8A-A65C711E9339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281811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975182-AF71-1898-94BD-361C4B0882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3BA351-C131-31FA-28C6-7AEE45C5BD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6AAA15-9497-59D4-4BBB-E2DCCB7BA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33746-D5D5-3F44-A96E-2E990A68D4E1}" type="datetimeFigureOut">
              <a:rPr lang="en-BD" smtClean="0"/>
              <a:t>08/30/2025</a:t>
            </a:fld>
            <a:endParaRPr lang="e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11D1FF-11FB-5A4F-6685-88C66F8AE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0C91C-209B-1E37-F576-E83FBB777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9EA2A-03BA-034B-8B8A-A65C711E9339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996624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E9A1B7-E78E-EE04-839D-5C5B0616D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D464EF-FB87-A028-F657-744371241F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C8B54A-F65D-1347-C90E-9993DBA18C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333746-D5D5-3F44-A96E-2E990A68D4E1}" type="datetimeFigureOut">
              <a:rPr lang="en-BD" smtClean="0"/>
              <a:t>08/30/2025</a:t>
            </a:fld>
            <a:endParaRPr lang="e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C4DE0-7B3E-7C1D-0D80-31D7404D6A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EBCDF-949D-67F2-BEC6-0E342A6DA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69EA2A-03BA-034B-8B8A-A65C711E9339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034649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E2370-A8DE-D916-79DA-33FA247C97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BD" dirty="0"/>
              <a:t>Non-Recursive Predictive Parser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5F727A-7EA1-967B-1890-ADE18F01EC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BD" dirty="0"/>
              <a:t>Rakib Mahmud</a:t>
            </a:r>
          </a:p>
        </p:txBody>
      </p:sp>
    </p:spTree>
    <p:extLst>
      <p:ext uri="{BB962C8B-B14F-4D97-AF65-F5344CB8AC3E}">
        <p14:creationId xmlns:p14="http://schemas.microsoft.com/office/powerpoint/2010/main" val="3714504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5B7C0-9DC7-29FB-0085-23CA744A5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Non-Recursive Predictive Parser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3A2FD-EDF2-8D8C-250B-93DFEEADF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Non-recursive predictive parser is also known as </a:t>
            </a:r>
            <a:r>
              <a:rPr lang="en-GB" dirty="0">
                <a:highlight>
                  <a:srgbClr val="FFFF00"/>
                </a:highlight>
              </a:rPr>
              <a:t>LL(1)</a:t>
            </a:r>
            <a:r>
              <a:rPr lang="en-GB" dirty="0"/>
              <a:t> parser</a:t>
            </a:r>
          </a:p>
          <a:p>
            <a:r>
              <a:rPr lang="en-GB" dirty="0"/>
              <a:t>The first L stands for scanning the input from </a:t>
            </a:r>
            <a:r>
              <a:rPr lang="en-GB" dirty="0">
                <a:highlight>
                  <a:srgbClr val="FFFF00"/>
                </a:highlight>
              </a:rPr>
              <a:t>left to right.</a:t>
            </a:r>
          </a:p>
          <a:p>
            <a:r>
              <a:rPr lang="en-GB" dirty="0"/>
              <a:t>The second L stands for producing a </a:t>
            </a:r>
            <a:r>
              <a:rPr lang="en-GB" dirty="0">
                <a:highlight>
                  <a:srgbClr val="FFFF00"/>
                </a:highlight>
              </a:rPr>
              <a:t>leftmost derivation.</a:t>
            </a:r>
          </a:p>
          <a:p>
            <a:r>
              <a:rPr lang="en-GB" dirty="0"/>
              <a:t>1 means at a time </a:t>
            </a:r>
            <a:r>
              <a:rPr lang="en-GB" dirty="0">
                <a:highlight>
                  <a:srgbClr val="FFFF00"/>
                </a:highlight>
              </a:rPr>
              <a:t>1 symbol</a:t>
            </a:r>
            <a:r>
              <a:rPr lang="en-GB" dirty="0"/>
              <a:t> will be read.</a:t>
            </a:r>
          </a:p>
          <a:p>
            <a:r>
              <a:rPr lang="en-GB" dirty="0"/>
              <a:t>To make this parsing table is need to construct.</a:t>
            </a:r>
          </a:p>
          <a:p>
            <a:r>
              <a:rPr lang="en-GB" dirty="0"/>
              <a:t>Size of this parsing table differs from grammar to grammar.</a:t>
            </a:r>
          </a:p>
          <a:p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671565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2FB8F-AF5D-11F8-3EB3-9517364A6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LL(1) parser</a:t>
            </a:r>
            <a:endParaRPr lang="en-BD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D1A457-E4F9-06E0-4F76-7CF0A42205E6}"/>
              </a:ext>
            </a:extLst>
          </p:cNvPr>
          <p:cNvSpPr/>
          <p:nvPr/>
        </p:nvSpPr>
        <p:spPr>
          <a:xfrm>
            <a:off x="4929051" y="2290354"/>
            <a:ext cx="1811383" cy="3657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input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D7F0B8-A307-9167-E12E-7A3AB5E727A0}"/>
              </a:ext>
            </a:extLst>
          </p:cNvPr>
          <p:cNvSpPr/>
          <p:nvPr/>
        </p:nvSpPr>
        <p:spPr>
          <a:xfrm>
            <a:off x="4929050" y="3041605"/>
            <a:ext cx="1811383" cy="5943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LL(1) parsing Algorithm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012619-3821-89EF-FA4B-BA6A8B488AF9}"/>
              </a:ext>
            </a:extLst>
          </p:cNvPr>
          <p:cNvSpPr/>
          <p:nvPr/>
        </p:nvSpPr>
        <p:spPr>
          <a:xfrm>
            <a:off x="4929050" y="4007031"/>
            <a:ext cx="1811383" cy="5943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LL(1) parsing table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3B43F1D-630F-A1AA-3CF6-7DC23B9A0E34}"/>
              </a:ext>
            </a:extLst>
          </p:cNvPr>
          <p:cNvCxnSpPr/>
          <p:nvPr/>
        </p:nvCxnSpPr>
        <p:spPr>
          <a:xfrm>
            <a:off x="4119154" y="2403566"/>
            <a:ext cx="0" cy="2055223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68A11B-6598-125C-77DE-AECF7225F118}"/>
              </a:ext>
            </a:extLst>
          </p:cNvPr>
          <p:cNvCxnSpPr/>
          <p:nvPr/>
        </p:nvCxnSpPr>
        <p:spPr>
          <a:xfrm>
            <a:off x="3461657" y="2403566"/>
            <a:ext cx="0" cy="2055223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42DCEDD-93B0-0E18-D217-EC46C4E8ED6C}"/>
              </a:ext>
            </a:extLst>
          </p:cNvPr>
          <p:cNvCxnSpPr/>
          <p:nvPr/>
        </p:nvCxnSpPr>
        <p:spPr>
          <a:xfrm>
            <a:off x="3461657" y="4458789"/>
            <a:ext cx="657497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EE9A32A-68A7-A180-85AA-E2FA2D0C663C}"/>
              </a:ext>
            </a:extLst>
          </p:cNvPr>
          <p:cNvCxnSpPr>
            <a:stCxn id="5" idx="1"/>
          </p:cNvCxnSpPr>
          <p:nvPr/>
        </p:nvCxnSpPr>
        <p:spPr>
          <a:xfrm flipH="1">
            <a:off x="4119154" y="3338785"/>
            <a:ext cx="809896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11DE5EF-26A7-141D-5F39-1F4B272F5173}"/>
              </a:ext>
            </a:extLst>
          </p:cNvPr>
          <p:cNvCxnSpPr>
            <a:stCxn id="5" idx="0"/>
            <a:endCxn id="4" idx="2"/>
          </p:cNvCxnSpPr>
          <p:nvPr/>
        </p:nvCxnSpPr>
        <p:spPr>
          <a:xfrm flipV="1">
            <a:off x="5834742" y="2656114"/>
            <a:ext cx="1" cy="3854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03189CC-43BE-B83C-72C1-6D106B34872B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5834742" y="3635965"/>
            <a:ext cx="0" cy="371066"/>
          </a:xfrm>
          <a:prstGeom prst="straightConnector1">
            <a:avLst/>
          </a:prstGeom>
          <a:ln>
            <a:headEnd type="arrow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21864A5-D344-C0EF-74A1-5D6CD20E05A9}"/>
              </a:ext>
            </a:extLst>
          </p:cNvPr>
          <p:cNvCxnSpPr>
            <a:stCxn id="5" idx="3"/>
          </p:cNvCxnSpPr>
          <p:nvPr/>
        </p:nvCxnSpPr>
        <p:spPr>
          <a:xfrm>
            <a:off x="6740433" y="3338785"/>
            <a:ext cx="110599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E35CCAF-0B81-44B5-76FB-C872214AC6DC}"/>
              </a:ext>
            </a:extLst>
          </p:cNvPr>
          <p:cNvSpPr txBox="1"/>
          <p:nvPr/>
        </p:nvSpPr>
        <p:spPr>
          <a:xfrm>
            <a:off x="7846423" y="3144747"/>
            <a:ext cx="2067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Output (Parse tree)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A1F36B-0D81-B1CB-6BB9-F4A36AB4608F}"/>
              </a:ext>
            </a:extLst>
          </p:cNvPr>
          <p:cNvSpPr txBox="1"/>
          <p:nvPr/>
        </p:nvSpPr>
        <p:spPr>
          <a:xfrm>
            <a:off x="3448931" y="4601391"/>
            <a:ext cx="746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Stack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9DC1B2E-27A0-F9B4-F5BE-F3D56B5E1E85}"/>
              </a:ext>
            </a:extLst>
          </p:cNvPr>
          <p:cNvCxnSpPr>
            <a:cxnSpLocks/>
          </p:cNvCxnSpPr>
          <p:nvPr/>
        </p:nvCxnSpPr>
        <p:spPr>
          <a:xfrm flipH="1">
            <a:off x="3448930" y="4021456"/>
            <a:ext cx="670224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9E3C80E-4CA4-9E0F-A8C1-8F278E68D801}"/>
              </a:ext>
            </a:extLst>
          </p:cNvPr>
          <p:cNvSpPr txBox="1"/>
          <p:nvPr/>
        </p:nvSpPr>
        <p:spPr>
          <a:xfrm>
            <a:off x="3668093" y="405545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$</a:t>
            </a:r>
          </a:p>
        </p:txBody>
      </p:sp>
    </p:spTree>
    <p:extLst>
      <p:ext uri="{BB962C8B-B14F-4D97-AF65-F5344CB8AC3E}">
        <p14:creationId xmlns:p14="http://schemas.microsoft.com/office/powerpoint/2010/main" val="487332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1657D-2B54-D831-204E-DE32B7FA6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i="0" dirty="0">
                <a:solidFill>
                  <a:srgbClr val="000000"/>
                </a:solidFill>
                <a:effectLst/>
                <a:highlight>
                  <a:srgbClr val="FFFFFF"/>
                </a:highlight>
              </a:rPr>
              <a:t>Prime Requirement of LL(1) Parser</a:t>
            </a:r>
            <a:endParaRPr lang="en-B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9662E-FC60-A276-568B-8D79680A4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following are the prime requirements for the LL(1) parser:</a:t>
            </a:r>
          </a:p>
          <a:p>
            <a:pPr lvl="1"/>
            <a:r>
              <a:rPr lang="en-GB" dirty="0"/>
              <a:t>The grammar must have no ambiguity, no non-determinism and no left recursion.</a:t>
            </a:r>
          </a:p>
          <a:p>
            <a:pPr lvl="1"/>
            <a:r>
              <a:rPr lang="en-GB" dirty="0"/>
              <a:t>FIRST() &amp; FOLLOW()</a:t>
            </a:r>
          </a:p>
          <a:p>
            <a:pPr lvl="1"/>
            <a:r>
              <a:rPr lang="en-GB" dirty="0"/>
              <a:t>Parsing Table</a:t>
            </a:r>
          </a:p>
          <a:p>
            <a:pPr lvl="1"/>
            <a:r>
              <a:rPr lang="en-GB" dirty="0"/>
              <a:t>Stack Implementation</a:t>
            </a:r>
          </a:p>
          <a:p>
            <a:pPr lvl="1"/>
            <a:r>
              <a:rPr lang="en-GB" dirty="0"/>
              <a:t>Parse Tree</a:t>
            </a:r>
          </a:p>
          <a:p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2548797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1B3D4-07F3-9501-37B0-739F77377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LL(1) Parsing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54302-E2AB-C352-634E-6AC3BEB1A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two-dimensional array M[</a:t>
            </a:r>
            <a:r>
              <a:rPr lang="en-GB" dirty="0" err="1"/>
              <a:t>A,a</a:t>
            </a:r>
            <a:r>
              <a:rPr lang="en-GB" dirty="0"/>
              <a:t>]  </a:t>
            </a:r>
          </a:p>
          <a:p>
            <a:r>
              <a:rPr lang="en-GB" dirty="0"/>
              <a:t>Each row is a non-terminal symbol</a:t>
            </a:r>
          </a:p>
          <a:p>
            <a:r>
              <a:rPr lang="en-GB" dirty="0"/>
              <a:t>Each column is a terminal symbol or the special symbol $</a:t>
            </a:r>
          </a:p>
          <a:p>
            <a:r>
              <a:rPr lang="en-GB" dirty="0"/>
              <a:t>Each entry holds a production rule.</a:t>
            </a:r>
          </a:p>
          <a:p>
            <a:endParaRPr lang="en-BD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7B0C33C-2E6E-58B5-F888-92596179ED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1243423"/>
              </p:ext>
            </p:extLst>
          </p:nvPr>
        </p:nvGraphicFramePr>
        <p:xfrm>
          <a:off x="2032000" y="4281471"/>
          <a:ext cx="8128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413363057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38576263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45498125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2730769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a</a:t>
                      </a: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b</a:t>
                      </a: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$</a:t>
                      </a:r>
                    </a:p>
                  </a:txBody>
                  <a:tcPr marL="84406" marR="84406" horzOverflow="overflow"/>
                </a:tc>
                <a:extLst>
                  <a:ext uri="{0D108BD9-81ED-4DB2-BD59-A6C34878D82A}">
                    <a16:rowId xmlns:a16="http://schemas.microsoft.com/office/drawing/2014/main" val="3679807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</a:t>
                      </a: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 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Symbol" pitchFamily="18" charset="2"/>
                        </a:rPr>
                        <a:t>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Symbol" pitchFamily="18" charset="2"/>
                        </a:rPr>
                        <a:t>aBa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sym typeface="Symbol" pitchFamily="18" charset="2"/>
                      </a:endParaRP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4406" marR="84406" horzOverflow="overflow"/>
                </a:tc>
                <a:extLst>
                  <a:ext uri="{0D108BD9-81ED-4DB2-BD59-A6C34878D82A}">
                    <a16:rowId xmlns:a16="http://schemas.microsoft.com/office/drawing/2014/main" val="3442940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</a:t>
                      </a: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Symbol" pitchFamily="18" charset="2"/>
                        </a:rPr>
                        <a:t>B  </a:t>
                      </a: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Symbol" pitchFamily="18" charset="2"/>
                        </a:rPr>
                        <a:t>B  bB</a:t>
                      </a: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4406" marR="84406" horzOverflow="overflow"/>
                </a:tc>
                <a:extLst>
                  <a:ext uri="{0D108BD9-81ED-4DB2-BD59-A6C34878D82A}">
                    <a16:rowId xmlns:a16="http://schemas.microsoft.com/office/drawing/2014/main" val="6951278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8874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E5396-2384-FA1B-27E7-F1D1886B3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Rules for creating LL(1) Parsing 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77DBB8-5F79-3832-51D0-EEF06EF9EE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BD" dirty="0"/>
                  <a:t>Add A </a:t>
                </a:r>
                <a:r>
                  <a:rPr kumimoji="0" lang="en-US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  <a:sym typeface="Symbol" pitchFamily="18" charset="2"/>
                  </a:rPr>
                  <a:t> 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𝛼</m:t>
                    </m:r>
                  </m:oMath>
                </a14:m>
                <a:r>
                  <a:rPr lang="en-BD" dirty="0"/>
                  <a:t> under M[A,a]  where a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BD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BD" dirty="0"/>
                  <a:t> First(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𝛼</m:t>
                    </m:r>
                  </m:oMath>
                </a14:m>
                <a:r>
                  <a:rPr lang="en-BD" dirty="0"/>
                  <a:t>)</a:t>
                </a:r>
              </a:p>
              <a:p>
                <a:r>
                  <a:rPr lang="en-BD" dirty="0"/>
                  <a:t>Add A </a:t>
                </a:r>
                <a:r>
                  <a:rPr kumimoji="0" lang="en-US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  <a:sym typeface="Symbol" pitchFamily="18" charset="2"/>
                  </a:rPr>
                  <a:t> 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𝛼</m:t>
                    </m:r>
                  </m:oMath>
                </a14:m>
                <a:r>
                  <a:rPr lang="en-BD" dirty="0"/>
                  <a:t> under M[A,a]  where a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BD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BD" dirty="0"/>
                  <a:t> Follow(A) if First(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𝛼</m:t>
                    </m:r>
                  </m:oMath>
                </a14:m>
                <a:r>
                  <a:rPr lang="en-BD" dirty="0"/>
                  <a:t>) contain </a:t>
                </a:r>
                <a:r>
                  <a:rPr lang="en-US" dirty="0">
                    <a:sym typeface="Symbol" pitchFamily="18" charset="2"/>
                  </a:rPr>
                  <a:t></a:t>
                </a:r>
                <a:r>
                  <a:rPr lang="en-BD" dirty="0"/>
                  <a:t> </a:t>
                </a:r>
              </a:p>
              <a:p>
                <a:endParaRPr lang="en-BD" dirty="0"/>
              </a:p>
              <a:p>
                <a:endParaRPr lang="en-BD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77DBB8-5F79-3832-51D0-EEF06EF9EE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907"/>
                </a:stretch>
              </a:blipFill>
            </p:spPr>
            <p:txBody>
              <a:bodyPr/>
              <a:lstStyle/>
              <a:p>
                <a:r>
                  <a:rPr lang="en-B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793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1AD8F-98B6-D47F-5085-C0544870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LL(1) Parser – Parser Actions</a:t>
            </a:r>
            <a:endParaRPr lang="en-B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EDE8C-CF4B-1801-965D-04EDA94AB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lnSpc>
                <a:spcPct val="90000"/>
              </a:lnSpc>
            </a:pPr>
            <a:r>
              <a:rPr lang="en-US" sz="2800" dirty="0"/>
              <a:t>The symbol at the top of the stack (say X) and the current symbol in the input string (say a) determine the parser action. </a:t>
            </a:r>
          </a:p>
          <a:p>
            <a:pPr marL="457200" indent="-457200">
              <a:lnSpc>
                <a:spcPct val="90000"/>
              </a:lnSpc>
            </a:pPr>
            <a:r>
              <a:rPr lang="en-US" sz="2800" dirty="0"/>
              <a:t>There are four possible parser actions.</a:t>
            </a:r>
          </a:p>
          <a:p>
            <a:pPr marL="914400" lvl="1" indent="-457200">
              <a:buFontTx/>
              <a:buAutoNum type="arabicPeriod"/>
            </a:pPr>
            <a:r>
              <a:rPr lang="en-US" dirty="0"/>
              <a:t>If (X = $, a = $ ) </a:t>
            </a:r>
            <a:r>
              <a:rPr lang="en-US" dirty="0">
                <a:sym typeface="Wingdings" pitchFamily="2" charset="2"/>
              </a:rPr>
              <a:t>parser halts (successful completion)</a:t>
            </a:r>
          </a:p>
          <a:p>
            <a:pPr marL="914400" lvl="1" indent="-457200">
              <a:buFontTx/>
              <a:buAutoNum type="arabicPeriod"/>
            </a:pPr>
            <a:r>
              <a:rPr lang="en-US" dirty="0">
                <a:sym typeface="Wingdings" pitchFamily="2" charset="2"/>
              </a:rPr>
              <a:t>If X= a (but not $) parser pops X from the stack, and moves the next symbol in the input buffer.</a:t>
            </a:r>
          </a:p>
          <a:p>
            <a:pPr marL="914400" lvl="1" indent="-457200">
              <a:buFontTx/>
              <a:buAutoNum type="arabicPeriod"/>
            </a:pPr>
            <a:r>
              <a:rPr lang="en-US" dirty="0">
                <a:sym typeface="Wingdings" pitchFamily="2" charset="2"/>
              </a:rPr>
              <a:t>If X is a non-terminal  </a:t>
            </a:r>
          </a:p>
          <a:p>
            <a:pPr marL="1188720" lvl="2" indent="-457200">
              <a:buFont typeface="Wingdings" pitchFamily="2" charset="2"/>
              <a:buChar char="§"/>
            </a:pPr>
            <a:r>
              <a:rPr lang="en-US" dirty="0">
                <a:sym typeface="Wingdings" pitchFamily="2" charset="2"/>
              </a:rPr>
              <a:t>Parser looks at the parsing table entry M[X, a].</a:t>
            </a:r>
          </a:p>
          <a:p>
            <a:pPr marL="1188720" lvl="2" indent="-457200">
              <a:buFont typeface="Wingdings" pitchFamily="2" charset="2"/>
              <a:buChar char="§"/>
            </a:pPr>
            <a:r>
              <a:rPr lang="en-US" dirty="0">
                <a:sym typeface="Wingdings" pitchFamily="2" charset="2"/>
              </a:rPr>
              <a:t>If   M[X, a] holds a production rule X</a:t>
            </a:r>
            <a:r>
              <a:rPr lang="en-US" dirty="0">
                <a:sym typeface="Symbol" pitchFamily="18" charset="2"/>
              </a:rPr>
              <a:t>Y</a:t>
            </a:r>
            <a:r>
              <a:rPr lang="en-US" baseline="-25000" dirty="0">
                <a:sym typeface="Symbol" pitchFamily="18" charset="2"/>
              </a:rPr>
              <a:t>1</a:t>
            </a:r>
            <a:r>
              <a:rPr lang="en-US" dirty="0">
                <a:sym typeface="Symbol" pitchFamily="18" charset="2"/>
              </a:rPr>
              <a:t>Y</a:t>
            </a:r>
            <a:r>
              <a:rPr lang="en-US" baseline="-25000" dirty="0">
                <a:sym typeface="Symbol" pitchFamily="18" charset="2"/>
              </a:rPr>
              <a:t>2</a:t>
            </a:r>
            <a:r>
              <a:rPr lang="en-US" dirty="0">
                <a:sym typeface="Symbol" pitchFamily="18" charset="2"/>
              </a:rPr>
              <a:t>...</a:t>
            </a:r>
            <a:r>
              <a:rPr lang="en-US" dirty="0" err="1">
                <a:sym typeface="Symbol" pitchFamily="18" charset="2"/>
              </a:rPr>
              <a:t>Y</a:t>
            </a:r>
            <a:r>
              <a:rPr lang="en-US" baseline="-25000" dirty="0" err="1">
                <a:sym typeface="Symbol" pitchFamily="18" charset="2"/>
              </a:rPr>
              <a:t>k</a:t>
            </a:r>
            <a:r>
              <a:rPr lang="en-US" dirty="0">
                <a:sym typeface="Wingdings" pitchFamily="2" charset="2"/>
              </a:rPr>
              <a:t>, it pops X from the stack and pushes Y</a:t>
            </a:r>
            <a:r>
              <a:rPr lang="en-US" baseline="-25000" dirty="0">
                <a:sym typeface="Wingdings" pitchFamily="2" charset="2"/>
              </a:rPr>
              <a:t>k</a:t>
            </a:r>
            <a:r>
              <a:rPr lang="en-US" dirty="0">
                <a:sym typeface="Wingdings" pitchFamily="2" charset="2"/>
              </a:rPr>
              <a:t>,Y</a:t>
            </a:r>
            <a:r>
              <a:rPr lang="en-US" baseline="-25000" dirty="0">
                <a:sym typeface="Wingdings" pitchFamily="2" charset="2"/>
              </a:rPr>
              <a:t>k-1</a:t>
            </a:r>
            <a:r>
              <a:rPr lang="en-US" dirty="0">
                <a:sym typeface="Wingdings" pitchFamily="2" charset="2"/>
              </a:rPr>
              <a:t>,...,Y</a:t>
            </a:r>
            <a:r>
              <a:rPr lang="en-US" baseline="-25000" dirty="0">
                <a:sym typeface="Wingdings" pitchFamily="2" charset="2"/>
              </a:rPr>
              <a:t>1 </a:t>
            </a:r>
            <a:r>
              <a:rPr lang="en-US" dirty="0">
                <a:sym typeface="Wingdings" pitchFamily="2" charset="2"/>
              </a:rPr>
              <a:t>into the stack.</a:t>
            </a:r>
          </a:p>
          <a:p>
            <a:pPr marL="1188720" lvl="2" indent="-457200">
              <a:buFont typeface="Wingdings" pitchFamily="2" charset="2"/>
              <a:buChar char="§"/>
            </a:pPr>
            <a:r>
              <a:rPr lang="en-US" dirty="0">
                <a:sym typeface="Wingdings" pitchFamily="2" charset="2"/>
              </a:rPr>
              <a:t>The parser also outputs the production rule X</a:t>
            </a:r>
            <a:r>
              <a:rPr lang="en-US" dirty="0">
                <a:sym typeface="Symbol" pitchFamily="18" charset="2"/>
              </a:rPr>
              <a:t>Y</a:t>
            </a:r>
            <a:r>
              <a:rPr lang="en-US" baseline="-25000" dirty="0">
                <a:sym typeface="Symbol" pitchFamily="18" charset="2"/>
              </a:rPr>
              <a:t>1</a:t>
            </a:r>
            <a:r>
              <a:rPr lang="en-US" dirty="0">
                <a:sym typeface="Symbol" pitchFamily="18" charset="2"/>
              </a:rPr>
              <a:t>Y</a:t>
            </a:r>
            <a:r>
              <a:rPr lang="en-US" baseline="-25000" dirty="0">
                <a:sym typeface="Symbol" pitchFamily="18" charset="2"/>
              </a:rPr>
              <a:t>2</a:t>
            </a:r>
            <a:r>
              <a:rPr lang="en-US" dirty="0">
                <a:sym typeface="Symbol" pitchFamily="18" charset="2"/>
              </a:rPr>
              <a:t>...</a:t>
            </a:r>
            <a:r>
              <a:rPr lang="en-US" dirty="0" err="1">
                <a:sym typeface="Symbol" pitchFamily="18" charset="2"/>
              </a:rPr>
              <a:t>Y</a:t>
            </a:r>
            <a:r>
              <a:rPr lang="en-US" baseline="-25000" dirty="0" err="1">
                <a:sym typeface="Symbol" pitchFamily="18" charset="2"/>
              </a:rPr>
              <a:t>k</a:t>
            </a:r>
            <a:r>
              <a:rPr lang="en-US" dirty="0">
                <a:sym typeface="Symbol" pitchFamily="18" charset="2"/>
              </a:rPr>
              <a:t> to represent a step of the derivation.</a:t>
            </a:r>
          </a:p>
          <a:p>
            <a:pPr marL="914400" lvl="1" indent="-457200">
              <a:buFontTx/>
              <a:buAutoNum type="arabicPeriod"/>
            </a:pPr>
            <a:endParaRPr lang="en-US" dirty="0">
              <a:sym typeface="Wingdings" pitchFamily="2" charset="2"/>
            </a:endParaRPr>
          </a:p>
          <a:p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1070220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E5B4F-950C-3663-015C-DF1C4953D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LL(1) Parser – Parser Actions</a:t>
            </a:r>
            <a:endParaRPr lang="en-B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3967D-216E-9863-5840-2E65E43601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14400" lvl="1" indent="-457200">
              <a:buFontTx/>
              <a:buAutoNum type="arabicPeriod" startAt="4"/>
            </a:pPr>
            <a:r>
              <a:rPr lang="en-US" dirty="0">
                <a:sym typeface="Wingdings" pitchFamily="2" charset="2"/>
              </a:rPr>
              <a:t>None of the above  :  error </a:t>
            </a:r>
          </a:p>
          <a:p>
            <a:pPr marL="1257300" lvl="2" indent="-342900"/>
            <a:r>
              <a:rPr lang="en-US" dirty="0">
                <a:sym typeface="Wingdings" pitchFamily="2" charset="2"/>
              </a:rPr>
              <a:t>All empty entries in the parsing table are errors. </a:t>
            </a:r>
          </a:p>
          <a:p>
            <a:pPr marL="1257300" lvl="2" indent="-342900"/>
            <a:r>
              <a:rPr lang="en-US" dirty="0">
                <a:sym typeface="Wingdings" pitchFamily="2" charset="2"/>
              </a:rPr>
              <a:t>If X is a terminal symbol different from a, this is also an error case.</a:t>
            </a:r>
          </a:p>
          <a:p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184761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CC7A7-D6A0-0547-36C8-DC6AFB32E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Ex1: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4E99A-A6C8-A89F-2651-A66AE42F7A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57600" lvl="8" indent="0">
              <a:buNone/>
            </a:pPr>
            <a:r>
              <a:rPr lang="en-GB" sz="2400" dirty="0"/>
              <a:t>E 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sym typeface="Symbol" pitchFamily="18" charset="2"/>
              </a:rPr>
              <a:t></a:t>
            </a:r>
            <a:r>
              <a:rPr lang="en-GB" sz="2400" dirty="0"/>
              <a:t> TE’</a:t>
            </a:r>
          </a:p>
          <a:p>
            <a:pPr marL="3657600" lvl="8" indent="0">
              <a:buNone/>
            </a:pPr>
            <a:r>
              <a:rPr lang="en-GB" sz="2400" dirty="0"/>
              <a:t>E’ 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sym typeface="Symbol" pitchFamily="18" charset="2"/>
              </a:rPr>
              <a:t></a:t>
            </a:r>
            <a:r>
              <a:rPr lang="en-GB" sz="2400" dirty="0"/>
              <a:t> 𝜀 | + TE’</a:t>
            </a:r>
          </a:p>
          <a:p>
            <a:pPr marL="3657600" lvl="8" indent="0">
              <a:buNone/>
            </a:pPr>
            <a:r>
              <a:rPr lang="en-GB" sz="2400" dirty="0"/>
              <a:t>T 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sym typeface="Symbol" pitchFamily="18" charset="2"/>
              </a:rPr>
              <a:t></a:t>
            </a:r>
            <a:r>
              <a:rPr lang="en-GB" sz="2400" dirty="0"/>
              <a:t> FT’</a:t>
            </a:r>
          </a:p>
          <a:p>
            <a:pPr marL="3657600" lvl="8" indent="0">
              <a:buNone/>
            </a:pPr>
            <a:r>
              <a:rPr lang="en-GB" sz="2400" dirty="0"/>
              <a:t>T’ 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sym typeface="Symbol" pitchFamily="18" charset="2"/>
              </a:rPr>
              <a:t></a:t>
            </a:r>
            <a:r>
              <a:rPr lang="en-GB" sz="2400" dirty="0"/>
              <a:t> 𝜀 | *FT’</a:t>
            </a:r>
          </a:p>
          <a:p>
            <a:pPr marL="3657600" lvl="8" indent="0">
              <a:buNone/>
            </a:pPr>
            <a:r>
              <a:rPr lang="en-GB" sz="2400" dirty="0"/>
              <a:t>F 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sym typeface="Symbol" pitchFamily="18" charset="2"/>
              </a:rPr>
              <a:t></a:t>
            </a:r>
            <a:r>
              <a:rPr lang="en-GB" sz="2400" dirty="0"/>
              <a:t> id | (E)</a:t>
            </a:r>
          </a:p>
          <a:p>
            <a:pPr marL="0" indent="0">
              <a:buNone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Construct the parse table for the LL(1) grammar and parse the input string 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</a:rPr>
              <a:t>id+id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$</a:t>
            </a:r>
          </a:p>
          <a:p>
            <a:pPr marL="0" indent="0">
              <a:buNone/>
            </a:pPr>
            <a:r>
              <a:rPr lang="en-GB" b="1" dirty="0">
                <a:solidFill>
                  <a:srgbClr val="000000"/>
                </a:solidFill>
              </a:rPr>
              <a:t>Solution: </a:t>
            </a:r>
          </a:p>
          <a:p>
            <a:pPr marL="0" indent="0">
              <a:buNone/>
            </a:pPr>
            <a:r>
              <a:rPr lang="en-GB" dirty="0">
                <a:solidFill>
                  <a:srgbClr val="000000"/>
                </a:solidFill>
              </a:rPr>
              <a:t>	It is not ambiguous, left recursive, non-deterministic. So no need to eliminate ambiguity, left recursion or non-determinism.</a:t>
            </a:r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1759786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BA512-ED6B-EE64-874F-0C35B38D7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Finding First and Follow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BF62E2BB-952E-2296-91D5-47AAE45556B9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233172982"/>
                  </p:ext>
                </p:extLst>
              </p:nvPr>
            </p:nvGraphicFramePr>
            <p:xfrm>
              <a:off x="838200" y="1825625"/>
              <a:ext cx="10515597" cy="44855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05199">
                      <a:extLst>
                        <a:ext uri="{9D8B030D-6E8A-4147-A177-3AD203B41FA5}">
                          <a16:colId xmlns:a16="http://schemas.microsoft.com/office/drawing/2014/main" val="3833433467"/>
                        </a:ext>
                      </a:extLst>
                    </a:gridCol>
                    <a:gridCol w="3505199">
                      <a:extLst>
                        <a:ext uri="{9D8B030D-6E8A-4147-A177-3AD203B41FA5}">
                          <a16:colId xmlns:a16="http://schemas.microsoft.com/office/drawing/2014/main" val="3482480417"/>
                        </a:ext>
                      </a:extLst>
                    </a:gridCol>
                    <a:gridCol w="3505199">
                      <a:extLst>
                        <a:ext uri="{9D8B030D-6E8A-4147-A177-3AD203B41FA5}">
                          <a16:colId xmlns:a16="http://schemas.microsoft.com/office/drawing/2014/main" val="421204515"/>
                        </a:ext>
                      </a:extLst>
                    </a:gridCol>
                  </a:tblGrid>
                  <a:tr h="747588">
                    <a:tc>
                      <a:txBody>
                        <a:bodyPr/>
                        <a:lstStyle/>
                        <a:p>
                          <a:endParaRPr lang="en-BD" sz="2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BD" sz="2400" dirty="0"/>
                            <a:t>First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BD" sz="2400" dirty="0"/>
                            <a:t>Follow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85633609"/>
                      </a:ext>
                    </a:extLst>
                  </a:tr>
                  <a:tr h="747588">
                    <a:tc>
                      <a:txBody>
                        <a:bodyPr/>
                        <a:lstStyle/>
                        <a:p>
                          <a:r>
                            <a:rPr lang="en-BD" sz="2000" dirty="0"/>
                            <a:t>E </a:t>
                          </a:r>
                          <a:r>
                            <a:rPr kumimoji="0" lang="en-US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itchFamily="18" charset="2"/>
                            </a:rPr>
                            <a:t></a:t>
                          </a:r>
                          <a:r>
                            <a:rPr lang="en-BD" sz="2000" dirty="0"/>
                            <a:t> TE’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BD" sz="2000" dirty="0"/>
                            <a:t>{ id, ( 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BD" sz="2000" dirty="0"/>
                            <a:t>{ $, ) }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70631144"/>
                      </a:ext>
                    </a:extLst>
                  </a:tr>
                  <a:tr h="747588">
                    <a:tc>
                      <a:txBody>
                        <a:bodyPr/>
                        <a:lstStyle/>
                        <a:p>
                          <a:r>
                            <a:rPr lang="en-BD" sz="2000" dirty="0"/>
                            <a:t>E’</a:t>
                          </a:r>
                          <a:r>
                            <a:rPr kumimoji="0" lang="en-US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itchFamily="18" charset="2"/>
                            </a:rPr>
                            <a:t> 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BD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|</m:t>
                              </m:r>
                            </m:oMath>
                          </a14:m>
                          <a:r>
                            <a:rPr lang="en-BD" sz="2000" dirty="0"/>
                            <a:t> + TE’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BD" sz="2000" dirty="0"/>
                            <a:t>{</a:t>
                          </a:r>
                          <a14:m>
                            <m:oMath xmlns:m="http://schemas.openxmlformats.org/officeDocument/2006/math">
                              <m:r>
                                <a:rPr lang="en-BD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</m:oMath>
                          </a14:m>
                          <a:r>
                            <a:rPr lang="en-BD" sz="2000" dirty="0"/>
                            <a:t> +}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BD" sz="2000" dirty="0"/>
                            <a:t>{ $, ) }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41653801"/>
                      </a:ext>
                    </a:extLst>
                  </a:tr>
                  <a:tr h="747588">
                    <a:tc>
                      <a:txBody>
                        <a:bodyPr/>
                        <a:lstStyle/>
                        <a:p>
                          <a:r>
                            <a:rPr lang="en-BD" sz="2000" dirty="0"/>
                            <a:t>T </a:t>
                          </a:r>
                          <a:r>
                            <a:rPr kumimoji="0" lang="en-US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itchFamily="18" charset="2"/>
                            </a:rPr>
                            <a:t></a:t>
                          </a:r>
                          <a:r>
                            <a:rPr lang="en-BD" sz="2000" dirty="0"/>
                            <a:t> FT’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BD" sz="2000" dirty="0"/>
                            <a:t>{ id, ( 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BD" sz="2000" dirty="0"/>
                            <a:t>{+, $, ) }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15603146"/>
                      </a:ext>
                    </a:extLst>
                  </a:tr>
                  <a:tr h="747588">
                    <a:tc>
                      <a:txBody>
                        <a:bodyPr/>
                        <a:lstStyle/>
                        <a:p>
                          <a:r>
                            <a:rPr lang="en-BD" sz="2000" dirty="0"/>
                            <a:t>T’ </a:t>
                          </a:r>
                          <a:r>
                            <a:rPr kumimoji="0" lang="en-US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itchFamily="18" charset="2"/>
                            </a:rPr>
                            <a:t></a:t>
                          </a:r>
                          <a:r>
                            <a:rPr lang="en-BD" sz="20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BD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|</m:t>
                              </m:r>
                            </m:oMath>
                          </a14:m>
                          <a:r>
                            <a:rPr lang="en-BD" sz="2000" dirty="0"/>
                            <a:t> *FT’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BD" sz="2000" dirty="0"/>
                            <a:t>{</a:t>
                          </a:r>
                          <a14:m>
                            <m:oMath xmlns:m="http://schemas.openxmlformats.org/officeDocument/2006/math">
                              <m:r>
                                <a:rPr lang="en-BD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</m:oMath>
                          </a14:m>
                          <a:r>
                            <a:rPr lang="en-BD" sz="2000" dirty="0"/>
                            <a:t> *}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BD" sz="2000" dirty="0"/>
                            <a:t>{+, $, ) }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93871644"/>
                      </a:ext>
                    </a:extLst>
                  </a:tr>
                  <a:tr h="747588">
                    <a:tc>
                      <a:txBody>
                        <a:bodyPr/>
                        <a:lstStyle/>
                        <a:p>
                          <a:r>
                            <a:rPr lang="en-BD" sz="2000" dirty="0"/>
                            <a:t>F </a:t>
                          </a:r>
                          <a:r>
                            <a:rPr kumimoji="0" lang="en-US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itchFamily="18" charset="2"/>
                            </a:rPr>
                            <a:t></a:t>
                          </a:r>
                          <a:r>
                            <a:rPr lang="en-BD" sz="2000" dirty="0"/>
                            <a:t> id |</a:t>
                          </a:r>
                          <a:r>
                            <a:rPr lang="en-BD" sz="2000" baseline="0" dirty="0"/>
                            <a:t> (E)</a:t>
                          </a:r>
                          <a:endParaRPr lang="en-BD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BD" sz="2000" dirty="0"/>
                            <a:t>{id, ( 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BD" sz="2000" dirty="0"/>
                            <a:t>{*, +, $, )  }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225146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BF62E2BB-952E-2296-91D5-47AAE45556B9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233172982"/>
                  </p:ext>
                </p:extLst>
              </p:nvPr>
            </p:nvGraphicFramePr>
            <p:xfrm>
              <a:off x="838200" y="1825625"/>
              <a:ext cx="10515597" cy="44855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05199">
                      <a:extLst>
                        <a:ext uri="{9D8B030D-6E8A-4147-A177-3AD203B41FA5}">
                          <a16:colId xmlns:a16="http://schemas.microsoft.com/office/drawing/2014/main" val="3833433467"/>
                        </a:ext>
                      </a:extLst>
                    </a:gridCol>
                    <a:gridCol w="3505199">
                      <a:extLst>
                        <a:ext uri="{9D8B030D-6E8A-4147-A177-3AD203B41FA5}">
                          <a16:colId xmlns:a16="http://schemas.microsoft.com/office/drawing/2014/main" val="3482480417"/>
                        </a:ext>
                      </a:extLst>
                    </a:gridCol>
                    <a:gridCol w="3505199">
                      <a:extLst>
                        <a:ext uri="{9D8B030D-6E8A-4147-A177-3AD203B41FA5}">
                          <a16:colId xmlns:a16="http://schemas.microsoft.com/office/drawing/2014/main" val="421204515"/>
                        </a:ext>
                      </a:extLst>
                    </a:gridCol>
                  </a:tblGrid>
                  <a:tr h="747588">
                    <a:tc>
                      <a:txBody>
                        <a:bodyPr/>
                        <a:lstStyle/>
                        <a:p>
                          <a:endParaRPr lang="en-BD" sz="2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BD" sz="2400" dirty="0"/>
                            <a:t>First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BD" sz="2400" dirty="0"/>
                            <a:t>Follow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85633609"/>
                      </a:ext>
                    </a:extLst>
                  </a:tr>
                  <a:tr h="747588">
                    <a:tc>
                      <a:txBody>
                        <a:bodyPr/>
                        <a:lstStyle/>
                        <a:p>
                          <a:r>
                            <a:rPr lang="en-BD" sz="2000" dirty="0"/>
                            <a:t>E </a:t>
                          </a:r>
                          <a:r>
                            <a:rPr kumimoji="0" lang="en-US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itchFamily="18" charset="2"/>
                            </a:rPr>
                            <a:t></a:t>
                          </a:r>
                          <a:r>
                            <a:rPr lang="en-BD" sz="2000" dirty="0"/>
                            <a:t> TE’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BD" sz="2000" dirty="0"/>
                            <a:t>{ id, ( 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BD" sz="2000" dirty="0"/>
                            <a:t>{ $, ) }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70631144"/>
                      </a:ext>
                    </a:extLst>
                  </a:tr>
                  <a:tr h="747588">
                    <a:tc>
                      <a:txBody>
                        <a:bodyPr/>
                        <a:lstStyle/>
                        <a:p>
                          <a:endParaRPr lang="en-BD"/>
                        </a:p>
                      </a:txBody>
                      <a:tcPr>
                        <a:blipFill>
                          <a:blip r:embed="rId2"/>
                          <a:stretch>
                            <a:fillRect l="-362" t="-206780" r="-201087" b="-3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BD"/>
                        </a:p>
                      </a:txBody>
                      <a:tcPr>
                        <a:blipFill>
                          <a:blip r:embed="rId2"/>
                          <a:stretch>
                            <a:fillRect l="-100362" t="-206780" r="-101087" b="-3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BD" sz="2000" dirty="0"/>
                            <a:t>{ $, ) }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41653801"/>
                      </a:ext>
                    </a:extLst>
                  </a:tr>
                  <a:tr h="747588">
                    <a:tc>
                      <a:txBody>
                        <a:bodyPr/>
                        <a:lstStyle/>
                        <a:p>
                          <a:r>
                            <a:rPr lang="en-BD" sz="2000" dirty="0"/>
                            <a:t>T </a:t>
                          </a:r>
                          <a:r>
                            <a:rPr kumimoji="0" lang="en-US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itchFamily="18" charset="2"/>
                            </a:rPr>
                            <a:t></a:t>
                          </a:r>
                          <a:r>
                            <a:rPr lang="en-BD" sz="2000" dirty="0"/>
                            <a:t> FT’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BD" sz="2000" dirty="0"/>
                            <a:t>{ id, ( 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BD" sz="2000" dirty="0"/>
                            <a:t>{+, $, ) }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15603146"/>
                      </a:ext>
                    </a:extLst>
                  </a:tr>
                  <a:tr h="747588">
                    <a:tc>
                      <a:txBody>
                        <a:bodyPr/>
                        <a:lstStyle/>
                        <a:p>
                          <a:endParaRPr lang="en-BD"/>
                        </a:p>
                      </a:txBody>
                      <a:tcPr>
                        <a:blipFill>
                          <a:blip r:embed="rId2"/>
                          <a:stretch>
                            <a:fillRect l="-362" t="-406780" r="-201087" b="-1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BD"/>
                        </a:p>
                      </a:txBody>
                      <a:tcPr>
                        <a:blipFill>
                          <a:blip r:embed="rId2"/>
                          <a:stretch>
                            <a:fillRect l="-100362" t="-406780" r="-101087" b="-1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BD" sz="2000" dirty="0"/>
                            <a:t>{+, $, ) }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93871644"/>
                      </a:ext>
                    </a:extLst>
                  </a:tr>
                  <a:tr h="747588">
                    <a:tc>
                      <a:txBody>
                        <a:bodyPr/>
                        <a:lstStyle/>
                        <a:p>
                          <a:r>
                            <a:rPr lang="en-BD" sz="2000" dirty="0"/>
                            <a:t>F </a:t>
                          </a:r>
                          <a:r>
                            <a:rPr kumimoji="0" lang="en-US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itchFamily="18" charset="2"/>
                            </a:rPr>
                            <a:t></a:t>
                          </a:r>
                          <a:r>
                            <a:rPr lang="en-BD" sz="2000" dirty="0"/>
                            <a:t> id |</a:t>
                          </a:r>
                          <a:r>
                            <a:rPr lang="en-BD" sz="2000" baseline="0" dirty="0"/>
                            <a:t> (E)</a:t>
                          </a:r>
                          <a:endParaRPr lang="en-BD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BD" sz="2000" dirty="0"/>
                            <a:t>{id, ( 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BD" sz="2000" dirty="0"/>
                            <a:t>{*, +, $, )  }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225146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55968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F741F-30BB-5919-F8FF-1E5FD5C2C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Creating LL(1) Parsing Table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B308162-3B54-4902-51F5-628EE5C626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5428650"/>
              </p:ext>
            </p:extLst>
          </p:nvPr>
        </p:nvGraphicFramePr>
        <p:xfrm>
          <a:off x="838199" y="1825624"/>
          <a:ext cx="10578736" cy="45751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1248">
                  <a:extLst>
                    <a:ext uri="{9D8B030D-6E8A-4147-A177-3AD203B41FA5}">
                      <a16:colId xmlns:a16="http://schemas.microsoft.com/office/drawing/2014/main" val="2031144776"/>
                    </a:ext>
                  </a:extLst>
                </a:gridCol>
                <a:gridCol w="1511248">
                  <a:extLst>
                    <a:ext uri="{9D8B030D-6E8A-4147-A177-3AD203B41FA5}">
                      <a16:colId xmlns:a16="http://schemas.microsoft.com/office/drawing/2014/main" val="2549171945"/>
                    </a:ext>
                  </a:extLst>
                </a:gridCol>
                <a:gridCol w="1511248">
                  <a:extLst>
                    <a:ext uri="{9D8B030D-6E8A-4147-A177-3AD203B41FA5}">
                      <a16:colId xmlns:a16="http://schemas.microsoft.com/office/drawing/2014/main" val="2454393947"/>
                    </a:ext>
                  </a:extLst>
                </a:gridCol>
                <a:gridCol w="1511248">
                  <a:extLst>
                    <a:ext uri="{9D8B030D-6E8A-4147-A177-3AD203B41FA5}">
                      <a16:colId xmlns:a16="http://schemas.microsoft.com/office/drawing/2014/main" val="1961341448"/>
                    </a:ext>
                  </a:extLst>
                </a:gridCol>
                <a:gridCol w="1511248">
                  <a:extLst>
                    <a:ext uri="{9D8B030D-6E8A-4147-A177-3AD203B41FA5}">
                      <a16:colId xmlns:a16="http://schemas.microsoft.com/office/drawing/2014/main" val="2126450983"/>
                    </a:ext>
                  </a:extLst>
                </a:gridCol>
                <a:gridCol w="1511248">
                  <a:extLst>
                    <a:ext uri="{9D8B030D-6E8A-4147-A177-3AD203B41FA5}">
                      <a16:colId xmlns:a16="http://schemas.microsoft.com/office/drawing/2014/main" val="3365266420"/>
                    </a:ext>
                  </a:extLst>
                </a:gridCol>
                <a:gridCol w="1511248">
                  <a:extLst>
                    <a:ext uri="{9D8B030D-6E8A-4147-A177-3AD203B41FA5}">
                      <a16:colId xmlns:a16="http://schemas.microsoft.com/office/drawing/2014/main" val="430883650"/>
                    </a:ext>
                  </a:extLst>
                </a:gridCol>
              </a:tblGrid>
              <a:tr h="76252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</a:t>
                      </a: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id</a:t>
                      </a: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+</a:t>
                      </a: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*</a:t>
                      </a: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(</a:t>
                      </a: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$</a:t>
                      </a:r>
                    </a:p>
                  </a:txBody>
                  <a:tcPr marL="84406" marR="84406" horzOverflow="overflow"/>
                </a:tc>
                <a:extLst>
                  <a:ext uri="{0D108BD9-81ED-4DB2-BD59-A6C34878D82A}">
                    <a16:rowId xmlns:a16="http://schemas.microsoft.com/office/drawing/2014/main" val="3466020362"/>
                  </a:ext>
                </a:extLst>
              </a:tr>
              <a:tr h="76252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</a:t>
                      </a: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 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Symbol" pitchFamily="18" charset="2"/>
                        </a:rPr>
                        <a:t> TE</a:t>
                      </a:r>
                      <a:r>
                        <a:rPr kumimoji="0" lang="en-US" sz="24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Symbol" pitchFamily="18" charset="2"/>
                        </a:rPr>
                        <a:t>’</a:t>
                      </a: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 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Symbol" pitchFamily="18" charset="2"/>
                        </a:rPr>
                        <a:t> TE</a:t>
                      </a:r>
                      <a:r>
                        <a:rPr kumimoji="0" lang="en-US" sz="24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Symbol" pitchFamily="18" charset="2"/>
                        </a:rPr>
                        <a:t>’</a:t>
                      </a: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4406" marR="84406" horzOverflow="overflow"/>
                </a:tc>
                <a:extLst>
                  <a:ext uri="{0D108BD9-81ED-4DB2-BD59-A6C34878D82A}">
                    <a16:rowId xmlns:a16="http://schemas.microsoft.com/office/drawing/2014/main" val="4205201628"/>
                  </a:ext>
                </a:extLst>
              </a:tr>
              <a:tr h="76252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Symbol" pitchFamily="18" charset="2"/>
                        </a:rPr>
                        <a:t>E</a:t>
                      </a:r>
                      <a:r>
                        <a:rPr kumimoji="0" lang="en-US" sz="24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Symbol" pitchFamily="18" charset="2"/>
                        </a:rPr>
                        <a:t>’</a:t>
                      </a: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Symbol" pitchFamily="18" charset="2"/>
                        </a:rPr>
                        <a:t>E</a:t>
                      </a:r>
                      <a:r>
                        <a:rPr kumimoji="0" lang="en-US" sz="24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Symbol" pitchFamily="18" charset="2"/>
                        </a:rPr>
                        <a:t>’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Symbol" pitchFamily="18" charset="2"/>
                        </a:rPr>
                        <a:t>  +TE</a:t>
                      </a:r>
                      <a:r>
                        <a:rPr kumimoji="0" lang="en-US" sz="24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Symbol" pitchFamily="18" charset="2"/>
                        </a:rPr>
                        <a:t>’</a:t>
                      </a: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Symbol" pitchFamily="18" charset="2"/>
                        </a:rPr>
                        <a:t>E</a:t>
                      </a:r>
                      <a:r>
                        <a:rPr kumimoji="0" lang="en-US" sz="24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Symbol" pitchFamily="18" charset="2"/>
                        </a:rPr>
                        <a:t>’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Symbol" pitchFamily="18" charset="2"/>
                        </a:rPr>
                        <a:t>  </a:t>
                      </a: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Symbol" pitchFamily="18" charset="2"/>
                        </a:rPr>
                        <a:t>E</a:t>
                      </a:r>
                      <a:r>
                        <a:rPr kumimoji="0" lang="en-US" sz="24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Symbol" pitchFamily="18" charset="2"/>
                        </a:rPr>
                        <a:t>’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Symbol" pitchFamily="18" charset="2"/>
                        </a:rPr>
                        <a:t>  </a:t>
                      </a:r>
                    </a:p>
                  </a:txBody>
                  <a:tcPr marL="84406" marR="84406" horzOverflow="overflow"/>
                </a:tc>
                <a:extLst>
                  <a:ext uri="{0D108BD9-81ED-4DB2-BD59-A6C34878D82A}">
                    <a16:rowId xmlns:a16="http://schemas.microsoft.com/office/drawing/2014/main" val="9557808"/>
                  </a:ext>
                </a:extLst>
              </a:tr>
              <a:tr h="76252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</a:t>
                      </a: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 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Symbol" pitchFamily="18" charset="2"/>
                        </a:rPr>
                        <a:t> FT</a:t>
                      </a:r>
                      <a:r>
                        <a:rPr kumimoji="0" lang="en-US" sz="24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Symbol" pitchFamily="18" charset="2"/>
                        </a:rPr>
                        <a:t>’</a:t>
                      </a: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 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Symbol" pitchFamily="18" charset="2"/>
                        </a:rPr>
                        <a:t> FT</a:t>
                      </a:r>
                      <a:r>
                        <a:rPr kumimoji="0" lang="en-US" sz="24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Symbol" pitchFamily="18" charset="2"/>
                        </a:rPr>
                        <a:t>’</a:t>
                      </a: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4406" marR="84406" horzOverflow="overflow"/>
                </a:tc>
                <a:extLst>
                  <a:ext uri="{0D108BD9-81ED-4DB2-BD59-A6C34878D82A}">
                    <a16:rowId xmlns:a16="http://schemas.microsoft.com/office/drawing/2014/main" val="2220281226"/>
                  </a:ext>
                </a:extLst>
              </a:tr>
              <a:tr h="76252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Symbol" pitchFamily="18" charset="2"/>
                        </a:rPr>
                        <a:t>T</a:t>
                      </a:r>
                      <a:r>
                        <a:rPr kumimoji="0" lang="en-US" sz="24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Symbol" pitchFamily="18" charset="2"/>
                        </a:rPr>
                        <a:t>’</a:t>
                      </a: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Symbol" pitchFamily="18" charset="2"/>
                        </a:rPr>
                        <a:t>T</a:t>
                      </a:r>
                      <a:r>
                        <a:rPr kumimoji="0" lang="en-US" sz="24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Symbol" pitchFamily="18" charset="2"/>
                        </a:rPr>
                        <a:t>’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Symbol" pitchFamily="18" charset="2"/>
                        </a:rPr>
                        <a:t>  </a:t>
                      </a: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Symbol" pitchFamily="18" charset="2"/>
                        </a:rPr>
                        <a:t>T</a:t>
                      </a:r>
                      <a:r>
                        <a:rPr kumimoji="0" lang="en-US" sz="24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Symbol" pitchFamily="18" charset="2"/>
                        </a:rPr>
                        <a:t>’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Symbol" pitchFamily="18" charset="2"/>
                        </a:rPr>
                        <a:t>  *FT</a:t>
                      </a:r>
                      <a:r>
                        <a:rPr kumimoji="0" lang="en-US" sz="24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Symbol" pitchFamily="18" charset="2"/>
                        </a:rPr>
                        <a:t>’</a:t>
                      </a: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Symbol" pitchFamily="18" charset="2"/>
                        </a:rPr>
                        <a:t>T</a:t>
                      </a:r>
                      <a:r>
                        <a:rPr kumimoji="0" lang="en-US" sz="24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Symbol" pitchFamily="18" charset="2"/>
                        </a:rPr>
                        <a:t>’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Symbol" pitchFamily="18" charset="2"/>
                        </a:rPr>
                        <a:t>  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Symbol" pitchFamily="18" charset="2"/>
                        </a:rPr>
                        <a:t>T</a:t>
                      </a:r>
                      <a:r>
                        <a:rPr kumimoji="0" lang="en-US" sz="24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Symbol" pitchFamily="18" charset="2"/>
                        </a:rPr>
                        <a:t>’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Symbol" pitchFamily="18" charset="2"/>
                        </a:rPr>
                        <a:t>  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4406" marR="84406" horzOverflow="overflow"/>
                </a:tc>
                <a:extLst>
                  <a:ext uri="{0D108BD9-81ED-4DB2-BD59-A6C34878D82A}">
                    <a16:rowId xmlns:a16="http://schemas.microsoft.com/office/drawing/2014/main" val="805078827"/>
                  </a:ext>
                </a:extLst>
              </a:tr>
              <a:tr h="76252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</a:t>
                      </a: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 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Symbol" pitchFamily="18" charset="2"/>
                        </a:rPr>
                        <a:t> id</a:t>
                      </a: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 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Symbol" pitchFamily="18" charset="2"/>
                        </a:rPr>
                        <a:t> (E)</a:t>
                      </a: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4406" marR="84406" horzOverflow="overflow"/>
                </a:tc>
                <a:extLst>
                  <a:ext uri="{0D108BD9-81ED-4DB2-BD59-A6C34878D82A}">
                    <a16:rowId xmlns:a16="http://schemas.microsoft.com/office/drawing/2014/main" val="3786045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00255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F8EE0-A2E0-E615-E0C2-69CDFF2DC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Stack Implementation</a:t>
            </a:r>
            <a:endParaRPr lang="en-BD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602647-E806-D30B-B2DB-A19365E39BC6}"/>
              </a:ext>
            </a:extLst>
          </p:cNvPr>
          <p:cNvSpPr txBox="1"/>
          <p:nvPr/>
        </p:nvSpPr>
        <p:spPr>
          <a:xfrm>
            <a:off x="838200" y="1876722"/>
            <a:ext cx="496170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en-US" sz="2000" b="1" u="sng" dirty="0">
                <a:sym typeface="Symbol" pitchFamily="18" charset="2"/>
              </a:rPr>
              <a:t>stack</a:t>
            </a:r>
            <a:r>
              <a:rPr lang="en-US" sz="2000" dirty="0">
                <a:sym typeface="Symbol" pitchFamily="18" charset="2"/>
              </a:rPr>
              <a:t>		</a:t>
            </a:r>
            <a:r>
              <a:rPr lang="en-US" sz="2000" b="1" u="sng" dirty="0">
                <a:sym typeface="Symbol" pitchFamily="18" charset="2"/>
              </a:rPr>
              <a:t>input</a:t>
            </a:r>
            <a:r>
              <a:rPr lang="en-US" sz="2000" dirty="0">
                <a:sym typeface="Symbol" pitchFamily="18" charset="2"/>
              </a:rPr>
              <a:t>		</a:t>
            </a:r>
            <a:r>
              <a:rPr lang="en-US" sz="2000" b="1" u="sng" dirty="0">
                <a:sym typeface="Symbol" pitchFamily="18" charset="2"/>
              </a:rPr>
              <a:t>output</a:t>
            </a:r>
          </a:p>
          <a:p>
            <a:pPr>
              <a:buFontTx/>
              <a:buNone/>
            </a:pPr>
            <a:r>
              <a:rPr lang="en-US" sz="2000" dirty="0">
                <a:sym typeface="Symbol" pitchFamily="18" charset="2"/>
              </a:rPr>
              <a:t>$</a:t>
            </a:r>
            <a:r>
              <a:rPr lang="en-US" sz="2000" dirty="0">
                <a:solidFill>
                  <a:srgbClr val="FF0000"/>
                </a:solidFill>
                <a:sym typeface="Symbol" pitchFamily="18" charset="2"/>
              </a:rPr>
              <a:t>E</a:t>
            </a:r>
            <a:r>
              <a:rPr lang="en-US" sz="2000" dirty="0">
                <a:sym typeface="Symbol" pitchFamily="18" charset="2"/>
              </a:rPr>
              <a:t>		</a:t>
            </a:r>
            <a:r>
              <a:rPr lang="en-US" sz="2000" dirty="0" err="1">
                <a:solidFill>
                  <a:srgbClr val="FF0000"/>
                </a:solidFill>
                <a:sym typeface="Symbol" pitchFamily="18" charset="2"/>
              </a:rPr>
              <a:t>id</a:t>
            </a:r>
            <a:r>
              <a:rPr lang="en-US" sz="2000" dirty="0" err="1">
                <a:sym typeface="Symbol" pitchFamily="18" charset="2"/>
              </a:rPr>
              <a:t>+id</a:t>
            </a:r>
            <a:r>
              <a:rPr lang="en-US" sz="2000" dirty="0">
                <a:sym typeface="Symbol" pitchFamily="18" charset="2"/>
              </a:rPr>
              <a:t>$		</a:t>
            </a:r>
            <a:r>
              <a:rPr lang="en-US" sz="2000" dirty="0"/>
              <a:t>E </a:t>
            </a:r>
            <a:r>
              <a:rPr lang="en-US" sz="2000" dirty="0">
                <a:sym typeface="Symbol" pitchFamily="18" charset="2"/>
              </a:rPr>
              <a:t> TE</a:t>
            </a:r>
            <a:r>
              <a:rPr lang="en-US" sz="2000" baseline="30000" dirty="0">
                <a:sym typeface="Symbol" pitchFamily="18" charset="2"/>
              </a:rPr>
              <a:t>’</a:t>
            </a:r>
            <a:endParaRPr lang="en-US" sz="2000" dirty="0">
              <a:sym typeface="Symbol" pitchFamily="18" charset="2"/>
            </a:endParaRPr>
          </a:p>
          <a:p>
            <a:pPr>
              <a:buFontTx/>
              <a:buNone/>
            </a:pPr>
            <a:r>
              <a:rPr lang="en-US" sz="2000" dirty="0"/>
              <a:t>$E</a:t>
            </a:r>
            <a:r>
              <a:rPr lang="en-US" sz="2000" baseline="30000" dirty="0"/>
              <a:t>’</a:t>
            </a:r>
            <a:r>
              <a:rPr lang="en-US" sz="2000" dirty="0">
                <a:solidFill>
                  <a:srgbClr val="FF0000"/>
                </a:solidFill>
              </a:rPr>
              <a:t>T</a:t>
            </a:r>
            <a:r>
              <a:rPr lang="en-US" sz="2000" dirty="0"/>
              <a:t>		</a:t>
            </a:r>
            <a:r>
              <a:rPr lang="en-US" sz="2000" dirty="0" err="1">
                <a:solidFill>
                  <a:srgbClr val="FF0000"/>
                </a:solidFill>
              </a:rPr>
              <a:t>id</a:t>
            </a:r>
            <a:r>
              <a:rPr lang="en-US" sz="2000" dirty="0" err="1"/>
              <a:t>+id</a:t>
            </a:r>
            <a:r>
              <a:rPr lang="en-US" sz="2000" dirty="0"/>
              <a:t>$		T </a:t>
            </a:r>
            <a:r>
              <a:rPr lang="en-US" sz="2000" dirty="0">
                <a:sym typeface="Symbol" pitchFamily="18" charset="2"/>
              </a:rPr>
              <a:t> FT</a:t>
            </a:r>
            <a:r>
              <a:rPr lang="en-US" sz="2000" baseline="30000" dirty="0">
                <a:sym typeface="Symbol" pitchFamily="18" charset="2"/>
              </a:rPr>
              <a:t>’</a:t>
            </a:r>
          </a:p>
          <a:p>
            <a:pPr>
              <a:buFontTx/>
              <a:buNone/>
            </a:pPr>
            <a:r>
              <a:rPr lang="en-US" sz="2000" dirty="0">
                <a:sym typeface="Symbol" pitchFamily="18" charset="2"/>
              </a:rPr>
              <a:t>$</a:t>
            </a:r>
            <a:r>
              <a:rPr lang="en-US" sz="2000" dirty="0"/>
              <a:t>E</a:t>
            </a:r>
            <a:r>
              <a:rPr lang="en-US" sz="2000" baseline="30000" dirty="0"/>
              <a:t>’ </a:t>
            </a:r>
            <a:r>
              <a:rPr lang="en-US" sz="2000" dirty="0"/>
              <a:t>T</a:t>
            </a:r>
            <a:r>
              <a:rPr lang="en-US" sz="2000" baseline="30000" dirty="0">
                <a:solidFill>
                  <a:srgbClr val="FF0000"/>
                </a:solidFill>
              </a:rPr>
              <a:t>’</a:t>
            </a:r>
            <a:r>
              <a:rPr lang="en-US" sz="2000" dirty="0">
                <a:solidFill>
                  <a:srgbClr val="FF0000"/>
                </a:solidFill>
              </a:rPr>
              <a:t>F</a:t>
            </a:r>
            <a:r>
              <a:rPr lang="en-US" sz="2000" dirty="0"/>
              <a:t>		</a:t>
            </a:r>
            <a:r>
              <a:rPr lang="en-US" sz="2000" dirty="0" err="1">
                <a:solidFill>
                  <a:srgbClr val="FF0000"/>
                </a:solidFill>
              </a:rPr>
              <a:t>id</a:t>
            </a:r>
            <a:r>
              <a:rPr lang="en-US" sz="2000" dirty="0" err="1"/>
              <a:t>+id</a:t>
            </a:r>
            <a:r>
              <a:rPr lang="en-US" sz="2000" dirty="0"/>
              <a:t>$		F </a:t>
            </a:r>
            <a:r>
              <a:rPr lang="en-US" sz="2000" dirty="0">
                <a:sym typeface="Symbol" pitchFamily="18" charset="2"/>
              </a:rPr>
              <a:t> id</a:t>
            </a:r>
          </a:p>
          <a:p>
            <a:pPr>
              <a:buFontTx/>
              <a:buNone/>
            </a:pPr>
            <a:r>
              <a:rPr lang="en-US" sz="2000" dirty="0">
                <a:sym typeface="Symbol" pitchFamily="18" charset="2"/>
              </a:rPr>
              <a:t>$ </a:t>
            </a:r>
            <a:r>
              <a:rPr lang="en-US" sz="2000" dirty="0"/>
              <a:t>E</a:t>
            </a:r>
            <a:r>
              <a:rPr lang="en-US" sz="2000" baseline="30000" dirty="0"/>
              <a:t>’ </a:t>
            </a:r>
            <a:r>
              <a:rPr lang="en-US" sz="2000" dirty="0" err="1"/>
              <a:t>T</a:t>
            </a:r>
            <a:r>
              <a:rPr lang="en-US" sz="2000" baseline="30000" dirty="0" err="1"/>
              <a:t>’</a:t>
            </a:r>
            <a:r>
              <a:rPr lang="en-US" sz="2000" dirty="0" err="1">
                <a:solidFill>
                  <a:srgbClr val="FF0000"/>
                </a:solidFill>
              </a:rPr>
              <a:t>id</a:t>
            </a:r>
            <a:r>
              <a:rPr lang="en-US" sz="2000" dirty="0"/>
              <a:t>		</a:t>
            </a:r>
            <a:r>
              <a:rPr lang="en-US" sz="2000" dirty="0" err="1">
                <a:solidFill>
                  <a:srgbClr val="FF0000"/>
                </a:solidFill>
              </a:rPr>
              <a:t>id</a:t>
            </a:r>
            <a:r>
              <a:rPr lang="en-US" sz="2000" dirty="0" err="1"/>
              <a:t>+id</a:t>
            </a:r>
            <a:r>
              <a:rPr lang="en-US" sz="2000" dirty="0"/>
              <a:t>$		Pop</a:t>
            </a:r>
          </a:p>
          <a:p>
            <a:pPr>
              <a:buFontTx/>
              <a:buNone/>
            </a:pPr>
            <a:r>
              <a:rPr lang="en-US" sz="2000" dirty="0">
                <a:sym typeface="Symbol" pitchFamily="18" charset="2"/>
              </a:rPr>
              <a:t>$ </a:t>
            </a:r>
            <a:r>
              <a:rPr lang="en-US" sz="2000" dirty="0"/>
              <a:t>E</a:t>
            </a:r>
            <a:r>
              <a:rPr lang="en-US" sz="2000" baseline="30000" dirty="0"/>
              <a:t>’ </a:t>
            </a:r>
            <a:r>
              <a:rPr lang="en-US" sz="2000" dirty="0">
                <a:solidFill>
                  <a:srgbClr val="FF0000"/>
                </a:solidFill>
              </a:rPr>
              <a:t>T</a:t>
            </a:r>
            <a:r>
              <a:rPr lang="en-US" sz="2000" baseline="30000" dirty="0">
                <a:solidFill>
                  <a:srgbClr val="FF0000"/>
                </a:solidFill>
              </a:rPr>
              <a:t>’</a:t>
            </a:r>
            <a:r>
              <a:rPr lang="en-US" sz="2000" dirty="0"/>
              <a:t>		</a:t>
            </a:r>
            <a:r>
              <a:rPr lang="en-US" sz="2000" dirty="0">
                <a:solidFill>
                  <a:srgbClr val="FF0000"/>
                </a:solidFill>
              </a:rPr>
              <a:t>+</a:t>
            </a:r>
            <a:r>
              <a:rPr lang="en-US" sz="2000" dirty="0"/>
              <a:t>id$		</a:t>
            </a:r>
            <a:r>
              <a:rPr lang="en-US" sz="2000" dirty="0">
                <a:sym typeface="Symbol" pitchFamily="18" charset="2"/>
              </a:rPr>
              <a:t>T</a:t>
            </a:r>
            <a:r>
              <a:rPr lang="en-US" sz="2000" baseline="30000" dirty="0">
                <a:sym typeface="Symbol" pitchFamily="18" charset="2"/>
              </a:rPr>
              <a:t>’</a:t>
            </a:r>
            <a:r>
              <a:rPr lang="en-US" sz="2000" dirty="0">
                <a:sym typeface="Symbol" pitchFamily="18" charset="2"/>
              </a:rPr>
              <a:t>  </a:t>
            </a:r>
            <a:endParaRPr lang="en-US" sz="2000" dirty="0"/>
          </a:p>
          <a:p>
            <a:pPr>
              <a:buFontTx/>
              <a:buNone/>
            </a:pPr>
            <a:r>
              <a:rPr lang="en-US" sz="2000" dirty="0">
                <a:sym typeface="Symbol" pitchFamily="18" charset="2"/>
              </a:rPr>
              <a:t>$ </a:t>
            </a:r>
            <a:r>
              <a:rPr lang="en-US" sz="2000" dirty="0">
                <a:solidFill>
                  <a:srgbClr val="FF0000"/>
                </a:solidFill>
              </a:rPr>
              <a:t>E</a:t>
            </a:r>
            <a:r>
              <a:rPr lang="en-US" sz="2000" baseline="30000" dirty="0">
                <a:solidFill>
                  <a:srgbClr val="FF0000"/>
                </a:solidFill>
              </a:rPr>
              <a:t>’</a:t>
            </a:r>
            <a:r>
              <a:rPr lang="en-US" sz="2000" baseline="30000" dirty="0"/>
              <a:t> </a:t>
            </a:r>
            <a:r>
              <a:rPr lang="en-US" sz="2000" dirty="0"/>
              <a:t>		</a:t>
            </a:r>
            <a:r>
              <a:rPr lang="en-US" sz="2000" dirty="0">
                <a:solidFill>
                  <a:srgbClr val="FF0000"/>
                </a:solidFill>
              </a:rPr>
              <a:t>+</a:t>
            </a:r>
            <a:r>
              <a:rPr lang="en-US" sz="2000" dirty="0"/>
              <a:t>id$		</a:t>
            </a:r>
            <a:r>
              <a:rPr lang="en-US" sz="2000" dirty="0">
                <a:sym typeface="Symbol" pitchFamily="18" charset="2"/>
              </a:rPr>
              <a:t>E</a:t>
            </a:r>
            <a:r>
              <a:rPr lang="en-US" sz="2000" baseline="30000" dirty="0">
                <a:sym typeface="Symbol" pitchFamily="18" charset="2"/>
              </a:rPr>
              <a:t>’</a:t>
            </a:r>
            <a:r>
              <a:rPr lang="en-US" sz="2000" dirty="0">
                <a:sym typeface="Symbol" pitchFamily="18" charset="2"/>
              </a:rPr>
              <a:t>  +TE</a:t>
            </a:r>
            <a:r>
              <a:rPr lang="en-US" sz="2000" baseline="30000" dirty="0">
                <a:sym typeface="Symbol" pitchFamily="18" charset="2"/>
              </a:rPr>
              <a:t>’</a:t>
            </a:r>
          </a:p>
          <a:p>
            <a:pPr>
              <a:buFontTx/>
              <a:buNone/>
            </a:pPr>
            <a:r>
              <a:rPr lang="en-US" sz="2000" dirty="0">
                <a:sym typeface="Symbol" pitchFamily="18" charset="2"/>
              </a:rPr>
              <a:t>$ </a:t>
            </a:r>
            <a:r>
              <a:rPr lang="en-US" sz="2000" dirty="0"/>
              <a:t>E</a:t>
            </a:r>
            <a:r>
              <a:rPr lang="en-US" sz="2000" baseline="30000" dirty="0"/>
              <a:t>’ </a:t>
            </a:r>
            <a:r>
              <a:rPr lang="en-US" sz="2000" dirty="0"/>
              <a:t>T</a:t>
            </a:r>
            <a:r>
              <a:rPr lang="en-US" sz="2000" dirty="0">
                <a:solidFill>
                  <a:srgbClr val="FF0000"/>
                </a:solidFill>
              </a:rPr>
              <a:t>+</a:t>
            </a:r>
            <a:r>
              <a:rPr lang="en-US" sz="2000" dirty="0"/>
              <a:t>		</a:t>
            </a:r>
            <a:r>
              <a:rPr lang="en-US" sz="2000" dirty="0">
                <a:solidFill>
                  <a:srgbClr val="FF0000"/>
                </a:solidFill>
              </a:rPr>
              <a:t>+</a:t>
            </a:r>
            <a:r>
              <a:rPr lang="en-US" sz="2000" dirty="0"/>
              <a:t>id$		Pop</a:t>
            </a:r>
          </a:p>
          <a:p>
            <a:pPr>
              <a:buFontTx/>
              <a:buNone/>
            </a:pPr>
            <a:r>
              <a:rPr lang="en-US" sz="2000" dirty="0">
                <a:sym typeface="Symbol" pitchFamily="18" charset="2"/>
              </a:rPr>
              <a:t>$ </a:t>
            </a:r>
            <a:r>
              <a:rPr lang="en-US" sz="2000" dirty="0"/>
              <a:t>E</a:t>
            </a:r>
            <a:r>
              <a:rPr lang="en-US" sz="2000" baseline="30000" dirty="0"/>
              <a:t>’ </a:t>
            </a:r>
            <a:r>
              <a:rPr lang="en-US" sz="2000" dirty="0">
                <a:solidFill>
                  <a:srgbClr val="FF0000"/>
                </a:solidFill>
              </a:rPr>
              <a:t>T</a:t>
            </a:r>
            <a:r>
              <a:rPr lang="en-US" sz="2000" dirty="0"/>
              <a:t>		</a:t>
            </a:r>
            <a:r>
              <a:rPr lang="en-US" sz="2000" dirty="0">
                <a:solidFill>
                  <a:srgbClr val="FF0000"/>
                </a:solidFill>
              </a:rPr>
              <a:t>id</a:t>
            </a:r>
            <a:r>
              <a:rPr lang="en-US" sz="2000" dirty="0"/>
              <a:t>$		T </a:t>
            </a:r>
            <a:r>
              <a:rPr lang="en-US" sz="2000" dirty="0">
                <a:sym typeface="Symbol" pitchFamily="18" charset="2"/>
              </a:rPr>
              <a:t> FT</a:t>
            </a:r>
            <a:r>
              <a:rPr lang="en-US" sz="2000" baseline="30000" dirty="0">
                <a:sym typeface="Symbol" pitchFamily="18" charset="2"/>
              </a:rPr>
              <a:t>’</a:t>
            </a:r>
          </a:p>
          <a:p>
            <a:pPr>
              <a:buFontTx/>
              <a:buNone/>
            </a:pPr>
            <a:r>
              <a:rPr lang="en-US" sz="2000" dirty="0">
                <a:sym typeface="Symbol" pitchFamily="18" charset="2"/>
              </a:rPr>
              <a:t>$ </a:t>
            </a:r>
            <a:r>
              <a:rPr lang="en-US" sz="2000" dirty="0"/>
              <a:t>E</a:t>
            </a:r>
            <a:r>
              <a:rPr lang="en-US" sz="2000" baseline="30000" dirty="0"/>
              <a:t>’ </a:t>
            </a:r>
            <a:r>
              <a:rPr lang="en-US" sz="2000" dirty="0">
                <a:sym typeface="Symbol" pitchFamily="18" charset="2"/>
              </a:rPr>
              <a:t>T</a:t>
            </a:r>
            <a:r>
              <a:rPr lang="en-US" sz="2000" baseline="30000" dirty="0">
                <a:sym typeface="Symbol" pitchFamily="18" charset="2"/>
              </a:rPr>
              <a:t>’ </a:t>
            </a:r>
            <a:r>
              <a:rPr lang="en-US" sz="2000" dirty="0">
                <a:solidFill>
                  <a:srgbClr val="FF0000"/>
                </a:solidFill>
                <a:sym typeface="Symbol" pitchFamily="18" charset="2"/>
              </a:rPr>
              <a:t>F</a:t>
            </a:r>
            <a:r>
              <a:rPr lang="en-US" sz="2000" dirty="0">
                <a:sym typeface="Symbol" pitchFamily="18" charset="2"/>
              </a:rPr>
              <a:t>		</a:t>
            </a:r>
            <a:r>
              <a:rPr lang="en-US" sz="2000" dirty="0">
                <a:solidFill>
                  <a:srgbClr val="FF0000"/>
                </a:solidFill>
              </a:rPr>
              <a:t>id</a:t>
            </a:r>
            <a:r>
              <a:rPr lang="en-US" sz="2000" dirty="0"/>
              <a:t>$		F </a:t>
            </a:r>
            <a:r>
              <a:rPr lang="en-US" sz="2000" dirty="0">
                <a:sym typeface="Symbol" pitchFamily="18" charset="2"/>
              </a:rPr>
              <a:t> id</a:t>
            </a:r>
          </a:p>
          <a:p>
            <a:pPr>
              <a:buFontTx/>
              <a:buNone/>
            </a:pPr>
            <a:r>
              <a:rPr lang="en-US" sz="2000" dirty="0">
                <a:sym typeface="Symbol" pitchFamily="18" charset="2"/>
              </a:rPr>
              <a:t>$ </a:t>
            </a:r>
            <a:r>
              <a:rPr lang="en-US" sz="2000" dirty="0"/>
              <a:t>E</a:t>
            </a:r>
            <a:r>
              <a:rPr lang="en-US" sz="2000" baseline="30000" dirty="0"/>
              <a:t>’ </a:t>
            </a:r>
            <a:r>
              <a:rPr lang="en-US" sz="2000" dirty="0" err="1">
                <a:sym typeface="Symbol" pitchFamily="18" charset="2"/>
              </a:rPr>
              <a:t>T</a:t>
            </a:r>
            <a:r>
              <a:rPr lang="en-US" sz="2000" baseline="30000" dirty="0" err="1">
                <a:sym typeface="Symbol" pitchFamily="18" charset="2"/>
              </a:rPr>
              <a:t>’</a:t>
            </a:r>
            <a:r>
              <a:rPr lang="en-US" sz="2000" dirty="0" err="1">
                <a:solidFill>
                  <a:srgbClr val="FF0000"/>
                </a:solidFill>
                <a:sym typeface="Symbol" pitchFamily="18" charset="2"/>
              </a:rPr>
              <a:t>id</a:t>
            </a:r>
            <a:r>
              <a:rPr lang="en-US" sz="2000" dirty="0">
                <a:sym typeface="Symbol" pitchFamily="18" charset="2"/>
              </a:rPr>
              <a:t>		</a:t>
            </a:r>
            <a:r>
              <a:rPr lang="en-US" sz="2000" dirty="0">
                <a:solidFill>
                  <a:srgbClr val="FF0000"/>
                </a:solidFill>
              </a:rPr>
              <a:t>id</a:t>
            </a:r>
            <a:r>
              <a:rPr lang="en-US" sz="2000" dirty="0"/>
              <a:t>$		Pop</a:t>
            </a:r>
          </a:p>
          <a:p>
            <a:pPr>
              <a:buFontTx/>
              <a:buNone/>
            </a:pPr>
            <a:r>
              <a:rPr lang="en-US" sz="2000" dirty="0">
                <a:sym typeface="Symbol" pitchFamily="18" charset="2"/>
              </a:rPr>
              <a:t>$ </a:t>
            </a:r>
            <a:r>
              <a:rPr lang="en-US" sz="2000" dirty="0"/>
              <a:t>E</a:t>
            </a:r>
            <a:r>
              <a:rPr lang="en-US" sz="2000" baseline="30000" dirty="0"/>
              <a:t>’ </a:t>
            </a:r>
            <a:r>
              <a:rPr lang="en-US" sz="2000" dirty="0">
                <a:solidFill>
                  <a:srgbClr val="FF0000"/>
                </a:solidFill>
                <a:sym typeface="Symbol" pitchFamily="18" charset="2"/>
              </a:rPr>
              <a:t>T</a:t>
            </a:r>
            <a:r>
              <a:rPr lang="en-US" sz="2000" baseline="30000" dirty="0">
                <a:solidFill>
                  <a:srgbClr val="FF0000"/>
                </a:solidFill>
                <a:sym typeface="Symbol" pitchFamily="18" charset="2"/>
              </a:rPr>
              <a:t>’</a:t>
            </a:r>
            <a:r>
              <a:rPr lang="en-US" sz="2000" dirty="0">
                <a:sym typeface="Symbol" pitchFamily="18" charset="2"/>
              </a:rPr>
              <a:t>		</a:t>
            </a:r>
            <a:r>
              <a:rPr lang="en-US" sz="2000" dirty="0">
                <a:solidFill>
                  <a:srgbClr val="FF0000"/>
                </a:solidFill>
                <a:sym typeface="Symbol" pitchFamily="18" charset="2"/>
              </a:rPr>
              <a:t>$</a:t>
            </a:r>
            <a:r>
              <a:rPr lang="en-US" sz="2000" dirty="0">
                <a:sym typeface="Symbol" pitchFamily="18" charset="2"/>
              </a:rPr>
              <a:t>		T</a:t>
            </a:r>
            <a:r>
              <a:rPr lang="en-US" sz="2000" baseline="30000" dirty="0">
                <a:sym typeface="Symbol" pitchFamily="18" charset="2"/>
              </a:rPr>
              <a:t>’</a:t>
            </a:r>
            <a:r>
              <a:rPr lang="en-US" sz="2000" dirty="0">
                <a:sym typeface="Symbol" pitchFamily="18" charset="2"/>
              </a:rPr>
              <a:t>  </a:t>
            </a:r>
          </a:p>
          <a:p>
            <a:pPr>
              <a:buFontTx/>
              <a:buNone/>
            </a:pPr>
            <a:r>
              <a:rPr lang="en-US" sz="2000" dirty="0">
                <a:sym typeface="Symbol" pitchFamily="18" charset="2"/>
              </a:rPr>
              <a:t>$ </a:t>
            </a:r>
            <a:r>
              <a:rPr lang="en-US" sz="2000" dirty="0">
                <a:solidFill>
                  <a:srgbClr val="FF0000"/>
                </a:solidFill>
              </a:rPr>
              <a:t>E</a:t>
            </a:r>
            <a:r>
              <a:rPr lang="en-US" sz="2000" baseline="30000" dirty="0">
                <a:solidFill>
                  <a:srgbClr val="FF0000"/>
                </a:solidFill>
              </a:rPr>
              <a:t>’</a:t>
            </a:r>
            <a:r>
              <a:rPr lang="en-US" sz="2000" baseline="30000" dirty="0"/>
              <a:t>		</a:t>
            </a:r>
            <a:r>
              <a:rPr lang="en-US" sz="2000" dirty="0">
                <a:solidFill>
                  <a:srgbClr val="FF0000"/>
                </a:solidFill>
              </a:rPr>
              <a:t>$</a:t>
            </a:r>
            <a:r>
              <a:rPr lang="en-US" sz="2000" dirty="0"/>
              <a:t>		</a:t>
            </a:r>
            <a:r>
              <a:rPr lang="en-US" sz="2000" dirty="0">
                <a:sym typeface="Symbol" pitchFamily="18" charset="2"/>
              </a:rPr>
              <a:t>E</a:t>
            </a:r>
            <a:r>
              <a:rPr lang="en-US" sz="2000" baseline="30000" dirty="0">
                <a:sym typeface="Symbol" pitchFamily="18" charset="2"/>
              </a:rPr>
              <a:t>’</a:t>
            </a:r>
            <a:r>
              <a:rPr lang="en-US" sz="2000" dirty="0">
                <a:sym typeface="Symbol" pitchFamily="18" charset="2"/>
              </a:rPr>
              <a:t>  </a:t>
            </a:r>
            <a:endParaRPr lang="en-US" sz="2000" baseline="30000" dirty="0">
              <a:sym typeface="Symbol" pitchFamily="18" charset="2"/>
            </a:endParaRPr>
          </a:p>
          <a:p>
            <a:pPr>
              <a:buFontTx/>
              <a:buNone/>
            </a:pPr>
            <a:r>
              <a:rPr lang="en-US" sz="2000" dirty="0">
                <a:solidFill>
                  <a:srgbClr val="FF0000"/>
                </a:solidFill>
                <a:sym typeface="Symbol" pitchFamily="18" charset="2"/>
              </a:rPr>
              <a:t>$</a:t>
            </a:r>
            <a:r>
              <a:rPr lang="en-US" sz="2000" dirty="0">
                <a:sym typeface="Symbol" pitchFamily="18" charset="2"/>
              </a:rPr>
              <a:t>		</a:t>
            </a:r>
            <a:r>
              <a:rPr lang="en-US" sz="2000" dirty="0">
                <a:solidFill>
                  <a:srgbClr val="FF0000"/>
                </a:solidFill>
                <a:sym typeface="Symbol" pitchFamily="18" charset="2"/>
              </a:rPr>
              <a:t>$</a:t>
            </a:r>
            <a:r>
              <a:rPr lang="en-US" sz="2000" dirty="0">
                <a:sym typeface="Symbol" pitchFamily="18" charset="2"/>
              </a:rPr>
              <a:t>		accept</a:t>
            </a:r>
          </a:p>
        </p:txBody>
      </p:sp>
      <p:pic>
        <p:nvPicPr>
          <p:cNvPr id="13" name="Picture 12" descr="A screenshot of a table&#10;&#10;Description automatically generated">
            <a:extLst>
              <a:ext uri="{FF2B5EF4-FFF2-40B4-BE49-F238E27FC236}">
                <a16:creationId xmlns:a16="http://schemas.microsoft.com/office/drawing/2014/main" id="{C7DB2FC8-8264-9221-C53A-E280C2B3D1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4080" y="1995884"/>
            <a:ext cx="5625737" cy="416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3293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E9726-3626-40D6-725C-91F1017E3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Creating Parse Tree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D91124-B609-DC78-305F-2D7668295DAB}"/>
              </a:ext>
            </a:extLst>
          </p:cNvPr>
          <p:cNvSpPr txBox="1"/>
          <p:nvPr/>
        </p:nvSpPr>
        <p:spPr>
          <a:xfrm>
            <a:off x="838200" y="1876722"/>
            <a:ext cx="496170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en-US" sz="2000" b="1" u="sng" dirty="0">
                <a:sym typeface="Symbol" pitchFamily="18" charset="2"/>
              </a:rPr>
              <a:t>stack</a:t>
            </a:r>
            <a:r>
              <a:rPr lang="en-US" sz="2000" dirty="0">
                <a:sym typeface="Symbol" pitchFamily="18" charset="2"/>
              </a:rPr>
              <a:t>		</a:t>
            </a:r>
            <a:r>
              <a:rPr lang="en-US" sz="2000" b="1" u="sng" dirty="0">
                <a:sym typeface="Symbol" pitchFamily="18" charset="2"/>
              </a:rPr>
              <a:t>input</a:t>
            </a:r>
            <a:r>
              <a:rPr lang="en-US" sz="2000" dirty="0">
                <a:sym typeface="Symbol" pitchFamily="18" charset="2"/>
              </a:rPr>
              <a:t>		</a:t>
            </a:r>
            <a:r>
              <a:rPr lang="en-US" sz="2000" b="1" u="sng" dirty="0">
                <a:sym typeface="Symbol" pitchFamily="18" charset="2"/>
              </a:rPr>
              <a:t>output</a:t>
            </a:r>
          </a:p>
          <a:p>
            <a:pPr>
              <a:buFontTx/>
              <a:buNone/>
            </a:pPr>
            <a:r>
              <a:rPr lang="en-US" sz="2000" dirty="0">
                <a:sym typeface="Symbol" pitchFamily="18" charset="2"/>
              </a:rPr>
              <a:t>$</a:t>
            </a:r>
            <a:r>
              <a:rPr lang="en-US" sz="2000" dirty="0">
                <a:solidFill>
                  <a:srgbClr val="FF0000"/>
                </a:solidFill>
                <a:sym typeface="Symbol" pitchFamily="18" charset="2"/>
              </a:rPr>
              <a:t>E</a:t>
            </a:r>
            <a:r>
              <a:rPr lang="en-US" sz="2000" dirty="0">
                <a:sym typeface="Symbol" pitchFamily="18" charset="2"/>
              </a:rPr>
              <a:t>		</a:t>
            </a:r>
            <a:r>
              <a:rPr lang="en-US" sz="2000" dirty="0" err="1">
                <a:solidFill>
                  <a:srgbClr val="FF0000"/>
                </a:solidFill>
                <a:sym typeface="Symbol" pitchFamily="18" charset="2"/>
              </a:rPr>
              <a:t>id</a:t>
            </a:r>
            <a:r>
              <a:rPr lang="en-US" sz="2000" dirty="0" err="1">
                <a:sym typeface="Symbol" pitchFamily="18" charset="2"/>
              </a:rPr>
              <a:t>+id</a:t>
            </a:r>
            <a:r>
              <a:rPr lang="en-US" sz="2000" dirty="0">
                <a:sym typeface="Symbol" pitchFamily="18" charset="2"/>
              </a:rPr>
              <a:t>$		</a:t>
            </a:r>
            <a:r>
              <a:rPr lang="en-US" sz="2000" dirty="0"/>
              <a:t>E </a:t>
            </a:r>
            <a:r>
              <a:rPr lang="en-US" sz="2000" dirty="0">
                <a:sym typeface="Symbol" pitchFamily="18" charset="2"/>
              </a:rPr>
              <a:t> TE</a:t>
            </a:r>
            <a:r>
              <a:rPr lang="en-US" sz="2000" baseline="30000" dirty="0">
                <a:sym typeface="Symbol" pitchFamily="18" charset="2"/>
              </a:rPr>
              <a:t>’</a:t>
            </a:r>
            <a:endParaRPr lang="en-US" sz="2000" dirty="0">
              <a:sym typeface="Symbol" pitchFamily="18" charset="2"/>
            </a:endParaRPr>
          </a:p>
          <a:p>
            <a:pPr>
              <a:buFontTx/>
              <a:buNone/>
            </a:pPr>
            <a:r>
              <a:rPr lang="en-US" sz="2000" dirty="0"/>
              <a:t>$E</a:t>
            </a:r>
            <a:r>
              <a:rPr lang="en-US" sz="2000" baseline="30000" dirty="0"/>
              <a:t>’</a:t>
            </a:r>
            <a:r>
              <a:rPr lang="en-US" sz="2000" dirty="0">
                <a:solidFill>
                  <a:srgbClr val="FF0000"/>
                </a:solidFill>
              </a:rPr>
              <a:t>T</a:t>
            </a:r>
            <a:r>
              <a:rPr lang="en-US" sz="2000" dirty="0"/>
              <a:t>		</a:t>
            </a:r>
            <a:r>
              <a:rPr lang="en-US" sz="2000" dirty="0" err="1">
                <a:solidFill>
                  <a:srgbClr val="FF0000"/>
                </a:solidFill>
              </a:rPr>
              <a:t>id</a:t>
            </a:r>
            <a:r>
              <a:rPr lang="en-US" sz="2000" dirty="0" err="1"/>
              <a:t>+id</a:t>
            </a:r>
            <a:r>
              <a:rPr lang="en-US" sz="2000" dirty="0"/>
              <a:t>$		T </a:t>
            </a:r>
            <a:r>
              <a:rPr lang="en-US" sz="2000" dirty="0">
                <a:sym typeface="Symbol" pitchFamily="18" charset="2"/>
              </a:rPr>
              <a:t> FT</a:t>
            </a:r>
            <a:r>
              <a:rPr lang="en-US" sz="2000" baseline="30000" dirty="0">
                <a:sym typeface="Symbol" pitchFamily="18" charset="2"/>
              </a:rPr>
              <a:t>’</a:t>
            </a:r>
          </a:p>
          <a:p>
            <a:pPr>
              <a:buFontTx/>
              <a:buNone/>
            </a:pPr>
            <a:r>
              <a:rPr lang="en-US" sz="2000" dirty="0">
                <a:sym typeface="Symbol" pitchFamily="18" charset="2"/>
              </a:rPr>
              <a:t>$</a:t>
            </a:r>
            <a:r>
              <a:rPr lang="en-US" sz="2000" dirty="0"/>
              <a:t>E</a:t>
            </a:r>
            <a:r>
              <a:rPr lang="en-US" sz="2000" baseline="30000" dirty="0"/>
              <a:t>’ </a:t>
            </a:r>
            <a:r>
              <a:rPr lang="en-US" sz="2000" dirty="0"/>
              <a:t>T</a:t>
            </a:r>
            <a:r>
              <a:rPr lang="en-US" sz="2000" baseline="30000" dirty="0">
                <a:solidFill>
                  <a:srgbClr val="FF0000"/>
                </a:solidFill>
              </a:rPr>
              <a:t>’</a:t>
            </a:r>
            <a:r>
              <a:rPr lang="en-US" sz="2000" dirty="0">
                <a:solidFill>
                  <a:srgbClr val="FF0000"/>
                </a:solidFill>
              </a:rPr>
              <a:t>F</a:t>
            </a:r>
            <a:r>
              <a:rPr lang="en-US" sz="2000" dirty="0"/>
              <a:t>		</a:t>
            </a:r>
            <a:r>
              <a:rPr lang="en-US" sz="2000" dirty="0" err="1">
                <a:solidFill>
                  <a:srgbClr val="FF0000"/>
                </a:solidFill>
              </a:rPr>
              <a:t>id</a:t>
            </a:r>
            <a:r>
              <a:rPr lang="en-US" sz="2000" dirty="0" err="1"/>
              <a:t>+id</a:t>
            </a:r>
            <a:r>
              <a:rPr lang="en-US" sz="2000" dirty="0"/>
              <a:t>$		F </a:t>
            </a:r>
            <a:r>
              <a:rPr lang="en-US" sz="2000" dirty="0">
                <a:sym typeface="Symbol" pitchFamily="18" charset="2"/>
              </a:rPr>
              <a:t> id</a:t>
            </a:r>
          </a:p>
          <a:p>
            <a:pPr>
              <a:buFontTx/>
              <a:buNone/>
            </a:pPr>
            <a:r>
              <a:rPr lang="en-US" sz="2000" dirty="0">
                <a:sym typeface="Symbol" pitchFamily="18" charset="2"/>
              </a:rPr>
              <a:t>$ </a:t>
            </a:r>
            <a:r>
              <a:rPr lang="en-US" sz="2000" dirty="0"/>
              <a:t>E</a:t>
            </a:r>
            <a:r>
              <a:rPr lang="en-US" sz="2000" baseline="30000" dirty="0"/>
              <a:t>’ </a:t>
            </a:r>
            <a:r>
              <a:rPr lang="en-US" sz="2000" dirty="0" err="1"/>
              <a:t>T</a:t>
            </a:r>
            <a:r>
              <a:rPr lang="en-US" sz="2000" baseline="30000" dirty="0" err="1"/>
              <a:t>’</a:t>
            </a:r>
            <a:r>
              <a:rPr lang="en-US" sz="2000" dirty="0" err="1">
                <a:solidFill>
                  <a:srgbClr val="FF0000"/>
                </a:solidFill>
              </a:rPr>
              <a:t>id</a:t>
            </a:r>
            <a:r>
              <a:rPr lang="en-US" sz="2000" dirty="0"/>
              <a:t>		</a:t>
            </a:r>
            <a:r>
              <a:rPr lang="en-US" sz="2000" dirty="0" err="1">
                <a:solidFill>
                  <a:srgbClr val="FF0000"/>
                </a:solidFill>
              </a:rPr>
              <a:t>id</a:t>
            </a:r>
            <a:r>
              <a:rPr lang="en-US" sz="2000" dirty="0" err="1"/>
              <a:t>+id</a:t>
            </a:r>
            <a:r>
              <a:rPr lang="en-US" sz="2000" dirty="0"/>
              <a:t>$		Pop</a:t>
            </a:r>
          </a:p>
          <a:p>
            <a:pPr>
              <a:buFontTx/>
              <a:buNone/>
            </a:pPr>
            <a:r>
              <a:rPr lang="en-US" sz="2000" dirty="0">
                <a:sym typeface="Symbol" pitchFamily="18" charset="2"/>
              </a:rPr>
              <a:t>$ </a:t>
            </a:r>
            <a:r>
              <a:rPr lang="en-US" sz="2000" dirty="0"/>
              <a:t>E</a:t>
            </a:r>
            <a:r>
              <a:rPr lang="en-US" sz="2000" baseline="30000" dirty="0"/>
              <a:t>’ </a:t>
            </a:r>
            <a:r>
              <a:rPr lang="en-US" sz="2000" dirty="0">
                <a:solidFill>
                  <a:srgbClr val="FF0000"/>
                </a:solidFill>
              </a:rPr>
              <a:t>T</a:t>
            </a:r>
            <a:r>
              <a:rPr lang="en-US" sz="2000" baseline="30000" dirty="0">
                <a:solidFill>
                  <a:srgbClr val="FF0000"/>
                </a:solidFill>
              </a:rPr>
              <a:t>’</a:t>
            </a:r>
            <a:r>
              <a:rPr lang="en-US" sz="2000" dirty="0"/>
              <a:t>		</a:t>
            </a:r>
            <a:r>
              <a:rPr lang="en-US" sz="2000" dirty="0">
                <a:solidFill>
                  <a:srgbClr val="FF0000"/>
                </a:solidFill>
              </a:rPr>
              <a:t>+</a:t>
            </a:r>
            <a:r>
              <a:rPr lang="en-US" sz="2000" dirty="0"/>
              <a:t>id$		</a:t>
            </a:r>
            <a:r>
              <a:rPr lang="en-US" sz="2000" dirty="0">
                <a:sym typeface="Symbol" pitchFamily="18" charset="2"/>
              </a:rPr>
              <a:t>T</a:t>
            </a:r>
            <a:r>
              <a:rPr lang="en-US" sz="2000" baseline="30000" dirty="0">
                <a:sym typeface="Symbol" pitchFamily="18" charset="2"/>
              </a:rPr>
              <a:t>’</a:t>
            </a:r>
            <a:r>
              <a:rPr lang="en-US" sz="2000" dirty="0">
                <a:sym typeface="Symbol" pitchFamily="18" charset="2"/>
              </a:rPr>
              <a:t>  </a:t>
            </a:r>
            <a:endParaRPr lang="en-US" sz="2000" dirty="0"/>
          </a:p>
          <a:p>
            <a:pPr>
              <a:buFontTx/>
              <a:buNone/>
            </a:pPr>
            <a:r>
              <a:rPr lang="en-US" sz="2000" dirty="0">
                <a:sym typeface="Symbol" pitchFamily="18" charset="2"/>
              </a:rPr>
              <a:t>$ </a:t>
            </a:r>
            <a:r>
              <a:rPr lang="en-US" sz="2000" dirty="0">
                <a:solidFill>
                  <a:srgbClr val="FF0000"/>
                </a:solidFill>
              </a:rPr>
              <a:t>E</a:t>
            </a:r>
            <a:r>
              <a:rPr lang="en-US" sz="2000" baseline="30000" dirty="0">
                <a:solidFill>
                  <a:srgbClr val="FF0000"/>
                </a:solidFill>
              </a:rPr>
              <a:t>’</a:t>
            </a:r>
            <a:r>
              <a:rPr lang="en-US" sz="2000" baseline="30000" dirty="0"/>
              <a:t> </a:t>
            </a:r>
            <a:r>
              <a:rPr lang="en-US" sz="2000" dirty="0"/>
              <a:t>		</a:t>
            </a:r>
            <a:r>
              <a:rPr lang="en-US" sz="2000" dirty="0">
                <a:solidFill>
                  <a:srgbClr val="FF0000"/>
                </a:solidFill>
              </a:rPr>
              <a:t>+</a:t>
            </a:r>
            <a:r>
              <a:rPr lang="en-US" sz="2000" dirty="0"/>
              <a:t>id$		</a:t>
            </a:r>
            <a:r>
              <a:rPr lang="en-US" sz="2000" dirty="0">
                <a:sym typeface="Symbol" pitchFamily="18" charset="2"/>
              </a:rPr>
              <a:t>E</a:t>
            </a:r>
            <a:r>
              <a:rPr lang="en-US" sz="2000" baseline="30000" dirty="0">
                <a:sym typeface="Symbol" pitchFamily="18" charset="2"/>
              </a:rPr>
              <a:t>’</a:t>
            </a:r>
            <a:r>
              <a:rPr lang="en-US" sz="2000" dirty="0">
                <a:sym typeface="Symbol" pitchFamily="18" charset="2"/>
              </a:rPr>
              <a:t>  +TE</a:t>
            </a:r>
            <a:r>
              <a:rPr lang="en-US" sz="2000" baseline="30000" dirty="0">
                <a:sym typeface="Symbol" pitchFamily="18" charset="2"/>
              </a:rPr>
              <a:t>’</a:t>
            </a:r>
          </a:p>
          <a:p>
            <a:pPr>
              <a:buFontTx/>
              <a:buNone/>
            </a:pPr>
            <a:r>
              <a:rPr lang="en-US" sz="2000" dirty="0">
                <a:sym typeface="Symbol" pitchFamily="18" charset="2"/>
              </a:rPr>
              <a:t>$ </a:t>
            </a:r>
            <a:r>
              <a:rPr lang="en-US" sz="2000" dirty="0"/>
              <a:t>E</a:t>
            </a:r>
            <a:r>
              <a:rPr lang="en-US" sz="2000" baseline="30000" dirty="0"/>
              <a:t>’ </a:t>
            </a:r>
            <a:r>
              <a:rPr lang="en-US" sz="2000" dirty="0"/>
              <a:t>T</a:t>
            </a:r>
            <a:r>
              <a:rPr lang="en-US" sz="2000" dirty="0">
                <a:solidFill>
                  <a:srgbClr val="FF0000"/>
                </a:solidFill>
              </a:rPr>
              <a:t>+</a:t>
            </a:r>
            <a:r>
              <a:rPr lang="en-US" sz="2000" dirty="0"/>
              <a:t>		</a:t>
            </a:r>
            <a:r>
              <a:rPr lang="en-US" sz="2000" dirty="0">
                <a:solidFill>
                  <a:srgbClr val="FF0000"/>
                </a:solidFill>
              </a:rPr>
              <a:t>+</a:t>
            </a:r>
            <a:r>
              <a:rPr lang="en-US" sz="2000" dirty="0"/>
              <a:t>id$		Pop</a:t>
            </a:r>
          </a:p>
          <a:p>
            <a:pPr>
              <a:buFontTx/>
              <a:buNone/>
            </a:pPr>
            <a:r>
              <a:rPr lang="en-US" sz="2000" dirty="0">
                <a:sym typeface="Symbol" pitchFamily="18" charset="2"/>
              </a:rPr>
              <a:t>$ </a:t>
            </a:r>
            <a:r>
              <a:rPr lang="en-US" sz="2000" dirty="0"/>
              <a:t>E</a:t>
            </a:r>
            <a:r>
              <a:rPr lang="en-US" sz="2000" baseline="30000" dirty="0"/>
              <a:t>’ </a:t>
            </a:r>
            <a:r>
              <a:rPr lang="en-US" sz="2000" dirty="0">
                <a:solidFill>
                  <a:srgbClr val="FF0000"/>
                </a:solidFill>
              </a:rPr>
              <a:t>T</a:t>
            </a:r>
            <a:r>
              <a:rPr lang="en-US" sz="2000" dirty="0"/>
              <a:t>		</a:t>
            </a:r>
            <a:r>
              <a:rPr lang="en-US" sz="2000" dirty="0">
                <a:solidFill>
                  <a:srgbClr val="FF0000"/>
                </a:solidFill>
              </a:rPr>
              <a:t>id</a:t>
            </a:r>
            <a:r>
              <a:rPr lang="en-US" sz="2000" dirty="0"/>
              <a:t>$		T </a:t>
            </a:r>
            <a:r>
              <a:rPr lang="en-US" sz="2000" dirty="0">
                <a:sym typeface="Symbol" pitchFamily="18" charset="2"/>
              </a:rPr>
              <a:t> FT</a:t>
            </a:r>
            <a:r>
              <a:rPr lang="en-US" sz="2000" baseline="30000" dirty="0">
                <a:sym typeface="Symbol" pitchFamily="18" charset="2"/>
              </a:rPr>
              <a:t>’</a:t>
            </a:r>
          </a:p>
          <a:p>
            <a:pPr>
              <a:buFontTx/>
              <a:buNone/>
            </a:pPr>
            <a:r>
              <a:rPr lang="en-US" sz="2000" dirty="0">
                <a:sym typeface="Symbol" pitchFamily="18" charset="2"/>
              </a:rPr>
              <a:t>$ </a:t>
            </a:r>
            <a:r>
              <a:rPr lang="en-US" sz="2000" dirty="0"/>
              <a:t>E</a:t>
            </a:r>
            <a:r>
              <a:rPr lang="en-US" sz="2000" baseline="30000" dirty="0"/>
              <a:t>’ </a:t>
            </a:r>
            <a:r>
              <a:rPr lang="en-US" sz="2000" dirty="0">
                <a:sym typeface="Symbol" pitchFamily="18" charset="2"/>
              </a:rPr>
              <a:t>T</a:t>
            </a:r>
            <a:r>
              <a:rPr lang="en-US" sz="2000" baseline="30000" dirty="0">
                <a:sym typeface="Symbol" pitchFamily="18" charset="2"/>
              </a:rPr>
              <a:t>’ </a:t>
            </a:r>
            <a:r>
              <a:rPr lang="en-US" sz="2000" dirty="0">
                <a:solidFill>
                  <a:srgbClr val="FF0000"/>
                </a:solidFill>
                <a:sym typeface="Symbol" pitchFamily="18" charset="2"/>
              </a:rPr>
              <a:t>F</a:t>
            </a:r>
            <a:r>
              <a:rPr lang="en-US" sz="2000" dirty="0">
                <a:sym typeface="Symbol" pitchFamily="18" charset="2"/>
              </a:rPr>
              <a:t>		</a:t>
            </a:r>
            <a:r>
              <a:rPr lang="en-US" sz="2000" dirty="0">
                <a:solidFill>
                  <a:srgbClr val="FF0000"/>
                </a:solidFill>
              </a:rPr>
              <a:t>id</a:t>
            </a:r>
            <a:r>
              <a:rPr lang="en-US" sz="2000" dirty="0"/>
              <a:t>$		F </a:t>
            </a:r>
            <a:r>
              <a:rPr lang="en-US" sz="2000" dirty="0">
                <a:sym typeface="Symbol" pitchFamily="18" charset="2"/>
              </a:rPr>
              <a:t> id</a:t>
            </a:r>
          </a:p>
          <a:p>
            <a:pPr>
              <a:buFontTx/>
              <a:buNone/>
            </a:pPr>
            <a:r>
              <a:rPr lang="en-US" sz="2000" dirty="0">
                <a:sym typeface="Symbol" pitchFamily="18" charset="2"/>
              </a:rPr>
              <a:t>$ </a:t>
            </a:r>
            <a:r>
              <a:rPr lang="en-US" sz="2000" dirty="0"/>
              <a:t>E</a:t>
            </a:r>
            <a:r>
              <a:rPr lang="en-US" sz="2000" baseline="30000" dirty="0"/>
              <a:t>’ </a:t>
            </a:r>
            <a:r>
              <a:rPr lang="en-US" sz="2000" dirty="0" err="1">
                <a:sym typeface="Symbol" pitchFamily="18" charset="2"/>
              </a:rPr>
              <a:t>T</a:t>
            </a:r>
            <a:r>
              <a:rPr lang="en-US" sz="2000" baseline="30000" dirty="0" err="1">
                <a:sym typeface="Symbol" pitchFamily="18" charset="2"/>
              </a:rPr>
              <a:t>’</a:t>
            </a:r>
            <a:r>
              <a:rPr lang="en-US" sz="2000" dirty="0" err="1">
                <a:solidFill>
                  <a:srgbClr val="FF0000"/>
                </a:solidFill>
                <a:sym typeface="Symbol" pitchFamily="18" charset="2"/>
              </a:rPr>
              <a:t>id</a:t>
            </a:r>
            <a:r>
              <a:rPr lang="en-US" sz="2000" dirty="0">
                <a:sym typeface="Symbol" pitchFamily="18" charset="2"/>
              </a:rPr>
              <a:t>		</a:t>
            </a:r>
            <a:r>
              <a:rPr lang="en-US" sz="2000" dirty="0">
                <a:solidFill>
                  <a:srgbClr val="FF0000"/>
                </a:solidFill>
              </a:rPr>
              <a:t>id</a:t>
            </a:r>
            <a:r>
              <a:rPr lang="en-US" sz="2000" dirty="0"/>
              <a:t>$		Pop</a:t>
            </a:r>
          </a:p>
          <a:p>
            <a:pPr>
              <a:buFontTx/>
              <a:buNone/>
            </a:pPr>
            <a:r>
              <a:rPr lang="en-US" sz="2000" dirty="0">
                <a:sym typeface="Symbol" pitchFamily="18" charset="2"/>
              </a:rPr>
              <a:t>$ </a:t>
            </a:r>
            <a:r>
              <a:rPr lang="en-US" sz="2000" dirty="0"/>
              <a:t>E</a:t>
            </a:r>
            <a:r>
              <a:rPr lang="en-US" sz="2000" baseline="30000" dirty="0"/>
              <a:t>’ </a:t>
            </a:r>
            <a:r>
              <a:rPr lang="en-US" sz="2000" dirty="0">
                <a:solidFill>
                  <a:srgbClr val="FF0000"/>
                </a:solidFill>
                <a:sym typeface="Symbol" pitchFamily="18" charset="2"/>
              </a:rPr>
              <a:t>T</a:t>
            </a:r>
            <a:r>
              <a:rPr lang="en-US" sz="2000" baseline="30000" dirty="0">
                <a:solidFill>
                  <a:srgbClr val="FF0000"/>
                </a:solidFill>
                <a:sym typeface="Symbol" pitchFamily="18" charset="2"/>
              </a:rPr>
              <a:t>’</a:t>
            </a:r>
            <a:r>
              <a:rPr lang="en-US" sz="2000" dirty="0">
                <a:sym typeface="Symbol" pitchFamily="18" charset="2"/>
              </a:rPr>
              <a:t>		</a:t>
            </a:r>
            <a:r>
              <a:rPr lang="en-US" sz="2000" dirty="0">
                <a:solidFill>
                  <a:srgbClr val="FF0000"/>
                </a:solidFill>
                <a:sym typeface="Symbol" pitchFamily="18" charset="2"/>
              </a:rPr>
              <a:t>$</a:t>
            </a:r>
            <a:r>
              <a:rPr lang="en-US" sz="2000" dirty="0">
                <a:sym typeface="Symbol" pitchFamily="18" charset="2"/>
              </a:rPr>
              <a:t>		T</a:t>
            </a:r>
            <a:r>
              <a:rPr lang="en-US" sz="2000" baseline="30000" dirty="0">
                <a:sym typeface="Symbol" pitchFamily="18" charset="2"/>
              </a:rPr>
              <a:t>’</a:t>
            </a:r>
            <a:r>
              <a:rPr lang="en-US" sz="2000" dirty="0">
                <a:sym typeface="Symbol" pitchFamily="18" charset="2"/>
              </a:rPr>
              <a:t>  </a:t>
            </a:r>
          </a:p>
          <a:p>
            <a:pPr>
              <a:buFontTx/>
              <a:buNone/>
            </a:pPr>
            <a:r>
              <a:rPr lang="en-US" sz="2000" dirty="0">
                <a:sym typeface="Symbol" pitchFamily="18" charset="2"/>
              </a:rPr>
              <a:t>$ </a:t>
            </a:r>
            <a:r>
              <a:rPr lang="en-US" sz="2000" dirty="0">
                <a:solidFill>
                  <a:srgbClr val="FF0000"/>
                </a:solidFill>
              </a:rPr>
              <a:t>E</a:t>
            </a:r>
            <a:r>
              <a:rPr lang="en-US" sz="2000" baseline="30000" dirty="0">
                <a:solidFill>
                  <a:srgbClr val="FF0000"/>
                </a:solidFill>
              </a:rPr>
              <a:t>’</a:t>
            </a:r>
            <a:r>
              <a:rPr lang="en-US" sz="2000" baseline="30000" dirty="0"/>
              <a:t>		</a:t>
            </a:r>
            <a:r>
              <a:rPr lang="en-US" sz="2000" dirty="0">
                <a:solidFill>
                  <a:srgbClr val="FF0000"/>
                </a:solidFill>
              </a:rPr>
              <a:t>$</a:t>
            </a:r>
            <a:r>
              <a:rPr lang="en-US" sz="2000" dirty="0"/>
              <a:t>		</a:t>
            </a:r>
            <a:r>
              <a:rPr lang="en-US" sz="2000" dirty="0">
                <a:sym typeface="Symbol" pitchFamily="18" charset="2"/>
              </a:rPr>
              <a:t>E</a:t>
            </a:r>
            <a:r>
              <a:rPr lang="en-US" sz="2000" baseline="30000" dirty="0">
                <a:sym typeface="Symbol" pitchFamily="18" charset="2"/>
              </a:rPr>
              <a:t>’</a:t>
            </a:r>
            <a:r>
              <a:rPr lang="en-US" sz="2000" dirty="0">
                <a:sym typeface="Symbol" pitchFamily="18" charset="2"/>
              </a:rPr>
              <a:t>  </a:t>
            </a:r>
            <a:endParaRPr lang="en-US" sz="2000" baseline="30000" dirty="0">
              <a:sym typeface="Symbol" pitchFamily="18" charset="2"/>
            </a:endParaRPr>
          </a:p>
          <a:p>
            <a:pPr>
              <a:buFontTx/>
              <a:buNone/>
            </a:pPr>
            <a:r>
              <a:rPr lang="en-US" sz="2000" dirty="0">
                <a:solidFill>
                  <a:srgbClr val="FF0000"/>
                </a:solidFill>
                <a:sym typeface="Symbol" pitchFamily="18" charset="2"/>
              </a:rPr>
              <a:t>$</a:t>
            </a:r>
            <a:r>
              <a:rPr lang="en-US" sz="2000" dirty="0">
                <a:sym typeface="Symbol" pitchFamily="18" charset="2"/>
              </a:rPr>
              <a:t>		</a:t>
            </a:r>
            <a:r>
              <a:rPr lang="en-US" sz="2000" dirty="0">
                <a:solidFill>
                  <a:srgbClr val="FF0000"/>
                </a:solidFill>
                <a:sym typeface="Symbol" pitchFamily="18" charset="2"/>
              </a:rPr>
              <a:t>$</a:t>
            </a:r>
            <a:r>
              <a:rPr lang="en-US" sz="2000" dirty="0">
                <a:sym typeface="Symbol" pitchFamily="18" charset="2"/>
              </a:rPr>
              <a:t>		accept</a:t>
            </a:r>
          </a:p>
        </p:txBody>
      </p:sp>
      <p:pic>
        <p:nvPicPr>
          <p:cNvPr id="7" name="Picture 6" descr="A white paper with writing on it&#10;&#10;Description automatically generated">
            <a:extLst>
              <a:ext uri="{FF2B5EF4-FFF2-40B4-BE49-F238E27FC236}">
                <a16:creationId xmlns:a16="http://schemas.microsoft.com/office/drawing/2014/main" id="{EE08BFC6-3BCF-E75C-A618-2ACA34FEBA6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381" t="9618" r="12440" b="7724"/>
          <a:stretch/>
        </p:blipFill>
        <p:spPr>
          <a:xfrm rot="5400000">
            <a:off x="6585259" y="1914510"/>
            <a:ext cx="4039615" cy="49617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9D6DD29-0955-5FAB-09C2-3A4FE7CAF510}"/>
              </a:ext>
            </a:extLst>
          </p:cNvPr>
          <p:cNvSpPr txBox="1"/>
          <p:nvPr/>
        </p:nvSpPr>
        <p:spPr>
          <a:xfrm>
            <a:off x="7656899" y="1876580"/>
            <a:ext cx="17733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sz="2800" dirty="0"/>
              <a:t>Parse Tree</a:t>
            </a:r>
          </a:p>
        </p:txBody>
      </p:sp>
    </p:spTree>
    <p:extLst>
      <p:ext uri="{BB962C8B-B14F-4D97-AF65-F5344CB8AC3E}">
        <p14:creationId xmlns:p14="http://schemas.microsoft.com/office/powerpoint/2010/main" val="21150432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C0AD7-DE1E-1D91-D9D3-D5F4B5B69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Ex2: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F73972-A0F9-DB48-239F-077B6FD52C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84181"/>
              </a:xfrm>
            </p:spPr>
            <p:txBody>
              <a:bodyPr>
                <a:normAutofit/>
              </a:bodyPr>
              <a:lstStyle/>
              <a:p>
                <a:pPr marL="3657600" lvl="8" indent="0">
                  <a:buNone/>
                </a:pPr>
                <a:r>
                  <a:rPr lang="en-BD" sz="2400" dirty="0"/>
                  <a:t>S </a:t>
                </a:r>
                <a:r>
                  <a: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sym typeface="Symbol" pitchFamily="18" charset="2"/>
                  </a:rPr>
                  <a:t></a:t>
                </a:r>
                <a:r>
                  <a:rPr lang="en-BD" sz="2400" dirty="0"/>
                  <a:t> aBDh</a:t>
                </a:r>
              </a:p>
              <a:p>
                <a:pPr marL="3657600" lvl="8" indent="0">
                  <a:buNone/>
                </a:pPr>
                <a:r>
                  <a:rPr lang="en-BD" sz="2400" dirty="0"/>
                  <a:t>B </a:t>
                </a:r>
                <a:r>
                  <a: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sym typeface="Symbol" pitchFamily="18" charset="2"/>
                  </a:rPr>
                  <a:t></a:t>
                </a:r>
                <a:r>
                  <a:rPr lang="en-BD" sz="2400" dirty="0"/>
                  <a:t> cC</a:t>
                </a:r>
              </a:p>
              <a:p>
                <a:pPr marL="3657600" lvl="8" indent="0">
                  <a:buNone/>
                </a:pPr>
                <a:r>
                  <a:rPr lang="en-BD" sz="2400" dirty="0"/>
                  <a:t>C </a:t>
                </a:r>
                <a:r>
                  <a: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sym typeface="Symbol" pitchFamily="18" charset="2"/>
                  </a:rPr>
                  <a:t></a:t>
                </a:r>
                <a:r>
                  <a:rPr lang="en-BD" sz="2400" dirty="0"/>
                  <a:t> bC | </a:t>
                </a:r>
                <a14:m>
                  <m:oMath xmlns:m="http://schemas.openxmlformats.org/officeDocument/2006/math">
                    <m:r>
                      <a:rPr lang="en-BD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endParaRPr lang="en-BD" sz="2400" dirty="0"/>
              </a:p>
              <a:p>
                <a:pPr marL="3657600" lvl="8" indent="0">
                  <a:buNone/>
                </a:pPr>
                <a:r>
                  <a:rPr lang="en-BD" sz="2400" dirty="0"/>
                  <a:t>D </a:t>
                </a:r>
                <a:r>
                  <a: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sym typeface="Symbol" pitchFamily="18" charset="2"/>
                  </a:rPr>
                  <a:t></a:t>
                </a:r>
                <a:r>
                  <a:rPr lang="en-BD" sz="2400" dirty="0"/>
                  <a:t> EF</a:t>
                </a:r>
              </a:p>
              <a:p>
                <a:pPr marL="3657600" lvl="8" indent="0">
                  <a:buNone/>
                </a:pPr>
                <a:r>
                  <a:rPr lang="en-BD" sz="2400" dirty="0"/>
                  <a:t>E </a:t>
                </a:r>
                <a:r>
                  <a: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sym typeface="Symbol" pitchFamily="18" charset="2"/>
                  </a:rPr>
                  <a:t></a:t>
                </a:r>
                <a:r>
                  <a:rPr lang="en-BD" sz="2400" dirty="0"/>
                  <a:t> g | </a:t>
                </a:r>
                <a14:m>
                  <m:oMath xmlns:m="http://schemas.openxmlformats.org/officeDocument/2006/math">
                    <m:r>
                      <a:rPr lang="en-BD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endParaRPr lang="en-BD" sz="2400" dirty="0"/>
              </a:p>
              <a:p>
                <a:pPr marL="3657600" lvl="8" indent="0">
                  <a:buNone/>
                </a:pPr>
                <a:r>
                  <a:rPr lang="en-BD" sz="2400" dirty="0"/>
                  <a:t>F </a:t>
                </a:r>
                <a:r>
                  <a: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sym typeface="Symbol" pitchFamily="18" charset="2"/>
                  </a:rPr>
                  <a:t></a:t>
                </a:r>
                <a:r>
                  <a:rPr lang="en-BD" sz="2400" dirty="0"/>
                  <a:t> f | </a:t>
                </a:r>
                <a14:m>
                  <m:oMath xmlns:m="http://schemas.openxmlformats.org/officeDocument/2006/math">
                    <m:r>
                      <a:rPr lang="en-BD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endParaRPr lang="en-BD" sz="2400" dirty="0"/>
              </a:p>
              <a:p>
                <a:pPr marL="0" indent="0">
                  <a:buNone/>
                </a:pPr>
                <a:r>
                  <a:rPr lang="en-GB" b="0" i="0" u="none" strike="noStrike" dirty="0">
                    <a:solidFill>
                      <a:srgbClr val="000000"/>
                    </a:solidFill>
                    <a:effectLst/>
                  </a:rPr>
                  <a:t>Construct the parse table for the LL(1) grammar and parse the input string </a:t>
                </a:r>
                <a:r>
                  <a:rPr lang="en-US" sz="2800" dirty="0" err="1">
                    <a:sym typeface="Symbol" pitchFamily="18" charset="2"/>
                  </a:rPr>
                  <a:t>acbh</a:t>
                </a:r>
                <a:r>
                  <a:rPr lang="en-US" sz="2800" dirty="0">
                    <a:sym typeface="Symbol" pitchFamily="18" charset="2"/>
                  </a:rPr>
                  <a:t>$ </a:t>
                </a:r>
              </a:p>
              <a:p>
                <a:pPr marL="0" indent="0">
                  <a:buNone/>
                </a:pPr>
                <a:r>
                  <a:rPr lang="en-GB" b="1" dirty="0">
                    <a:solidFill>
                      <a:srgbClr val="000000"/>
                    </a:solidFill>
                  </a:rPr>
                  <a:t>Solution: </a:t>
                </a:r>
              </a:p>
              <a:p>
                <a:pPr marL="0" indent="0">
                  <a:buNone/>
                </a:pPr>
                <a:r>
                  <a:rPr lang="en-GB" dirty="0">
                    <a:solidFill>
                      <a:srgbClr val="000000"/>
                    </a:solidFill>
                  </a:rPr>
                  <a:t>	It is not ambiguous, left recursive, non-deterministic. So no need to eliminate ambiguity, left recursion or non-determinism.</a:t>
                </a:r>
                <a:endParaRPr lang="en-BD" dirty="0"/>
              </a:p>
              <a:p>
                <a:endParaRPr lang="en-BD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F73972-A0F9-DB48-239F-077B6FD52C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84181"/>
              </a:xfrm>
              <a:blipFill>
                <a:blip r:embed="rId2"/>
                <a:stretch>
                  <a:fillRect l="-1206" t="-2116" r="-1327" b="-1587"/>
                </a:stretch>
              </a:blipFill>
            </p:spPr>
            <p:txBody>
              <a:bodyPr/>
              <a:lstStyle/>
              <a:p>
                <a:r>
                  <a:rPr lang="en-B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36903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BE8BD-6540-749F-B8D6-EDD03A581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Finding First and Follow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63BC4A8A-1836-5A54-31CD-F78C6E9E89E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044748385"/>
                  </p:ext>
                </p:extLst>
              </p:nvPr>
            </p:nvGraphicFramePr>
            <p:xfrm>
              <a:off x="838200" y="1825625"/>
              <a:ext cx="10515597" cy="437488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05199">
                      <a:extLst>
                        <a:ext uri="{9D8B030D-6E8A-4147-A177-3AD203B41FA5}">
                          <a16:colId xmlns:a16="http://schemas.microsoft.com/office/drawing/2014/main" val="216276057"/>
                        </a:ext>
                      </a:extLst>
                    </a:gridCol>
                    <a:gridCol w="3505199">
                      <a:extLst>
                        <a:ext uri="{9D8B030D-6E8A-4147-A177-3AD203B41FA5}">
                          <a16:colId xmlns:a16="http://schemas.microsoft.com/office/drawing/2014/main" val="4238926572"/>
                        </a:ext>
                      </a:extLst>
                    </a:gridCol>
                    <a:gridCol w="3505199">
                      <a:extLst>
                        <a:ext uri="{9D8B030D-6E8A-4147-A177-3AD203B41FA5}">
                          <a16:colId xmlns:a16="http://schemas.microsoft.com/office/drawing/2014/main" val="247742676"/>
                        </a:ext>
                      </a:extLst>
                    </a:gridCol>
                  </a:tblGrid>
                  <a:tr h="624983">
                    <a:tc>
                      <a:txBody>
                        <a:bodyPr/>
                        <a:lstStyle/>
                        <a:p>
                          <a:endParaRPr lang="en-BD" sz="20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First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Follow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66271949"/>
                      </a:ext>
                    </a:extLst>
                  </a:tr>
                  <a:tr h="624983"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S </a:t>
                          </a:r>
                          <a:r>
                            <a:rPr kumimoji="0" lang="en-US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itchFamily="18" charset="2"/>
                            </a:rPr>
                            <a:t></a:t>
                          </a:r>
                          <a:r>
                            <a:rPr lang="en-BD" sz="2000" dirty="0">
                              <a:latin typeface="+mn-lt"/>
                            </a:rPr>
                            <a:t> aBDh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{a}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{$}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85423241"/>
                      </a:ext>
                    </a:extLst>
                  </a:tr>
                  <a:tr h="624983"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B </a:t>
                          </a:r>
                          <a:r>
                            <a:rPr kumimoji="0" lang="en-US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itchFamily="18" charset="2"/>
                            </a:rPr>
                            <a:t></a:t>
                          </a:r>
                          <a:r>
                            <a:rPr lang="en-BD" sz="2000" dirty="0">
                              <a:latin typeface="+mn-lt"/>
                            </a:rPr>
                            <a:t> cC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{c}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{g, f, h}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09734405"/>
                      </a:ext>
                    </a:extLst>
                  </a:tr>
                  <a:tr h="624983"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C </a:t>
                          </a:r>
                          <a:r>
                            <a:rPr kumimoji="0" lang="en-US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itchFamily="18" charset="2"/>
                            </a:rPr>
                            <a:t></a:t>
                          </a:r>
                          <a:r>
                            <a:rPr lang="en-BD" sz="2000" dirty="0">
                              <a:latin typeface="+mn-lt"/>
                            </a:rPr>
                            <a:t> bC | </a:t>
                          </a:r>
                          <a14:m>
                            <m:oMath xmlns:m="http://schemas.openxmlformats.org/officeDocument/2006/math">
                              <m:r>
                                <a:rPr lang="en-BD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oMath>
                          </a14:m>
                          <a:endParaRPr lang="en-BD" sz="20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{b, </a:t>
                          </a:r>
                          <a14:m>
                            <m:oMath xmlns:m="http://schemas.openxmlformats.org/officeDocument/2006/math">
                              <m:r>
                                <a:rPr lang="en-BD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oMath>
                          </a14:m>
                          <a:r>
                            <a:rPr lang="en-BD" sz="2000" dirty="0">
                              <a:latin typeface="+mn-lt"/>
                            </a:rPr>
                            <a:t>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{g, f, h}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30670529"/>
                      </a:ext>
                    </a:extLst>
                  </a:tr>
                  <a:tr h="624983"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D </a:t>
                          </a:r>
                          <a:r>
                            <a:rPr kumimoji="0" lang="en-US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itchFamily="18" charset="2"/>
                            </a:rPr>
                            <a:t></a:t>
                          </a:r>
                          <a:r>
                            <a:rPr lang="en-BD" sz="2000" dirty="0">
                              <a:latin typeface="+mn-lt"/>
                            </a:rPr>
                            <a:t> EF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{g, f, </a:t>
                          </a:r>
                          <a14:m>
                            <m:oMath xmlns:m="http://schemas.openxmlformats.org/officeDocument/2006/math">
                              <m:r>
                                <a:rPr lang="en-BD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oMath>
                          </a14:m>
                          <a:r>
                            <a:rPr lang="en-BD" sz="2000" dirty="0">
                              <a:latin typeface="+mn-lt"/>
                            </a:rPr>
                            <a:t>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{h}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9823206"/>
                      </a:ext>
                    </a:extLst>
                  </a:tr>
                  <a:tr h="624983"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E </a:t>
                          </a:r>
                          <a:r>
                            <a:rPr kumimoji="0" lang="en-US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itchFamily="18" charset="2"/>
                            </a:rPr>
                            <a:t></a:t>
                          </a:r>
                          <a:r>
                            <a:rPr lang="en-BD" sz="2000" dirty="0">
                              <a:latin typeface="+mn-lt"/>
                            </a:rPr>
                            <a:t> g | </a:t>
                          </a:r>
                          <a14:m>
                            <m:oMath xmlns:m="http://schemas.openxmlformats.org/officeDocument/2006/math">
                              <m:r>
                                <a:rPr lang="en-BD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oMath>
                          </a14:m>
                          <a:endParaRPr lang="en-BD" sz="20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{g, </a:t>
                          </a:r>
                          <a14:m>
                            <m:oMath xmlns:m="http://schemas.openxmlformats.org/officeDocument/2006/math">
                              <m:r>
                                <a:rPr lang="en-BD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oMath>
                          </a14:m>
                          <a:r>
                            <a:rPr lang="en-BD" sz="2000" dirty="0">
                              <a:latin typeface="+mn-lt"/>
                            </a:rPr>
                            <a:t>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{f, h}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35912318"/>
                      </a:ext>
                    </a:extLst>
                  </a:tr>
                  <a:tr h="624983"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F </a:t>
                          </a:r>
                          <a:r>
                            <a:rPr kumimoji="0" lang="en-US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itchFamily="18" charset="2"/>
                            </a:rPr>
                            <a:t></a:t>
                          </a:r>
                          <a:r>
                            <a:rPr lang="en-BD" sz="2000" dirty="0">
                              <a:latin typeface="+mn-lt"/>
                            </a:rPr>
                            <a:t> f | </a:t>
                          </a:r>
                          <a14:m>
                            <m:oMath xmlns:m="http://schemas.openxmlformats.org/officeDocument/2006/math">
                              <m:r>
                                <a:rPr lang="en-BD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oMath>
                          </a14:m>
                          <a:endParaRPr lang="en-BD" sz="20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{f, </a:t>
                          </a:r>
                          <a14:m>
                            <m:oMath xmlns:m="http://schemas.openxmlformats.org/officeDocument/2006/math">
                              <m:r>
                                <a:rPr lang="en-BD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oMath>
                          </a14:m>
                          <a:r>
                            <a:rPr lang="en-BD" sz="2000" dirty="0">
                              <a:latin typeface="+mn-lt"/>
                            </a:rPr>
                            <a:t>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{h}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4358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63BC4A8A-1836-5A54-31CD-F78C6E9E89E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044748385"/>
                  </p:ext>
                </p:extLst>
              </p:nvPr>
            </p:nvGraphicFramePr>
            <p:xfrm>
              <a:off x="838200" y="1825625"/>
              <a:ext cx="10515597" cy="437488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05199">
                      <a:extLst>
                        <a:ext uri="{9D8B030D-6E8A-4147-A177-3AD203B41FA5}">
                          <a16:colId xmlns:a16="http://schemas.microsoft.com/office/drawing/2014/main" val="216276057"/>
                        </a:ext>
                      </a:extLst>
                    </a:gridCol>
                    <a:gridCol w="3505199">
                      <a:extLst>
                        <a:ext uri="{9D8B030D-6E8A-4147-A177-3AD203B41FA5}">
                          <a16:colId xmlns:a16="http://schemas.microsoft.com/office/drawing/2014/main" val="4238926572"/>
                        </a:ext>
                      </a:extLst>
                    </a:gridCol>
                    <a:gridCol w="3505199">
                      <a:extLst>
                        <a:ext uri="{9D8B030D-6E8A-4147-A177-3AD203B41FA5}">
                          <a16:colId xmlns:a16="http://schemas.microsoft.com/office/drawing/2014/main" val="247742676"/>
                        </a:ext>
                      </a:extLst>
                    </a:gridCol>
                  </a:tblGrid>
                  <a:tr h="624983">
                    <a:tc>
                      <a:txBody>
                        <a:bodyPr/>
                        <a:lstStyle/>
                        <a:p>
                          <a:endParaRPr lang="en-BD" sz="20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First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Follow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66271949"/>
                      </a:ext>
                    </a:extLst>
                  </a:tr>
                  <a:tr h="624983"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S </a:t>
                          </a:r>
                          <a:r>
                            <a:rPr kumimoji="0" lang="en-US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itchFamily="18" charset="2"/>
                            </a:rPr>
                            <a:t></a:t>
                          </a:r>
                          <a:r>
                            <a:rPr lang="en-BD" sz="2000" dirty="0">
                              <a:latin typeface="+mn-lt"/>
                            </a:rPr>
                            <a:t> aBDh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{a}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{$}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85423241"/>
                      </a:ext>
                    </a:extLst>
                  </a:tr>
                  <a:tr h="624983"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B </a:t>
                          </a:r>
                          <a:r>
                            <a:rPr kumimoji="0" lang="en-US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itchFamily="18" charset="2"/>
                            </a:rPr>
                            <a:t></a:t>
                          </a:r>
                          <a:r>
                            <a:rPr lang="en-BD" sz="2000" dirty="0">
                              <a:latin typeface="+mn-lt"/>
                            </a:rPr>
                            <a:t> cC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{c}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{g, f, h}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09734405"/>
                      </a:ext>
                    </a:extLst>
                  </a:tr>
                  <a:tr h="624983">
                    <a:tc>
                      <a:txBody>
                        <a:bodyPr/>
                        <a:lstStyle/>
                        <a:p>
                          <a:endParaRPr lang="en-BD"/>
                        </a:p>
                      </a:txBody>
                      <a:tcPr>
                        <a:blipFill>
                          <a:blip r:embed="rId2"/>
                          <a:stretch>
                            <a:fillRect l="-362" t="-300000" r="-201087" b="-29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BD"/>
                        </a:p>
                      </a:txBody>
                      <a:tcPr>
                        <a:blipFill>
                          <a:blip r:embed="rId2"/>
                          <a:stretch>
                            <a:fillRect l="-100362" t="-300000" r="-101087" b="-29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{g, f, h}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30670529"/>
                      </a:ext>
                    </a:extLst>
                  </a:tr>
                  <a:tr h="624983"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D </a:t>
                          </a:r>
                          <a:r>
                            <a:rPr kumimoji="0" lang="en-US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itchFamily="18" charset="2"/>
                            </a:rPr>
                            <a:t></a:t>
                          </a:r>
                          <a:r>
                            <a:rPr lang="en-BD" sz="2000" dirty="0">
                              <a:latin typeface="+mn-lt"/>
                            </a:rPr>
                            <a:t> EF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D"/>
                        </a:p>
                      </a:txBody>
                      <a:tcPr>
                        <a:blipFill>
                          <a:blip r:embed="rId2"/>
                          <a:stretch>
                            <a:fillRect l="-100362" t="-408163" r="-101087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{h}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9823206"/>
                      </a:ext>
                    </a:extLst>
                  </a:tr>
                  <a:tr h="624983">
                    <a:tc>
                      <a:txBody>
                        <a:bodyPr/>
                        <a:lstStyle/>
                        <a:p>
                          <a:endParaRPr lang="en-BD"/>
                        </a:p>
                      </a:txBody>
                      <a:tcPr>
                        <a:blipFill>
                          <a:blip r:embed="rId2"/>
                          <a:stretch>
                            <a:fillRect l="-362" t="-498000" r="-201087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BD"/>
                        </a:p>
                      </a:txBody>
                      <a:tcPr>
                        <a:blipFill>
                          <a:blip r:embed="rId2"/>
                          <a:stretch>
                            <a:fillRect l="-100362" t="-498000" r="-101087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{f, h}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35912318"/>
                      </a:ext>
                    </a:extLst>
                  </a:tr>
                  <a:tr h="624983">
                    <a:tc>
                      <a:txBody>
                        <a:bodyPr/>
                        <a:lstStyle/>
                        <a:p>
                          <a:endParaRPr lang="en-BD"/>
                        </a:p>
                      </a:txBody>
                      <a:tcPr>
                        <a:blipFill>
                          <a:blip r:embed="rId2"/>
                          <a:stretch>
                            <a:fillRect l="-362" t="-610204" r="-201087" b="-20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BD"/>
                        </a:p>
                      </a:txBody>
                      <a:tcPr>
                        <a:blipFill>
                          <a:blip r:embed="rId2"/>
                          <a:stretch>
                            <a:fillRect l="-100362" t="-610204" r="-101087" b="-20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{h}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43586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459150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2151E-E3E0-E240-0D55-F5FA6B606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Creating LL(1) Parsing 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6BE80B2D-E642-F5F4-20A0-0C9E03302DCF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885083330"/>
                  </p:ext>
                </p:extLst>
              </p:nvPr>
            </p:nvGraphicFramePr>
            <p:xfrm>
              <a:off x="838200" y="1825625"/>
              <a:ext cx="10515600" cy="47574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14450">
                      <a:extLst>
                        <a:ext uri="{9D8B030D-6E8A-4147-A177-3AD203B41FA5}">
                          <a16:colId xmlns:a16="http://schemas.microsoft.com/office/drawing/2014/main" val="2563940388"/>
                        </a:ext>
                      </a:extLst>
                    </a:gridCol>
                    <a:gridCol w="1314450">
                      <a:extLst>
                        <a:ext uri="{9D8B030D-6E8A-4147-A177-3AD203B41FA5}">
                          <a16:colId xmlns:a16="http://schemas.microsoft.com/office/drawing/2014/main" val="3032819225"/>
                        </a:ext>
                      </a:extLst>
                    </a:gridCol>
                    <a:gridCol w="1314450">
                      <a:extLst>
                        <a:ext uri="{9D8B030D-6E8A-4147-A177-3AD203B41FA5}">
                          <a16:colId xmlns:a16="http://schemas.microsoft.com/office/drawing/2014/main" val="1453314941"/>
                        </a:ext>
                      </a:extLst>
                    </a:gridCol>
                    <a:gridCol w="1314450">
                      <a:extLst>
                        <a:ext uri="{9D8B030D-6E8A-4147-A177-3AD203B41FA5}">
                          <a16:colId xmlns:a16="http://schemas.microsoft.com/office/drawing/2014/main" val="2970316896"/>
                        </a:ext>
                      </a:extLst>
                    </a:gridCol>
                    <a:gridCol w="1314450">
                      <a:extLst>
                        <a:ext uri="{9D8B030D-6E8A-4147-A177-3AD203B41FA5}">
                          <a16:colId xmlns:a16="http://schemas.microsoft.com/office/drawing/2014/main" val="1012277826"/>
                        </a:ext>
                      </a:extLst>
                    </a:gridCol>
                    <a:gridCol w="1314450">
                      <a:extLst>
                        <a:ext uri="{9D8B030D-6E8A-4147-A177-3AD203B41FA5}">
                          <a16:colId xmlns:a16="http://schemas.microsoft.com/office/drawing/2014/main" val="451953115"/>
                        </a:ext>
                      </a:extLst>
                    </a:gridCol>
                    <a:gridCol w="1314450">
                      <a:extLst>
                        <a:ext uri="{9D8B030D-6E8A-4147-A177-3AD203B41FA5}">
                          <a16:colId xmlns:a16="http://schemas.microsoft.com/office/drawing/2014/main" val="457987611"/>
                        </a:ext>
                      </a:extLst>
                    </a:gridCol>
                    <a:gridCol w="1314450">
                      <a:extLst>
                        <a:ext uri="{9D8B030D-6E8A-4147-A177-3AD203B41FA5}">
                          <a16:colId xmlns:a16="http://schemas.microsoft.com/office/drawing/2014/main" val="3093889947"/>
                        </a:ext>
                      </a:extLst>
                    </a:gridCol>
                  </a:tblGrid>
                  <a:tr h="651108"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$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19932560"/>
                      </a:ext>
                    </a:extLst>
                  </a:tr>
                  <a:tr h="651108"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S </a:t>
                          </a:r>
                          <a:r>
                            <a:rPr kumimoji="0" lang="en-US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itchFamily="18" charset="2"/>
                            </a:rPr>
                            <a:t></a:t>
                          </a:r>
                          <a:r>
                            <a:rPr lang="en-BD" sz="2000" dirty="0">
                              <a:latin typeface="+mn-lt"/>
                            </a:rPr>
                            <a:t> aBDh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D" sz="20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D" sz="20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D" sz="200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D" sz="200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D" sz="200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D" sz="200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05662662"/>
                      </a:ext>
                    </a:extLst>
                  </a:tr>
                  <a:tr h="651108"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D" sz="20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D" sz="200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BD" sz="2000" dirty="0">
                              <a:latin typeface="+mn-lt"/>
                            </a:rPr>
                            <a:t>B </a:t>
                          </a:r>
                          <a:r>
                            <a:rPr kumimoji="0" lang="en-US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itchFamily="18" charset="2"/>
                            </a:rPr>
                            <a:t></a:t>
                          </a:r>
                          <a:r>
                            <a:rPr lang="en-BD" sz="2000" dirty="0">
                              <a:latin typeface="+mn-lt"/>
                            </a:rPr>
                            <a:t> cC</a:t>
                          </a:r>
                        </a:p>
                        <a:p>
                          <a:endParaRPr lang="en-BD" sz="20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D" sz="200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D" sz="200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D" sz="200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D" sz="200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5012159"/>
                      </a:ext>
                    </a:extLst>
                  </a:tr>
                  <a:tr h="651108"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D" sz="20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C </a:t>
                          </a:r>
                          <a:r>
                            <a:rPr kumimoji="0" lang="en-US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itchFamily="18" charset="2"/>
                            </a:rPr>
                            <a:t></a:t>
                          </a:r>
                          <a:r>
                            <a:rPr lang="en-BD" sz="2000" dirty="0">
                              <a:latin typeface="+mn-lt"/>
                            </a:rPr>
                            <a:t> bC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D" sz="20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BD" sz="2000" dirty="0">
                              <a:latin typeface="+mn-lt"/>
                            </a:rPr>
                            <a:t>C </a:t>
                          </a:r>
                          <a:r>
                            <a:rPr kumimoji="0" lang="en-US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itchFamily="18" charset="2"/>
                            </a:rPr>
                            <a:t></a:t>
                          </a:r>
                          <a:r>
                            <a:rPr lang="en-BD" sz="2000" dirty="0">
                              <a:latin typeface="+mn-lt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BD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oMath>
                          </a14:m>
                          <a:endParaRPr lang="en-BD" sz="20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BD" sz="2000" dirty="0">
                              <a:latin typeface="+mn-lt"/>
                            </a:rPr>
                            <a:t>C </a:t>
                          </a:r>
                          <a:r>
                            <a:rPr kumimoji="0" lang="en-US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itchFamily="18" charset="2"/>
                            </a:rPr>
                            <a:t></a:t>
                          </a:r>
                          <a:r>
                            <a:rPr lang="en-BD" sz="2000" dirty="0">
                              <a:latin typeface="+mn-lt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BD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oMath>
                          </a14:m>
                          <a:endParaRPr lang="en-BD" sz="20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BD" sz="2000" dirty="0">
                              <a:latin typeface="+mn-lt"/>
                            </a:rPr>
                            <a:t>C </a:t>
                          </a:r>
                          <a:r>
                            <a:rPr kumimoji="0" lang="en-US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itchFamily="18" charset="2"/>
                            </a:rPr>
                            <a:t></a:t>
                          </a:r>
                          <a:r>
                            <a:rPr lang="en-BD" sz="2000" dirty="0">
                              <a:latin typeface="+mn-lt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BD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oMath>
                          </a14:m>
                          <a:endParaRPr lang="en-BD" sz="20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D" sz="200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24509252"/>
                      </a:ext>
                    </a:extLst>
                  </a:tr>
                  <a:tr h="651108"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D" sz="20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D" sz="20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D" sz="200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BD" sz="2000" dirty="0">
                              <a:latin typeface="+mn-lt"/>
                            </a:rPr>
                            <a:t>D </a:t>
                          </a:r>
                          <a:r>
                            <a:rPr kumimoji="0" lang="en-US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itchFamily="18" charset="2"/>
                            </a:rPr>
                            <a:t></a:t>
                          </a:r>
                          <a:r>
                            <a:rPr lang="en-BD" sz="2000" dirty="0">
                              <a:latin typeface="+mn-lt"/>
                            </a:rPr>
                            <a:t> EF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BD" sz="2000" dirty="0">
                              <a:latin typeface="+mn-lt"/>
                            </a:rPr>
                            <a:t>D </a:t>
                          </a:r>
                          <a:r>
                            <a:rPr kumimoji="0" lang="en-US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itchFamily="18" charset="2"/>
                            </a:rPr>
                            <a:t></a:t>
                          </a:r>
                          <a:r>
                            <a:rPr lang="en-BD" sz="2000" dirty="0">
                              <a:latin typeface="+mn-lt"/>
                            </a:rPr>
                            <a:t> EF</a:t>
                          </a:r>
                        </a:p>
                        <a:p>
                          <a:endParaRPr lang="en-BD" sz="20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BD" sz="2000" dirty="0">
                              <a:latin typeface="+mn-lt"/>
                            </a:rPr>
                            <a:t>D </a:t>
                          </a:r>
                          <a:r>
                            <a:rPr kumimoji="0" lang="en-US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itchFamily="18" charset="2"/>
                            </a:rPr>
                            <a:t></a:t>
                          </a:r>
                          <a:r>
                            <a:rPr lang="en-BD" sz="2000" dirty="0">
                              <a:latin typeface="+mn-lt"/>
                            </a:rPr>
                            <a:t> EF</a:t>
                          </a:r>
                        </a:p>
                        <a:p>
                          <a:endParaRPr lang="en-BD" sz="20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D" sz="200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8297429"/>
                      </a:ext>
                    </a:extLst>
                  </a:tr>
                  <a:tr h="651108"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D" sz="200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D" sz="200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D" sz="200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BD" sz="2000" dirty="0">
                              <a:latin typeface="+mn-lt"/>
                            </a:rPr>
                            <a:t>E </a:t>
                          </a:r>
                          <a:r>
                            <a:rPr kumimoji="0" lang="en-US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itchFamily="18" charset="2"/>
                            </a:rPr>
                            <a:t></a:t>
                          </a:r>
                          <a:r>
                            <a:rPr lang="en-BD" sz="2000" dirty="0">
                              <a:latin typeface="+mn-lt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BD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oMath>
                          </a14:m>
                          <a:endParaRPr lang="en-BD" sz="2000" dirty="0">
                            <a:latin typeface="+mn-lt"/>
                          </a:endParaRPr>
                        </a:p>
                        <a:p>
                          <a:endParaRPr lang="en-BD" sz="20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E </a:t>
                          </a:r>
                          <a:r>
                            <a:rPr kumimoji="0" lang="en-US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itchFamily="18" charset="2"/>
                            </a:rPr>
                            <a:t></a:t>
                          </a:r>
                          <a:r>
                            <a:rPr lang="en-BD" sz="2000" dirty="0">
                              <a:latin typeface="+mn-lt"/>
                            </a:rPr>
                            <a:t> g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BD" sz="2000" dirty="0">
                              <a:latin typeface="+mn-lt"/>
                            </a:rPr>
                            <a:t>E </a:t>
                          </a:r>
                          <a:r>
                            <a:rPr kumimoji="0" lang="en-US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itchFamily="18" charset="2"/>
                            </a:rPr>
                            <a:t></a:t>
                          </a:r>
                          <a:r>
                            <a:rPr lang="en-BD" sz="2000" dirty="0">
                              <a:latin typeface="+mn-lt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BD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oMath>
                          </a14:m>
                          <a:endParaRPr lang="en-BD" sz="20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D" sz="200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25520761"/>
                      </a:ext>
                    </a:extLst>
                  </a:tr>
                  <a:tr h="651108"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D" sz="200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D" sz="200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D" sz="200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F </a:t>
                          </a:r>
                          <a:r>
                            <a:rPr kumimoji="0" lang="en-US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itchFamily="18" charset="2"/>
                            </a:rPr>
                            <a:t></a:t>
                          </a:r>
                          <a:r>
                            <a:rPr lang="en-BD" sz="2000" dirty="0">
                              <a:latin typeface="+mn-lt"/>
                            </a:rPr>
                            <a:t> f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D" sz="200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BD" sz="2000" dirty="0">
                              <a:latin typeface="+mn-lt"/>
                            </a:rPr>
                            <a:t>F </a:t>
                          </a:r>
                          <a:r>
                            <a:rPr kumimoji="0" lang="en-US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itchFamily="18" charset="2"/>
                            </a:rPr>
                            <a:t></a:t>
                          </a:r>
                          <a:r>
                            <a:rPr lang="en-BD" sz="2000" dirty="0">
                              <a:latin typeface="+mn-lt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BD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oMath>
                          </a14:m>
                          <a:endParaRPr lang="en-BD" sz="2000" dirty="0">
                            <a:latin typeface="+mn-lt"/>
                          </a:endParaRPr>
                        </a:p>
                        <a:p>
                          <a:endParaRPr lang="en-BD" sz="20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D" sz="2000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5137718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6BE80B2D-E642-F5F4-20A0-0C9E03302DCF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885083330"/>
                  </p:ext>
                </p:extLst>
              </p:nvPr>
            </p:nvGraphicFramePr>
            <p:xfrm>
              <a:off x="838200" y="1825625"/>
              <a:ext cx="10515600" cy="47574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14450">
                      <a:extLst>
                        <a:ext uri="{9D8B030D-6E8A-4147-A177-3AD203B41FA5}">
                          <a16:colId xmlns:a16="http://schemas.microsoft.com/office/drawing/2014/main" val="2563940388"/>
                        </a:ext>
                      </a:extLst>
                    </a:gridCol>
                    <a:gridCol w="1314450">
                      <a:extLst>
                        <a:ext uri="{9D8B030D-6E8A-4147-A177-3AD203B41FA5}">
                          <a16:colId xmlns:a16="http://schemas.microsoft.com/office/drawing/2014/main" val="3032819225"/>
                        </a:ext>
                      </a:extLst>
                    </a:gridCol>
                    <a:gridCol w="1314450">
                      <a:extLst>
                        <a:ext uri="{9D8B030D-6E8A-4147-A177-3AD203B41FA5}">
                          <a16:colId xmlns:a16="http://schemas.microsoft.com/office/drawing/2014/main" val="1453314941"/>
                        </a:ext>
                      </a:extLst>
                    </a:gridCol>
                    <a:gridCol w="1314450">
                      <a:extLst>
                        <a:ext uri="{9D8B030D-6E8A-4147-A177-3AD203B41FA5}">
                          <a16:colId xmlns:a16="http://schemas.microsoft.com/office/drawing/2014/main" val="2970316896"/>
                        </a:ext>
                      </a:extLst>
                    </a:gridCol>
                    <a:gridCol w="1314450">
                      <a:extLst>
                        <a:ext uri="{9D8B030D-6E8A-4147-A177-3AD203B41FA5}">
                          <a16:colId xmlns:a16="http://schemas.microsoft.com/office/drawing/2014/main" val="1012277826"/>
                        </a:ext>
                      </a:extLst>
                    </a:gridCol>
                    <a:gridCol w="1314450">
                      <a:extLst>
                        <a:ext uri="{9D8B030D-6E8A-4147-A177-3AD203B41FA5}">
                          <a16:colId xmlns:a16="http://schemas.microsoft.com/office/drawing/2014/main" val="451953115"/>
                        </a:ext>
                      </a:extLst>
                    </a:gridCol>
                    <a:gridCol w="1314450">
                      <a:extLst>
                        <a:ext uri="{9D8B030D-6E8A-4147-A177-3AD203B41FA5}">
                          <a16:colId xmlns:a16="http://schemas.microsoft.com/office/drawing/2014/main" val="457987611"/>
                        </a:ext>
                      </a:extLst>
                    </a:gridCol>
                    <a:gridCol w="1314450">
                      <a:extLst>
                        <a:ext uri="{9D8B030D-6E8A-4147-A177-3AD203B41FA5}">
                          <a16:colId xmlns:a16="http://schemas.microsoft.com/office/drawing/2014/main" val="3093889947"/>
                        </a:ext>
                      </a:extLst>
                    </a:gridCol>
                  </a:tblGrid>
                  <a:tr h="651108"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$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19932560"/>
                      </a:ext>
                    </a:extLst>
                  </a:tr>
                  <a:tr h="651108"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S </a:t>
                          </a:r>
                          <a:r>
                            <a:rPr kumimoji="0" lang="en-US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itchFamily="18" charset="2"/>
                            </a:rPr>
                            <a:t></a:t>
                          </a:r>
                          <a:r>
                            <a:rPr lang="en-BD" sz="2000" dirty="0">
                              <a:latin typeface="+mn-lt"/>
                            </a:rPr>
                            <a:t> aBDh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D" sz="20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D" sz="20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D" sz="200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D" sz="200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D" sz="200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D" sz="200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05662662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D" sz="20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D" sz="200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BD" sz="2000" dirty="0">
                              <a:latin typeface="+mn-lt"/>
                            </a:rPr>
                            <a:t>B </a:t>
                          </a:r>
                          <a:r>
                            <a:rPr kumimoji="0" lang="en-US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itchFamily="18" charset="2"/>
                            </a:rPr>
                            <a:t></a:t>
                          </a:r>
                          <a:r>
                            <a:rPr lang="en-BD" sz="2000" dirty="0">
                              <a:latin typeface="+mn-lt"/>
                            </a:rPr>
                            <a:t> cC</a:t>
                          </a:r>
                        </a:p>
                        <a:p>
                          <a:endParaRPr lang="en-BD" sz="20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D" sz="200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D" sz="200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D" sz="200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D" sz="200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5012159"/>
                      </a:ext>
                    </a:extLst>
                  </a:tr>
                  <a:tr h="651108"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D" sz="20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C </a:t>
                          </a:r>
                          <a:r>
                            <a:rPr kumimoji="0" lang="en-US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itchFamily="18" charset="2"/>
                            </a:rPr>
                            <a:t></a:t>
                          </a:r>
                          <a:r>
                            <a:rPr lang="en-BD" sz="2000" dirty="0">
                              <a:latin typeface="+mn-lt"/>
                            </a:rPr>
                            <a:t> bC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D" sz="20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D"/>
                        </a:p>
                      </a:txBody>
                      <a:tcPr>
                        <a:blipFill>
                          <a:blip r:embed="rId2"/>
                          <a:stretch>
                            <a:fillRect l="-399038" t="-307692" r="-300962" b="-321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BD"/>
                        </a:p>
                      </a:txBody>
                      <a:tcPr>
                        <a:blipFill>
                          <a:blip r:embed="rId2"/>
                          <a:stretch>
                            <a:fillRect l="-503883" t="-307692" r="-203883" b="-321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BD"/>
                        </a:p>
                      </a:txBody>
                      <a:tcPr>
                        <a:blipFill>
                          <a:blip r:embed="rId2"/>
                          <a:stretch>
                            <a:fillRect l="-598077" t="-307692" r="-101923" b="-321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BD" sz="200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24509252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D" sz="20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D" sz="20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D" sz="200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BD" sz="2000" dirty="0">
                              <a:latin typeface="+mn-lt"/>
                            </a:rPr>
                            <a:t>D </a:t>
                          </a:r>
                          <a:r>
                            <a:rPr kumimoji="0" lang="en-US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itchFamily="18" charset="2"/>
                            </a:rPr>
                            <a:t></a:t>
                          </a:r>
                          <a:r>
                            <a:rPr lang="en-BD" sz="2000" dirty="0">
                              <a:latin typeface="+mn-lt"/>
                            </a:rPr>
                            <a:t> EF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BD" sz="2000" dirty="0">
                              <a:latin typeface="+mn-lt"/>
                            </a:rPr>
                            <a:t>D </a:t>
                          </a:r>
                          <a:r>
                            <a:rPr kumimoji="0" lang="en-US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itchFamily="18" charset="2"/>
                            </a:rPr>
                            <a:t></a:t>
                          </a:r>
                          <a:r>
                            <a:rPr lang="en-BD" sz="2000" dirty="0">
                              <a:latin typeface="+mn-lt"/>
                            </a:rPr>
                            <a:t> EF</a:t>
                          </a:r>
                        </a:p>
                        <a:p>
                          <a:endParaRPr lang="en-BD" sz="20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BD" sz="2000" dirty="0">
                              <a:latin typeface="+mn-lt"/>
                            </a:rPr>
                            <a:t>D </a:t>
                          </a:r>
                          <a:r>
                            <a:rPr kumimoji="0" lang="en-US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itchFamily="18" charset="2"/>
                            </a:rPr>
                            <a:t></a:t>
                          </a:r>
                          <a:r>
                            <a:rPr lang="en-BD" sz="2000" dirty="0">
                              <a:latin typeface="+mn-lt"/>
                            </a:rPr>
                            <a:t> EF</a:t>
                          </a:r>
                        </a:p>
                        <a:p>
                          <a:endParaRPr lang="en-BD" sz="20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D" sz="200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8297429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D" sz="200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D" sz="200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D" sz="200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D"/>
                        </a:p>
                      </a:txBody>
                      <a:tcPr>
                        <a:blipFill>
                          <a:blip r:embed="rId2"/>
                          <a:stretch>
                            <a:fillRect l="-399038" t="-476786" r="-300962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E </a:t>
                          </a:r>
                          <a:r>
                            <a:rPr kumimoji="0" lang="en-US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itchFamily="18" charset="2"/>
                            </a:rPr>
                            <a:t></a:t>
                          </a:r>
                          <a:r>
                            <a:rPr lang="en-BD" sz="2000" dirty="0">
                              <a:latin typeface="+mn-lt"/>
                            </a:rPr>
                            <a:t> g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D"/>
                        </a:p>
                      </a:txBody>
                      <a:tcPr>
                        <a:blipFill>
                          <a:blip r:embed="rId2"/>
                          <a:stretch>
                            <a:fillRect l="-598077" t="-476786" r="-101923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BD" sz="200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25520761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D" sz="200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D" sz="200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D" sz="200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BD" sz="2000" dirty="0">
                              <a:latin typeface="+mn-lt"/>
                            </a:rPr>
                            <a:t>F </a:t>
                          </a:r>
                          <a:r>
                            <a:rPr kumimoji="0" lang="en-US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itchFamily="18" charset="2"/>
                            </a:rPr>
                            <a:t></a:t>
                          </a:r>
                          <a:r>
                            <a:rPr lang="en-BD" sz="2000" dirty="0">
                              <a:latin typeface="+mn-lt"/>
                            </a:rPr>
                            <a:t> f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D" sz="200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BD"/>
                        </a:p>
                      </a:txBody>
                      <a:tcPr>
                        <a:blipFill>
                          <a:blip r:embed="rId2"/>
                          <a:stretch>
                            <a:fillRect l="-598077" t="-587273" r="-101923" b="-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BD" sz="2000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5137718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534064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E2A5A-E8BC-758E-7E91-A7755F675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Stack Implementation</a:t>
            </a:r>
            <a:endParaRPr lang="en-B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0CCDDE7-4B50-B009-58BA-7EC2505A1C0F}"/>
                  </a:ext>
                </a:extLst>
              </p:cNvPr>
              <p:cNvSpPr txBox="1"/>
              <p:nvPr/>
            </p:nvSpPr>
            <p:spPr>
              <a:xfrm>
                <a:off x="838200" y="1989933"/>
                <a:ext cx="4961709" cy="40934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FontTx/>
                  <a:buNone/>
                </a:pPr>
                <a:r>
                  <a:rPr lang="en-US" sz="2000" b="1" u="sng" dirty="0">
                    <a:sym typeface="Symbol" pitchFamily="18" charset="2"/>
                  </a:rPr>
                  <a:t>stack</a:t>
                </a:r>
                <a:r>
                  <a:rPr lang="en-US" sz="2000" dirty="0">
                    <a:sym typeface="Symbol" pitchFamily="18" charset="2"/>
                  </a:rPr>
                  <a:t>		</a:t>
                </a:r>
                <a:r>
                  <a:rPr lang="en-US" sz="2000" b="1" u="sng" dirty="0">
                    <a:sym typeface="Symbol" pitchFamily="18" charset="2"/>
                  </a:rPr>
                  <a:t>input</a:t>
                </a:r>
                <a:r>
                  <a:rPr lang="en-US" sz="2000" dirty="0">
                    <a:sym typeface="Symbol" pitchFamily="18" charset="2"/>
                  </a:rPr>
                  <a:t>		</a:t>
                </a:r>
                <a:r>
                  <a:rPr lang="en-US" sz="2000" b="1" u="sng" dirty="0">
                    <a:sym typeface="Symbol" pitchFamily="18" charset="2"/>
                  </a:rPr>
                  <a:t>output</a:t>
                </a:r>
              </a:p>
              <a:p>
                <a:pPr>
                  <a:buFontTx/>
                  <a:buNone/>
                </a:pPr>
                <a:r>
                  <a:rPr lang="en-US" sz="2000" dirty="0">
                    <a:sym typeface="Symbol" pitchFamily="18" charset="2"/>
                  </a:rPr>
                  <a:t>$</a:t>
                </a:r>
                <a:r>
                  <a:rPr lang="en-US" sz="2000" dirty="0">
                    <a:solidFill>
                      <a:srgbClr val="FF0000"/>
                    </a:solidFill>
                    <a:sym typeface="Symbol" pitchFamily="18" charset="2"/>
                  </a:rPr>
                  <a:t>S</a:t>
                </a:r>
                <a:r>
                  <a:rPr lang="en-US" sz="2000" dirty="0">
                    <a:sym typeface="Symbol" pitchFamily="18" charset="2"/>
                  </a:rPr>
                  <a:t>		</a:t>
                </a:r>
                <a:r>
                  <a:rPr lang="en-US" sz="2000" dirty="0" err="1">
                    <a:solidFill>
                      <a:srgbClr val="FF0000"/>
                    </a:solidFill>
                    <a:sym typeface="Symbol" pitchFamily="18" charset="2"/>
                  </a:rPr>
                  <a:t>a</a:t>
                </a:r>
                <a:r>
                  <a:rPr lang="en-US" sz="2000" dirty="0" err="1">
                    <a:sym typeface="Symbol" pitchFamily="18" charset="2"/>
                  </a:rPr>
                  <a:t>cbh</a:t>
                </a:r>
                <a:r>
                  <a:rPr lang="en-US" sz="2000" dirty="0">
                    <a:sym typeface="Symbol" pitchFamily="18" charset="2"/>
                  </a:rPr>
                  <a:t>$		S</a:t>
                </a:r>
                <a:r>
                  <a:rPr lang="en-US" sz="2000" dirty="0"/>
                  <a:t> </a:t>
                </a:r>
                <a:r>
                  <a:rPr lang="en-US" sz="2000" dirty="0">
                    <a:sym typeface="Symbol" pitchFamily="18" charset="2"/>
                  </a:rPr>
                  <a:t> </a:t>
                </a:r>
                <a:r>
                  <a:rPr lang="en-US" sz="2000" dirty="0" err="1">
                    <a:sym typeface="Symbol" pitchFamily="18" charset="2"/>
                  </a:rPr>
                  <a:t>aBDh</a:t>
                </a:r>
                <a:endParaRPr lang="en-US" sz="2000" dirty="0">
                  <a:sym typeface="Symbol" pitchFamily="18" charset="2"/>
                </a:endParaRPr>
              </a:p>
              <a:p>
                <a:pPr>
                  <a:buFontTx/>
                  <a:buNone/>
                </a:pPr>
                <a:r>
                  <a:rPr lang="en-US" sz="2000" dirty="0"/>
                  <a:t>$ </a:t>
                </a:r>
                <a:r>
                  <a:rPr lang="en-US" sz="2000" dirty="0" err="1"/>
                  <a:t>hDB</a:t>
                </a:r>
                <a:r>
                  <a:rPr lang="en-US" sz="2000" dirty="0" err="1">
                    <a:solidFill>
                      <a:srgbClr val="FF0000"/>
                    </a:solidFill>
                  </a:rPr>
                  <a:t>a</a:t>
                </a:r>
                <a:r>
                  <a:rPr lang="en-US" sz="2000" dirty="0"/>
                  <a:t>		</a:t>
                </a:r>
                <a:r>
                  <a:rPr lang="en-US" sz="2000" dirty="0" err="1">
                    <a:solidFill>
                      <a:srgbClr val="FF0000"/>
                    </a:solidFill>
                    <a:sym typeface="Symbol" pitchFamily="18" charset="2"/>
                  </a:rPr>
                  <a:t>a</a:t>
                </a:r>
                <a:r>
                  <a:rPr lang="en-US" sz="2000" dirty="0" err="1">
                    <a:sym typeface="Symbol" pitchFamily="18" charset="2"/>
                  </a:rPr>
                  <a:t>cbh</a:t>
                </a:r>
                <a:r>
                  <a:rPr lang="en-US" sz="2000" dirty="0">
                    <a:sym typeface="Symbol" pitchFamily="18" charset="2"/>
                  </a:rPr>
                  <a:t>$ </a:t>
                </a:r>
                <a:r>
                  <a:rPr lang="en-US" sz="2000" dirty="0"/>
                  <a:t>		Pop</a:t>
                </a:r>
              </a:p>
              <a:p>
                <a:pPr>
                  <a:buFontTx/>
                  <a:buNone/>
                </a:pPr>
                <a:r>
                  <a:rPr lang="en-US" sz="2000" dirty="0">
                    <a:sym typeface="Symbol" pitchFamily="18" charset="2"/>
                  </a:rPr>
                  <a:t>$ </a:t>
                </a:r>
                <a:r>
                  <a:rPr lang="en-US" sz="2000" dirty="0" err="1"/>
                  <a:t>hD</a:t>
                </a:r>
                <a:r>
                  <a:rPr lang="en-US" sz="2000" dirty="0" err="1">
                    <a:solidFill>
                      <a:srgbClr val="FF0000"/>
                    </a:solidFill>
                  </a:rPr>
                  <a:t>B</a:t>
                </a:r>
                <a:r>
                  <a:rPr lang="en-US" sz="2000" dirty="0"/>
                  <a:t>		</a:t>
                </a:r>
                <a:r>
                  <a:rPr lang="en-US" sz="2000" dirty="0" err="1">
                    <a:solidFill>
                      <a:srgbClr val="FF0000"/>
                    </a:solidFill>
                  </a:rPr>
                  <a:t>c</a:t>
                </a:r>
                <a:r>
                  <a:rPr lang="en-US" sz="2000" dirty="0" err="1"/>
                  <a:t>bh</a:t>
                </a:r>
                <a:r>
                  <a:rPr lang="en-US" sz="2000" dirty="0"/>
                  <a:t>$		B </a:t>
                </a:r>
                <a:r>
                  <a:rPr lang="en-US" sz="2000" dirty="0">
                    <a:sym typeface="Symbol" pitchFamily="18" charset="2"/>
                  </a:rPr>
                  <a:t> </a:t>
                </a:r>
                <a:r>
                  <a:rPr lang="en-US" sz="2000" dirty="0" err="1">
                    <a:sym typeface="Symbol" pitchFamily="18" charset="2"/>
                  </a:rPr>
                  <a:t>cC</a:t>
                </a:r>
                <a:endParaRPr lang="en-US" sz="2000" dirty="0">
                  <a:sym typeface="Symbol" pitchFamily="18" charset="2"/>
                </a:endParaRPr>
              </a:p>
              <a:p>
                <a:pPr>
                  <a:buFontTx/>
                  <a:buNone/>
                </a:pPr>
                <a:r>
                  <a:rPr lang="en-US" sz="2000" dirty="0">
                    <a:sym typeface="Symbol" pitchFamily="18" charset="2"/>
                  </a:rPr>
                  <a:t>$ </a:t>
                </a:r>
                <a:r>
                  <a:rPr lang="en-US" sz="2000" dirty="0" err="1"/>
                  <a:t>hDC</a:t>
                </a:r>
                <a:r>
                  <a:rPr lang="en-US" sz="2000" dirty="0" err="1">
                    <a:solidFill>
                      <a:srgbClr val="FF0000"/>
                    </a:solidFill>
                  </a:rPr>
                  <a:t>c</a:t>
                </a:r>
                <a:r>
                  <a:rPr lang="en-US" sz="2000" dirty="0"/>
                  <a:t>		</a:t>
                </a:r>
                <a:r>
                  <a:rPr lang="en-US" sz="2000" dirty="0" err="1">
                    <a:solidFill>
                      <a:srgbClr val="FF0000"/>
                    </a:solidFill>
                  </a:rPr>
                  <a:t>c</a:t>
                </a:r>
                <a:r>
                  <a:rPr lang="en-US" sz="2000" dirty="0" err="1"/>
                  <a:t>bh</a:t>
                </a:r>
                <a:r>
                  <a:rPr lang="en-US" sz="2000" dirty="0"/>
                  <a:t>$		Pop</a:t>
                </a:r>
              </a:p>
              <a:p>
                <a:pPr>
                  <a:buFontTx/>
                  <a:buNone/>
                </a:pPr>
                <a:r>
                  <a:rPr lang="en-US" sz="2000" dirty="0">
                    <a:sym typeface="Symbol" pitchFamily="18" charset="2"/>
                  </a:rPr>
                  <a:t>$ </a:t>
                </a:r>
                <a:r>
                  <a:rPr lang="en-US" sz="2000" dirty="0" err="1"/>
                  <a:t>hD</a:t>
                </a:r>
                <a:r>
                  <a:rPr lang="en-US" sz="2000" dirty="0" err="1">
                    <a:solidFill>
                      <a:srgbClr val="FF0000"/>
                    </a:solidFill>
                  </a:rPr>
                  <a:t>C</a:t>
                </a:r>
                <a:r>
                  <a:rPr lang="en-US" sz="2000" dirty="0"/>
                  <a:t>		</a:t>
                </a:r>
                <a:r>
                  <a:rPr lang="en-US" sz="2000" dirty="0" err="1">
                    <a:solidFill>
                      <a:srgbClr val="FF0000"/>
                    </a:solidFill>
                  </a:rPr>
                  <a:t>b</a:t>
                </a:r>
                <a:r>
                  <a:rPr lang="en-US" sz="2000" dirty="0" err="1"/>
                  <a:t>h</a:t>
                </a:r>
                <a:r>
                  <a:rPr lang="en-US" sz="2000" dirty="0"/>
                  <a:t>$		</a:t>
                </a:r>
                <a:r>
                  <a:rPr lang="en-US" sz="2000" dirty="0">
                    <a:sym typeface="Symbol" pitchFamily="18" charset="2"/>
                  </a:rPr>
                  <a:t>C  </a:t>
                </a:r>
                <a:r>
                  <a:rPr lang="en-US" sz="2000" dirty="0" err="1">
                    <a:sym typeface="Symbol" pitchFamily="18" charset="2"/>
                  </a:rPr>
                  <a:t>bC</a:t>
                </a:r>
                <a:endParaRPr lang="en-US" sz="2000" dirty="0"/>
              </a:p>
              <a:p>
                <a:pPr>
                  <a:buFontTx/>
                  <a:buNone/>
                </a:pPr>
                <a:r>
                  <a:rPr lang="en-US" sz="2000" dirty="0">
                    <a:sym typeface="Symbol" pitchFamily="18" charset="2"/>
                  </a:rPr>
                  <a:t>$ </a:t>
                </a:r>
                <a:r>
                  <a:rPr lang="en-US" sz="2000" dirty="0" err="1"/>
                  <a:t>hDC</a:t>
                </a:r>
                <a:r>
                  <a:rPr lang="en-US" sz="2000" dirty="0" err="1">
                    <a:solidFill>
                      <a:srgbClr val="FF0000"/>
                    </a:solidFill>
                  </a:rPr>
                  <a:t>b</a:t>
                </a:r>
                <a:r>
                  <a:rPr lang="en-US" sz="2000" dirty="0"/>
                  <a:t>		</a:t>
                </a:r>
                <a:r>
                  <a:rPr lang="en-US" sz="2000" dirty="0" err="1">
                    <a:solidFill>
                      <a:srgbClr val="FF0000"/>
                    </a:solidFill>
                  </a:rPr>
                  <a:t>b</a:t>
                </a:r>
                <a:r>
                  <a:rPr lang="en-US" sz="2000" dirty="0" err="1"/>
                  <a:t>h</a:t>
                </a:r>
                <a:r>
                  <a:rPr lang="en-US" sz="2000" dirty="0"/>
                  <a:t>$		Pop</a:t>
                </a:r>
              </a:p>
              <a:p>
                <a:r>
                  <a:rPr lang="en-US" sz="2000" dirty="0">
                    <a:sym typeface="Symbol" pitchFamily="18" charset="2"/>
                  </a:rPr>
                  <a:t>$ </a:t>
                </a:r>
                <a:r>
                  <a:rPr lang="en-US" sz="2000" dirty="0" err="1">
                    <a:sym typeface="Symbol" pitchFamily="18" charset="2"/>
                  </a:rPr>
                  <a:t>hD</a:t>
                </a:r>
                <a:r>
                  <a:rPr lang="en-US" sz="2000" dirty="0" err="1">
                    <a:solidFill>
                      <a:srgbClr val="FF0000"/>
                    </a:solidFill>
                    <a:sym typeface="Symbol" pitchFamily="18" charset="2"/>
                  </a:rPr>
                  <a:t>C</a:t>
                </a:r>
                <a:r>
                  <a:rPr lang="en-US" sz="2000" dirty="0"/>
                  <a:t>		</a:t>
                </a:r>
                <a:r>
                  <a:rPr lang="en-US" sz="2000" dirty="0">
                    <a:solidFill>
                      <a:srgbClr val="FF0000"/>
                    </a:solidFill>
                  </a:rPr>
                  <a:t>h</a:t>
                </a:r>
                <a:r>
                  <a:rPr lang="en-US" sz="2000" dirty="0"/>
                  <a:t>$		</a:t>
                </a:r>
                <a:r>
                  <a:rPr lang="en-BD" sz="2000" dirty="0">
                    <a:latin typeface="+mn-lt"/>
                  </a:rPr>
                  <a:t>C </a:t>
                </a:r>
                <a:r>
                  <a:rPr kumimoji="0" 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  <a:sym typeface="Symbol" pitchFamily="18" charset="2"/>
                  </a:rPr>
                  <a:t></a:t>
                </a:r>
                <a:r>
                  <a:rPr lang="en-BD" sz="2000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BD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endParaRPr lang="en-US" sz="2000" dirty="0"/>
              </a:p>
              <a:p>
                <a:pPr>
                  <a:buFontTx/>
                  <a:buNone/>
                </a:pPr>
                <a:r>
                  <a:rPr lang="en-US" sz="2000" dirty="0">
                    <a:sym typeface="Symbol" pitchFamily="18" charset="2"/>
                  </a:rPr>
                  <a:t>$ </a:t>
                </a:r>
                <a:r>
                  <a:rPr lang="en-US" sz="2000" dirty="0" err="1">
                    <a:sym typeface="Symbol" pitchFamily="18" charset="2"/>
                  </a:rPr>
                  <a:t>h</a:t>
                </a:r>
                <a:r>
                  <a:rPr lang="en-US" sz="2000" dirty="0" err="1">
                    <a:solidFill>
                      <a:srgbClr val="FF0000"/>
                    </a:solidFill>
                    <a:sym typeface="Symbol" pitchFamily="18" charset="2"/>
                  </a:rPr>
                  <a:t>D</a:t>
                </a:r>
                <a:r>
                  <a:rPr lang="en-US" sz="2000" dirty="0"/>
                  <a:t>		</a:t>
                </a:r>
                <a:r>
                  <a:rPr lang="en-US" sz="2000" dirty="0">
                    <a:solidFill>
                      <a:srgbClr val="FF0000"/>
                    </a:solidFill>
                  </a:rPr>
                  <a:t>h</a:t>
                </a:r>
                <a:r>
                  <a:rPr lang="en-US" sz="2000" dirty="0"/>
                  <a:t>$		D </a:t>
                </a:r>
                <a:r>
                  <a:rPr lang="en-US" sz="2000" dirty="0">
                    <a:sym typeface="Symbol" pitchFamily="18" charset="2"/>
                  </a:rPr>
                  <a:t> EF</a:t>
                </a:r>
                <a:endParaRPr lang="en-US" sz="2000" baseline="30000" dirty="0">
                  <a:sym typeface="Symbol" pitchFamily="18" charset="2"/>
                </a:endParaRPr>
              </a:p>
              <a:p>
                <a:r>
                  <a:rPr lang="en-US" sz="2000" dirty="0">
                    <a:sym typeface="Symbol" pitchFamily="18" charset="2"/>
                  </a:rPr>
                  <a:t>$ </a:t>
                </a:r>
                <a:r>
                  <a:rPr lang="en-US" sz="2000" dirty="0" err="1">
                    <a:sym typeface="Symbol" pitchFamily="18" charset="2"/>
                  </a:rPr>
                  <a:t>hF</a:t>
                </a:r>
                <a:r>
                  <a:rPr lang="en-US" sz="2000" dirty="0" err="1">
                    <a:solidFill>
                      <a:srgbClr val="FF0000"/>
                    </a:solidFill>
                    <a:sym typeface="Symbol" pitchFamily="18" charset="2"/>
                  </a:rPr>
                  <a:t>E</a:t>
                </a:r>
                <a:r>
                  <a:rPr lang="en-US" sz="2000" dirty="0">
                    <a:sym typeface="Symbol" pitchFamily="18" charset="2"/>
                  </a:rPr>
                  <a:t>		</a:t>
                </a:r>
                <a:r>
                  <a:rPr lang="en-US" sz="2000" dirty="0">
                    <a:solidFill>
                      <a:srgbClr val="FF0000"/>
                    </a:solidFill>
                    <a:sym typeface="Symbol" pitchFamily="18" charset="2"/>
                  </a:rPr>
                  <a:t>h</a:t>
                </a:r>
                <a:r>
                  <a:rPr lang="en-US" sz="2000" dirty="0"/>
                  <a:t>$		</a:t>
                </a:r>
                <a:r>
                  <a:rPr lang="en-BD" sz="2000" dirty="0">
                    <a:latin typeface="+mn-lt"/>
                  </a:rPr>
                  <a:t>E </a:t>
                </a:r>
                <a:r>
                  <a:rPr kumimoji="0" 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  <a:sym typeface="Symbol" pitchFamily="18" charset="2"/>
                  </a:rPr>
                  <a:t></a:t>
                </a:r>
                <a:r>
                  <a:rPr lang="en-BD" sz="2000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BD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endParaRPr lang="en-US" sz="2000" dirty="0">
                  <a:sym typeface="Symbol" pitchFamily="18" charset="2"/>
                </a:endParaRPr>
              </a:p>
              <a:p>
                <a:r>
                  <a:rPr lang="en-US" sz="2000" dirty="0">
                    <a:sym typeface="Symbol" pitchFamily="18" charset="2"/>
                  </a:rPr>
                  <a:t>$ </a:t>
                </a:r>
                <a:r>
                  <a:rPr lang="en-US" sz="2000" dirty="0" err="1">
                    <a:sym typeface="Symbol" pitchFamily="18" charset="2"/>
                  </a:rPr>
                  <a:t>h</a:t>
                </a:r>
                <a:r>
                  <a:rPr lang="en-US" sz="2000" dirty="0" err="1">
                    <a:solidFill>
                      <a:srgbClr val="FF0000"/>
                    </a:solidFill>
                    <a:sym typeface="Symbol" pitchFamily="18" charset="2"/>
                  </a:rPr>
                  <a:t>F</a:t>
                </a:r>
                <a:r>
                  <a:rPr lang="en-US" sz="2000" dirty="0">
                    <a:sym typeface="Symbol" pitchFamily="18" charset="2"/>
                  </a:rPr>
                  <a:t>		</a:t>
                </a:r>
                <a:r>
                  <a:rPr lang="en-US" sz="2000" dirty="0">
                    <a:solidFill>
                      <a:srgbClr val="FF0000"/>
                    </a:solidFill>
                    <a:sym typeface="Symbol" pitchFamily="18" charset="2"/>
                  </a:rPr>
                  <a:t>h</a:t>
                </a:r>
                <a:r>
                  <a:rPr lang="en-US" sz="2000" dirty="0"/>
                  <a:t>$		</a:t>
                </a:r>
                <a:r>
                  <a:rPr lang="en-BD" sz="2000" dirty="0"/>
                  <a:t>F</a:t>
                </a:r>
                <a:r>
                  <a:rPr lang="en-BD" sz="2000" dirty="0">
                    <a:latin typeface="+mn-lt"/>
                  </a:rPr>
                  <a:t> </a:t>
                </a:r>
                <a:r>
                  <a:rPr kumimoji="0" 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  <a:sym typeface="Symbol" pitchFamily="18" charset="2"/>
                  </a:rPr>
                  <a:t></a:t>
                </a:r>
                <a:r>
                  <a:rPr lang="en-BD" sz="2000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BD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endParaRPr lang="en-US" sz="2000" dirty="0"/>
              </a:p>
              <a:p>
                <a:r>
                  <a:rPr lang="en-US" sz="2000" dirty="0">
                    <a:sym typeface="Symbol" pitchFamily="18" charset="2"/>
                  </a:rPr>
                  <a:t>$ </a:t>
                </a:r>
                <a:r>
                  <a:rPr lang="en-US" sz="2000" dirty="0">
                    <a:solidFill>
                      <a:srgbClr val="FF0000"/>
                    </a:solidFill>
                    <a:sym typeface="Symbol" pitchFamily="18" charset="2"/>
                  </a:rPr>
                  <a:t>h</a:t>
                </a:r>
                <a:r>
                  <a:rPr lang="en-US" sz="2000" dirty="0">
                    <a:sym typeface="Symbol" pitchFamily="18" charset="2"/>
                  </a:rPr>
                  <a:t>		</a:t>
                </a:r>
                <a:r>
                  <a:rPr lang="en-US" sz="2000" dirty="0">
                    <a:solidFill>
                      <a:srgbClr val="FF0000"/>
                    </a:solidFill>
                    <a:sym typeface="Symbol" pitchFamily="18" charset="2"/>
                  </a:rPr>
                  <a:t>h</a:t>
                </a:r>
                <a:r>
                  <a:rPr lang="en-US" sz="2000" dirty="0">
                    <a:sym typeface="Symbol" pitchFamily="18" charset="2"/>
                  </a:rPr>
                  <a:t>$		</a:t>
                </a:r>
                <a:r>
                  <a:rPr lang="en-US" sz="2000" dirty="0"/>
                  <a:t>Pop</a:t>
                </a:r>
                <a:endParaRPr lang="en-US" sz="2000" dirty="0">
                  <a:sym typeface="Symbol" pitchFamily="18" charset="2"/>
                </a:endParaRPr>
              </a:p>
              <a:p>
                <a:pPr>
                  <a:buFontTx/>
                  <a:buNone/>
                </a:pPr>
                <a:r>
                  <a:rPr lang="en-US" sz="2000" dirty="0">
                    <a:solidFill>
                      <a:srgbClr val="FF0000"/>
                    </a:solidFill>
                    <a:sym typeface="Symbol" pitchFamily="18" charset="2"/>
                  </a:rPr>
                  <a:t>$</a:t>
                </a:r>
                <a:r>
                  <a:rPr lang="en-US" sz="2000" dirty="0">
                    <a:sym typeface="Symbol" pitchFamily="18" charset="2"/>
                  </a:rPr>
                  <a:t>		</a:t>
                </a:r>
                <a:r>
                  <a:rPr lang="en-US" sz="2000" dirty="0">
                    <a:solidFill>
                      <a:srgbClr val="FF0000"/>
                    </a:solidFill>
                    <a:sym typeface="Symbol" pitchFamily="18" charset="2"/>
                  </a:rPr>
                  <a:t>$</a:t>
                </a:r>
                <a:r>
                  <a:rPr lang="en-US" sz="2000" dirty="0">
                    <a:sym typeface="Symbol" pitchFamily="18" charset="2"/>
                  </a:rPr>
                  <a:t>		accept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0CCDDE7-4B50-B009-58BA-7EC2505A1C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89933"/>
                <a:ext cx="4961709" cy="4093428"/>
              </a:xfrm>
              <a:prstGeom prst="rect">
                <a:avLst/>
              </a:prstGeom>
              <a:blipFill>
                <a:blip r:embed="rId2"/>
                <a:stretch>
                  <a:fillRect l="-1535" t="-617" r="-1023" b="-1543"/>
                </a:stretch>
              </a:blipFill>
            </p:spPr>
            <p:txBody>
              <a:bodyPr/>
              <a:lstStyle/>
              <a:p>
                <a:r>
                  <a:rPr lang="en-B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table with text and symbols&#10;&#10;Description automatically generated">
            <a:extLst>
              <a:ext uri="{FF2B5EF4-FFF2-40B4-BE49-F238E27FC236}">
                <a16:creationId xmlns:a16="http://schemas.microsoft.com/office/drawing/2014/main" id="{39E75329-F25B-67AB-FA4F-B2DE748549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9909" y="1876722"/>
            <a:ext cx="5699941" cy="440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7666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498BD-CA9F-B06B-E28F-FFB7CBE38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Creating Parse Tree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9B08D94-9C06-1F34-50F5-5DBDBB12CA9F}"/>
                  </a:ext>
                </a:extLst>
              </p:cNvPr>
              <p:cNvSpPr txBox="1"/>
              <p:nvPr/>
            </p:nvSpPr>
            <p:spPr>
              <a:xfrm>
                <a:off x="838200" y="1989933"/>
                <a:ext cx="4961709" cy="40934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FontTx/>
                  <a:buNone/>
                </a:pPr>
                <a:r>
                  <a:rPr lang="en-US" sz="2000" b="1" u="sng" dirty="0">
                    <a:sym typeface="Symbol" pitchFamily="18" charset="2"/>
                  </a:rPr>
                  <a:t>stack</a:t>
                </a:r>
                <a:r>
                  <a:rPr lang="en-US" sz="2000" dirty="0">
                    <a:sym typeface="Symbol" pitchFamily="18" charset="2"/>
                  </a:rPr>
                  <a:t>		</a:t>
                </a:r>
                <a:r>
                  <a:rPr lang="en-US" sz="2000" b="1" u="sng" dirty="0">
                    <a:sym typeface="Symbol" pitchFamily="18" charset="2"/>
                  </a:rPr>
                  <a:t>input</a:t>
                </a:r>
                <a:r>
                  <a:rPr lang="en-US" sz="2000" dirty="0">
                    <a:sym typeface="Symbol" pitchFamily="18" charset="2"/>
                  </a:rPr>
                  <a:t>		</a:t>
                </a:r>
                <a:r>
                  <a:rPr lang="en-US" sz="2000" b="1" u="sng" dirty="0">
                    <a:sym typeface="Symbol" pitchFamily="18" charset="2"/>
                  </a:rPr>
                  <a:t>output</a:t>
                </a:r>
              </a:p>
              <a:p>
                <a:pPr>
                  <a:buFontTx/>
                  <a:buNone/>
                </a:pPr>
                <a:r>
                  <a:rPr lang="en-US" sz="2000" dirty="0">
                    <a:sym typeface="Symbol" pitchFamily="18" charset="2"/>
                  </a:rPr>
                  <a:t>$</a:t>
                </a:r>
                <a:r>
                  <a:rPr lang="en-US" sz="2000" dirty="0">
                    <a:solidFill>
                      <a:srgbClr val="FF0000"/>
                    </a:solidFill>
                    <a:sym typeface="Symbol" pitchFamily="18" charset="2"/>
                  </a:rPr>
                  <a:t>S</a:t>
                </a:r>
                <a:r>
                  <a:rPr lang="en-US" sz="2000" dirty="0">
                    <a:sym typeface="Symbol" pitchFamily="18" charset="2"/>
                  </a:rPr>
                  <a:t>		</a:t>
                </a:r>
                <a:r>
                  <a:rPr lang="en-US" sz="2000" dirty="0" err="1">
                    <a:solidFill>
                      <a:srgbClr val="FF0000"/>
                    </a:solidFill>
                    <a:sym typeface="Symbol" pitchFamily="18" charset="2"/>
                  </a:rPr>
                  <a:t>a</a:t>
                </a:r>
                <a:r>
                  <a:rPr lang="en-US" sz="2000" dirty="0" err="1">
                    <a:sym typeface="Symbol" pitchFamily="18" charset="2"/>
                  </a:rPr>
                  <a:t>cbh</a:t>
                </a:r>
                <a:r>
                  <a:rPr lang="en-US" sz="2000" dirty="0">
                    <a:sym typeface="Symbol" pitchFamily="18" charset="2"/>
                  </a:rPr>
                  <a:t>$		S</a:t>
                </a:r>
                <a:r>
                  <a:rPr lang="en-US" sz="2000" dirty="0"/>
                  <a:t> </a:t>
                </a:r>
                <a:r>
                  <a:rPr lang="en-US" sz="2000" dirty="0">
                    <a:sym typeface="Symbol" pitchFamily="18" charset="2"/>
                  </a:rPr>
                  <a:t> </a:t>
                </a:r>
                <a:r>
                  <a:rPr lang="en-US" sz="2000" dirty="0" err="1">
                    <a:sym typeface="Symbol" pitchFamily="18" charset="2"/>
                  </a:rPr>
                  <a:t>aBDh</a:t>
                </a:r>
                <a:endParaRPr lang="en-US" sz="2000" dirty="0">
                  <a:sym typeface="Symbol" pitchFamily="18" charset="2"/>
                </a:endParaRPr>
              </a:p>
              <a:p>
                <a:pPr>
                  <a:buFontTx/>
                  <a:buNone/>
                </a:pPr>
                <a:r>
                  <a:rPr lang="en-US" sz="2000" dirty="0"/>
                  <a:t>$ </a:t>
                </a:r>
                <a:r>
                  <a:rPr lang="en-US" sz="2000" dirty="0" err="1"/>
                  <a:t>hDB</a:t>
                </a:r>
                <a:r>
                  <a:rPr lang="en-US" sz="2000" dirty="0" err="1">
                    <a:solidFill>
                      <a:srgbClr val="FF0000"/>
                    </a:solidFill>
                  </a:rPr>
                  <a:t>a</a:t>
                </a:r>
                <a:r>
                  <a:rPr lang="en-US" sz="2000" dirty="0"/>
                  <a:t>		</a:t>
                </a:r>
                <a:r>
                  <a:rPr lang="en-US" sz="2000" dirty="0" err="1">
                    <a:solidFill>
                      <a:srgbClr val="FF0000"/>
                    </a:solidFill>
                    <a:sym typeface="Symbol" pitchFamily="18" charset="2"/>
                  </a:rPr>
                  <a:t>a</a:t>
                </a:r>
                <a:r>
                  <a:rPr lang="en-US" sz="2000" dirty="0" err="1">
                    <a:sym typeface="Symbol" pitchFamily="18" charset="2"/>
                  </a:rPr>
                  <a:t>cbh</a:t>
                </a:r>
                <a:r>
                  <a:rPr lang="en-US" sz="2000" dirty="0">
                    <a:sym typeface="Symbol" pitchFamily="18" charset="2"/>
                  </a:rPr>
                  <a:t>$ </a:t>
                </a:r>
                <a:r>
                  <a:rPr lang="en-US" sz="2000" dirty="0"/>
                  <a:t>		Pop</a:t>
                </a:r>
              </a:p>
              <a:p>
                <a:pPr>
                  <a:buFontTx/>
                  <a:buNone/>
                </a:pPr>
                <a:r>
                  <a:rPr lang="en-US" sz="2000" dirty="0">
                    <a:sym typeface="Symbol" pitchFamily="18" charset="2"/>
                  </a:rPr>
                  <a:t>$ </a:t>
                </a:r>
                <a:r>
                  <a:rPr lang="en-US" sz="2000" dirty="0" err="1"/>
                  <a:t>hD</a:t>
                </a:r>
                <a:r>
                  <a:rPr lang="en-US" sz="2000" dirty="0" err="1">
                    <a:solidFill>
                      <a:srgbClr val="FF0000"/>
                    </a:solidFill>
                  </a:rPr>
                  <a:t>B</a:t>
                </a:r>
                <a:r>
                  <a:rPr lang="en-US" sz="2000" dirty="0"/>
                  <a:t>		</a:t>
                </a:r>
                <a:r>
                  <a:rPr lang="en-US" sz="2000" dirty="0" err="1">
                    <a:solidFill>
                      <a:srgbClr val="FF0000"/>
                    </a:solidFill>
                  </a:rPr>
                  <a:t>c</a:t>
                </a:r>
                <a:r>
                  <a:rPr lang="en-US" sz="2000" dirty="0" err="1"/>
                  <a:t>bh</a:t>
                </a:r>
                <a:r>
                  <a:rPr lang="en-US" sz="2000" dirty="0"/>
                  <a:t>$		B </a:t>
                </a:r>
                <a:r>
                  <a:rPr lang="en-US" sz="2000" dirty="0">
                    <a:sym typeface="Symbol" pitchFamily="18" charset="2"/>
                  </a:rPr>
                  <a:t> </a:t>
                </a:r>
                <a:r>
                  <a:rPr lang="en-US" sz="2000" dirty="0" err="1">
                    <a:sym typeface="Symbol" pitchFamily="18" charset="2"/>
                  </a:rPr>
                  <a:t>cC</a:t>
                </a:r>
                <a:endParaRPr lang="en-US" sz="2000" dirty="0">
                  <a:sym typeface="Symbol" pitchFamily="18" charset="2"/>
                </a:endParaRPr>
              </a:p>
              <a:p>
                <a:pPr>
                  <a:buFontTx/>
                  <a:buNone/>
                </a:pPr>
                <a:r>
                  <a:rPr lang="en-US" sz="2000" dirty="0">
                    <a:sym typeface="Symbol" pitchFamily="18" charset="2"/>
                  </a:rPr>
                  <a:t>$ </a:t>
                </a:r>
                <a:r>
                  <a:rPr lang="en-US" sz="2000" dirty="0" err="1"/>
                  <a:t>hDC</a:t>
                </a:r>
                <a:r>
                  <a:rPr lang="en-US" sz="2000" dirty="0" err="1">
                    <a:solidFill>
                      <a:srgbClr val="FF0000"/>
                    </a:solidFill>
                  </a:rPr>
                  <a:t>c</a:t>
                </a:r>
                <a:r>
                  <a:rPr lang="en-US" sz="2000" dirty="0"/>
                  <a:t>		</a:t>
                </a:r>
                <a:r>
                  <a:rPr lang="en-US" sz="2000" dirty="0" err="1">
                    <a:solidFill>
                      <a:srgbClr val="FF0000"/>
                    </a:solidFill>
                  </a:rPr>
                  <a:t>c</a:t>
                </a:r>
                <a:r>
                  <a:rPr lang="en-US" sz="2000" dirty="0" err="1"/>
                  <a:t>bh</a:t>
                </a:r>
                <a:r>
                  <a:rPr lang="en-US" sz="2000" dirty="0"/>
                  <a:t>$		Pop</a:t>
                </a:r>
              </a:p>
              <a:p>
                <a:pPr>
                  <a:buFontTx/>
                  <a:buNone/>
                </a:pPr>
                <a:r>
                  <a:rPr lang="en-US" sz="2000" dirty="0">
                    <a:sym typeface="Symbol" pitchFamily="18" charset="2"/>
                  </a:rPr>
                  <a:t>$ </a:t>
                </a:r>
                <a:r>
                  <a:rPr lang="en-US" sz="2000" dirty="0" err="1"/>
                  <a:t>hD</a:t>
                </a:r>
                <a:r>
                  <a:rPr lang="en-US" sz="2000" dirty="0" err="1">
                    <a:solidFill>
                      <a:srgbClr val="FF0000"/>
                    </a:solidFill>
                  </a:rPr>
                  <a:t>C</a:t>
                </a:r>
                <a:r>
                  <a:rPr lang="en-US" sz="2000" dirty="0"/>
                  <a:t>		</a:t>
                </a:r>
                <a:r>
                  <a:rPr lang="en-US" sz="2000" dirty="0" err="1">
                    <a:solidFill>
                      <a:srgbClr val="FF0000"/>
                    </a:solidFill>
                  </a:rPr>
                  <a:t>b</a:t>
                </a:r>
                <a:r>
                  <a:rPr lang="en-US" sz="2000" dirty="0" err="1"/>
                  <a:t>h</a:t>
                </a:r>
                <a:r>
                  <a:rPr lang="en-US" sz="2000" dirty="0"/>
                  <a:t>$		</a:t>
                </a:r>
                <a:r>
                  <a:rPr lang="en-US" sz="2000" dirty="0">
                    <a:sym typeface="Symbol" pitchFamily="18" charset="2"/>
                  </a:rPr>
                  <a:t>C  </a:t>
                </a:r>
                <a:r>
                  <a:rPr lang="en-US" sz="2000" dirty="0" err="1">
                    <a:sym typeface="Symbol" pitchFamily="18" charset="2"/>
                  </a:rPr>
                  <a:t>bC</a:t>
                </a:r>
                <a:endParaRPr lang="en-US" sz="2000" dirty="0"/>
              </a:p>
              <a:p>
                <a:pPr>
                  <a:buFontTx/>
                  <a:buNone/>
                </a:pPr>
                <a:r>
                  <a:rPr lang="en-US" sz="2000" dirty="0">
                    <a:sym typeface="Symbol" pitchFamily="18" charset="2"/>
                  </a:rPr>
                  <a:t>$ </a:t>
                </a:r>
                <a:r>
                  <a:rPr lang="en-US" sz="2000" dirty="0" err="1"/>
                  <a:t>hDC</a:t>
                </a:r>
                <a:r>
                  <a:rPr lang="en-US" sz="2000" dirty="0" err="1">
                    <a:solidFill>
                      <a:srgbClr val="FF0000"/>
                    </a:solidFill>
                  </a:rPr>
                  <a:t>b</a:t>
                </a:r>
                <a:r>
                  <a:rPr lang="en-US" sz="2000" dirty="0"/>
                  <a:t>		</a:t>
                </a:r>
                <a:r>
                  <a:rPr lang="en-US" sz="2000" dirty="0" err="1">
                    <a:solidFill>
                      <a:srgbClr val="FF0000"/>
                    </a:solidFill>
                  </a:rPr>
                  <a:t>b</a:t>
                </a:r>
                <a:r>
                  <a:rPr lang="en-US" sz="2000" dirty="0" err="1"/>
                  <a:t>h</a:t>
                </a:r>
                <a:r>
                  <a:rPr lang="en-US" sz="2000" dirty="0"/>
                  <a:t>$		Pop</a:t>
                </a:r>
              </a:p>
              <a:p>
                <a:r>
                  <a:rPr lang="en-US" sz="2000" dirty="0">
                    <a:sym typeface="Symbol" pitchFamily="18" charset="2"/>
                  </a:rPr>
                  <a:t>$ </a:t>
                </a:r>
                <a:r>
                  <a:rPr lang="en-US" sz="2000" dirty="0" err="1">
                    <a:sym typeface="Symbol" pitchFamily="18" charset="2"/>
                  </a:rPr>
                  <a:t>hD</a:t>
                </a:r>
                <a:r>
                  <a:rPr lang="en-US" sz="2000" dirty="0" err="1">
                    <a:solidFill>
                      <a:srgbClr val="FF0000"/>
                    </a:solidFill>
                    <a:sym typeface="Symbol" pitchFamily="18" charset="2"/>
                  </a:rPr>
                  <a:t>C</a:t>
                </a:r>
                <a:r>
                  <a:rPr lang="en-US" sz="2000" dirty="0"/>
                  <a:t>		</a:t>
                </a:r>
                <a:r>
                  <a:rPr lang="en-US" sz="2000" dirty="0">
                    <a:solidFill>
                      <a:srgbClr val="FF0000"/>
                    </a:solidFill>
                  </a:rPr>
                  <a:t>h</a:t>
                </a:r>
                <a:r>
                  <a:rPr lang="en-US" sz="2000" dirty="0"/>
                  <a:t>$		</a:t>
                </a:r>
                <a:r>
                  <a:rPr lang="en-BD" sz="2000" dirty="0">
                    <a:latin typeface="+mn-lt"/>
                  </a:rPr>
                  <a:t>C </a:t>
                </a:r>
                <a:r>
                  <a:rPr kumimoji="0" 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  <a:sym typeface="Symbol" pitchFamily="18" charset="2"/>
                  </a:rPr>
                  <a:t></a:t>
                </a:r>
                <a:r>
                  <a:rPr lang="en-BD" sz="2000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BD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endParaRPr lang="en-US" sz="2000" dirty="0"/>
              </a:p>
              <a:p>
                <a:pPr>
                  <a:buFontTx/>
                  <a:buNone/>
                </a:pPr>
                <a:r>
                  <a:rPr lang="en-US" sz="2000" dirty="0">
                    <a:sym typeface="Symbol" pitchFamily="18" charset="2"/>
                  </a:rPr>
                  <a:t>$ </a:t>
                </a:r>
                <a:r>
                  <a:rPr lang="en-US" sz="2000" dirty="0" err="1">
                    <a:sym typeface="Symbol" pitchFamily="18" charset="2"/>
                  </a:rPr>
                  <a:t>h</a:t>
                </a:r>
                <a:r>
                  <a:rPr lang="en-US" sz="2000" dirty="0" err="1">
                    <a:solidFill>
                      <a:srgbClr val="FF0000"/>
                    </a:solidFill>
                    <a:sym typeface="Symbol" pitchFamily="18" charset="2"/>
                  </a:rPr>
                  <a:t>D</a:t>
                </a:r>
                <a:r>
                  <a:rPr lang="en-US" sz="2000" dirty="0"/>
                  <a:t>		</a:t>
                </a:r>
                <a:r>
                  <a:rPr lang="en-US" sz="2000" dirty="0">
                    <a:solidFill>
                      <a:srgbClr val="FF0000"/>
                    </a:solidFill>
                  </a:rPr>
                  <a:t>h</a:t>
                </a:r>
                <a:r>
                  <a:rPr lang="en-US" sz="2000" dirty="0"/>
                  <a:t>$		D </a:t>
                </a:r>
                <a:r>
                  <a:rPr lang="en-US" sz="2000" dirty="0">
                    <a:sym typeface="Symbol" pitchFamily="18" charset="2"/>
                  </a:rPr>
                  <a:t> EF</a:t>
                </a:r>
                <a:endParaRPr lang="en-US" sz="2000" baseline="30000" dirty="0">
                  <a:sym typeface="Symbol" pitchFamily="18" charset="2"/>
                </a:endParaRPr>
              </a:p>
              <a:p>
                <a:r>
                  <a:rPr lang="en-US" sz="2000" dirty="0">
                    <a:sym typeface="Symbol" pitchFamily="18" charset="2"/>
                  </a:rPr>
                  <a:t>$ </a:t>
                </a:r>
                <a:r>
                  <a:rPr lang="en-US" sz="2000" dirty="0" err="1">
                    <a:sym typeface="Symbol" pitchFamily="18" charset="2"/>
                  </a:rPr>
                  <a:t>hF</a:t>
                </a:r>
                <a:r>
                  <a:rPr lang="en-US" sz="2000" dirty="0" err="1">
                    <a:solidFill>
                      <a:srgbClr val="FF0000"/>
                    </a:solidFill>
                    <a:sym typeface="Symbol" pitchFamily="18" charset="2"/>
                  </a:rPr>
                  <a:t>E</a:t>
                </a:r>
                <a:r>
                  <a:rPr lang="en-US" sz="2000" dirty="0">
                    <a:sym typeface="Symbol" pitchFamily="18" charset="2"/>
                  </a:rPr>
                  <a:t>		</a:t>
                </a:r>
                <a:r>
                  <a:rPr lang="en-US" sz="2000" dirty="0">
                    <a:solidFill>
                      <a:srgbClr val="FF0000"/>
                    </a:solidFill>
                    <a:sym typeface="Symbol" pitchFamily="18" charset="2"/>
                  </a:rPr>
                  <a:t>h</a:t>
                </a:r>
                <a:r>
                  <a:rPr lang="en-US" sz="2000" dirty="0"/>
                  <a:t>$		</a:t>
                </a:r>
                <a:r>
                  <a:rPr lang="en-BD" sz="2000" dirty="0">
                    <a:latin typeface="+mn-lt"/>
                  </a:rPr>
                  <a:t>E </a:t>
                </a:r>
                <a:r>
                  <a:rPr kumimoji="0" 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  <a:sym typeface="Symbol" pitchFamily="18" charset="2"/>
                  </a:rPr>
                  <a:t></a:t>
                </a:r>
                <a:r>
                  <a:rPr lang="en-BD" sz="2000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BD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endParaRPr lang="en-US" sz="2000" dirty="0">
                  <a:sym typeface="Symbol" pitchFamily="18" charset="2"/>
                </a:endParaRPr>
              </a:p>
              <a:p>
                <a:r>
                  <a:rPr lang="en-US" sz="2000" dirty="0">
                    <a:sym typeface="Symbol" pitchFamily="18" charset="2"/>
                  </a:rPr>
                  <a:t>$ </a:t>
                </a:r>
                <a:r>
                  <a:rPr lang="en-US" sz="2000" dirty="0" err="1">
                    <a:sym typeface="Symbol" pitchFamily="18" charset="2"/>
                  </a:rPr>
                  <a:t>h</a:t>
                </a:r>
                <a:r>
                  <a:rPr lang="en-US" sz="2000" dirty="0" err="1">
                    <a:solidFill>
                      <a:srgbClr val="FF0000"/>
                    </a:solidFill>
                    <a:sym typeface="Symbol" pitchFamily="18" charset="2"/>
                  </a:rPr>
                  <a:t>F</a:t>
                </a:r>
                <a:r>
                  <a:rPr lang="en-US" sz="2000" dirty="0">
                    <a:sym typeface="Symbol" pitchFamily="18" charset="2"/>
                  </a:rPr>
                  <a:t>		</a:t>
                </a:r>
                <a:r>
                  <a:rPr lang="en-US" sz="2000" dirty="0">
                    <a:solidFill>
                      <a:srgbClr val="FF0000"/>
                    </a:solidFill>
                    <a:sym typeface="Symbol" pitchFamily="18" charset="2"/>
                  </a:rPr>
                  <a:t>h</a:t>
                </a:r>
                <a:r>
                  <a:rPr lang="en-US" sz="2000" dirty="0"/>
                  <a:t>$		</a:t>
                </a:r>
                <a:r>
                  <a:rPr lang="en-BD" sz="2000" dirty="0"/>
                  <a:t>F</a:t>
                </a:r>
                <a:r>
                  <a:rPr lang="en-BD" sz="2000" dirty="0">
                    <a:latin typeface="+mn-lt"/>
                  </a:rPr>
                  <a:t> </a:t>
                </a:r>
                <a:r>
                  <a:rPr kumimoji="0" 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lt"/>
                    <a:sym typeface="Symbol" pitchFamily="18" charset="2"/>
                  </a:rPr>
                  <a:t></a:t>
                </a:r>
                <a:r>
                  <a:rPr lang="en-BD" sz="2000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BD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endParaRPr lang="en-US" sz="2000" dirty="0"/>
              </a:p>
              <a:p>
                <a:r>
                  <a:rPr lang="en-US" sz="2000" dirty="0">
                    <a:sym typeface="Symbol" pitchFamily="18" charset="2"/>
                  </a:rPr>
                  <a:t>$ </a:t>
                </a:r>
                <a:r>
                  <a:rPr lang="en-US" sz="2000" dirty="0">
                    <a:solidFill>
                      <a:srgbClr val="FF0000"/>
                    </a:solidFill>
                    <a:sym typeface="Symbol" pitchFamily="18" charset="2"/>
                  </a:rPr>
                  <a:t>h</a:t>
                </a:r>
                <a:r>
                  <a:rPr lang="en-US" sz="2000" dirty="0">
                    <a:sym typeface="Symbol" pitchFamily="18" charset="2"/>
                  </a:rPr>
                  <a:t>		</a:t>
                </a:r>
                <a:r>
                  <a:rPr lang="en-US" sz="2000" dirty="0">
                    <a:solidFill>
                      <a:srgbClr val="FF0000"/>
                    </a:solidFill>
                    <a:sym typeface="Symbol" pitchFamily="18" charset="2"/>
                  </a:rPr>
                  <a:t>h</a:t>
                </a:r>
                <a:r>
                  <a:rPr lang="en-US" sz="2000" dirty="0">
                    <a:sym typeface="Symbol" pitchFamily="18" charset="2"/>
                  </a:rPr>
                  <a:t>$		</a:t>
                </a:r>
                <a:r>
                  <a:rPr lang="en-US" sz="2000" dirty="0"/>
                  <a:t>Pop</a:t>
                </a:r>
                <a:endParaRPr lang="en-US" sz="2000" dirty="0">
                  <a:sym typeface="Symbol" pitchFamily="18" charset="2"/>
                </a:endParaRPr>
              </a:p>
              <a:p>
                <a:pPr>
                  <a:buFontTx/>
                  <a:buNone/>
                </a:pPr>
                <a:r>
                  <a:rPr lang="en-US" sz="2000" dirty="0">
                    <a:solidFill>
                      <a:srgbClr val="FF0000"/>
                    </a:solidFill>
                    <a:sym typeface="Symbol" pitchFamily="18" charset="2"/>
                  </a:rPr>
                  <a:t>$</a:t>
                </a:r>
                <a:r>
                  <a:rPr lang="en-US" sz="2000" dirty="0">
                    <a:sym typeface="Symbol" pitchFamily="18" charset="2"/>
                  </a:rPr>
                  <a:t>		</a:t>
                </a:r>
                <a:r>
                  <a:rPr lang="en-US" sz="2000" dirty="0">
                    <a:solidFill>
                      <a:srgbClr val="FF0000"/>
                    </a:solidFill>
                    <a:sym typeface="Symbol" pitchFamily="18" charset="2"/>
                  </a:rPr>
                  <a:t>$</a:t>
                </a:r>
                <a:r>
                  <a:rPr lang="en-US" sz="2000" dirty="0">
                    <a:sym typeface="Symbol" pitchFamily="18" charset="2"/>
                  </a:rPr>
                  <a:t>		accept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9B08D94-9C06-1F34-50F5-5DBDBB12CA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89933"/>
                <a:ext cx="4961709" cy="4093428"/>
              </a:xfrm>
              <a:prstGeom prst="rect">
                <a:avLst/>
              </a:prstGeom>
              <a:blipFill>
                <a:blip r:embed="rId2"/>
                <a:stretch>
                  <a:fillRect l="-1535" t="-617" r="-1023" b="-1543"/>
                </a:stretch>
              </a:blipFill>
            </p:spPr>
            <p:txBody>
              <a:bodyPr/>
              <a:lstStyle/>
              <a:p>
                <a:r>
                  <a:rPr lang="en-B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drawing of a diagram&#10;&#10;Description automatically generated">
            <a:extLst>
              <a:ext uri="{FF2B5EF4-FFF2-40B4-BE49-F238E27FC236}">
                <a16:creationId xmlns:a16="http://schemas.microsoft.com/office/drawing/2014/main" id="{CE7A5A70-46D3-CFF5-C282-B7D7EFB6ECD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402" t="6149" r="4116" b="8856"/>
          <a:stretch/>
        </p:blipFill>
        <p:spPr>
          <a:xfrm rot="5400000">
            <a:off x="7126875" y="2119448"/>
            <a:ext cx="3267891" cy="43717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7A3C02E-3957-1F66-2721-41E2252385FB}"/>
              </a:ext>
            </a:extLst>
          </p:cNvPr>
          <p:cNvSpPr txBox="1"/>
          <p:nvPr/>
        </p:nvSpPr>
        <p:spPr>
          <a:xfrm>
            <a:off x="7656899" y="1876580"/>
            <a:ext cx="17733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sz="2800" dirty="0"/>
              <a:t>Parse Tree</a:t>
            </a:r>
          </a:p>
        </p:txBody>
      </p:sp>
    </p:spTree>
    <p:extLst>
      <p:ext uri="{BB962C8B-B14F-4D97-AF65-F5344CB8AC3E}">
        <p14:creationId xmlns:p14="http://schemas.microsoft.com/office/powerpoint/2010/main" val="3387057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8E369-2D80-E231-DBE1-24B796C10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How to check given Grammar is LL(1)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03608-543B-3751-6C45-59E5F0A30D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parsing table of a grammar may contain more than one production rule i.e. multiple defined. This is possible if G is left recursive or ambiguous.</a:t>
            </a:r>
          </a:p>
          <a:p>
            <a:r>
              <a:rPr lang="en-US" dirty="0"/>
              <a:t>In this case, we say that it is not a LL(1) grammar.</a:t>
            </a:r>
          </a:p>
          <a:p>
            <a:r>
              <a:rPr lang="en-US" dirty="0"/>
              <a:t>A grammar whose parsing table has no multiply-defined entries is said to be LL(1) grammar. </a:t>
            </a:r>
          </a:p>
          <a:p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28098894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66810-C97C-460A-5923-502FBBA86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Ex1: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B60A8-6AA9-8D02-81A8-88E63F52A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 fontScale="47500" lnSpcReduction="20000"/>
          </a:bodyPr>
          <a:lstStyle/>
          <a:p>
            <a:pPr lvl="8">
              <a:buNone/>
            </a:pPr>
            <a:r>
              <a:rPr lang="en-US" sz="5100" dirty="0"/>
              <a:t>S </a:t>
            </a:r>
            <a:r>
              <a:rPr lang="en-US" sz="5100" dirty="0">
                <a:sym typeface="Symbol" pitchFamily="18" charset="2"/>
              </a:rPr>
              <a:t> </a:t>
            </a:r>
            <a:r>
              <a:rPr lang="en-US" sz="5100" dirty="0" err="1">
                <a:sym typeface="Symbol" pitchFamily="18" charset="2"/>
              </a:rPr>
              <a:t>iCtSE</a:t>
            </a:r>
            <a:r>
              <a:rPr lang="en-US" sz="5100" dirty="0">
                <a:sym typeface="Symbol" pitchFamily="18" charset="2"/>
              </a:rPr>
              <a:t> | a		</a:t>
            </a:r>
          </a:p>
          <a:p>
            <a:pPr lvl="8">
              <a:buNone/>
            </a:pPr>
            <a:r>
              <a:rPr lang="en-US" sz="5100" dirty="0">
                <a:sym typeface="Symbol" pitchFamily="18" charset="2"/>
              </a:rPr>
              <a:t>E  </a:t>
            </a:r>
            <a:r>
              <a:rPr lang="en-US" sz="5100" dirty="0" err="1">
                <a:sym typeface="Symbol" pitchFamily="18" charset="2"/>
              </a:rPr>
              <a:t>eS</a:t>
            </a:r>
            <a:r>
              <a:rPr lang="en-US" sz="5100" dirty="0">
                <a:sym typeface="Symbol" pitchFamily="18" charset="2"/>
              </a:rPr>
              <a:t> | 			</a:t>
            </a:r>
          </a:p>
          <a:p>
            <a:pPr lvl="8">
              <a:buNone/>
            </a:pPr>
            <a:r>
              <a:rPr lang="en-US" sz="5100" dirty="0">
                <a:sym typeface="Symbol" pitchFamily="18" charset="2"/>
              </a:rPr>
              <a:t>C  b</a:t>
            </a:r>
            <a:r>
              <a:rPr lang="en-US" sz="4100" dirty="0">
                <a:sym typeface="Symbol" pitchFamily="18" charset="2"/>
              </a:rPr>
              <a:t>			</a:t>
            </a:r>
          </a:p>
          <a:p>
            <a:pPr>
              <a:buNone/>
            </a:pPr>
            <a:r>
              <a:rPr lang="en-BD" sz="5900" dirty="0"/>
              <a:t>Check if this grammar is LL(1) or not</a:t>
            </a:r>
          </a:p>
          <a:p>
            <a:pPr>
              <a:buNone/>
            </a:pPr>
            <a:r>
              <a:rPr lang="en-BD" sz="5900" b="1" dirty="0">
                <a:sym typeface="Symbol" pitchFamily="18" charset="2"/>
              </a:rPr>
              <a:t>Solution:</a:t>
            </a:r>
            <a:endParaRPr lang="en-US" sz="4100" b="1" dirty="0">
              <a:sym typeface="Symbol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5100" dirty="0">
                <a:sym typeface="Symbol" pitchFamily="18" charset="2"/>
              </a:rPr>
              <a:t>FIRST(</a:t>
            </a:r>
            <a:r>
              <a:rPr lang="en-US" sz="5100" dirty="0" err="1">
                <a:sym typeface="Symbol" pitchFamily="18" charset="2"/>
              </a:rPr>
              <a:t>iCtSE</a:t>
            </a:r>
            <a:r>
              <a:rPr lang="en-US" sz="5100" dirty="0">
                <a:sym typeface="Symbol" pitchFamily="18" charset="2"/>
              </a:rPr>
              <a:t>) = {</a:t>
            </a:r>
            <a:r>
              <a:rPr lang="en-US" sz="5100" dirty="0" err="1">
                <a:sym typeface="Symbol" pitchFamily="18" charset="2"/>
              </a:rPr>
              <a:t>i</a:t>
            </a:r>
            <a:r>
              <a:rPr lang="en-US" sz="5100" dirty="0">
                <a:sym typeface="Symbol" pitchFamily="18" charset="2"/>
              </a:rPr>
              <a:t>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5100" dirty="0">
                <a:sym typeface="Symbol" pitchFamily="18" charset="2"/>
              </a:rPr>
              <a:t>FIRST(a) = {a}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5100" dirty="0">
                <a:sym typeface="Symbol" pitchFamily="18" charset="2"/>
              </a:rPr>
              <a:t>FIRST(</a:t>
            </a:r>
            <a:r>
              <a:rPr lang="en-US" sz="5100" dirty="0" err="1">
                <a:sym typeface="Symbol" pitchFamily="18" charset="2"/>
              </a:rPr>
              <a:t>eS</a:t>
            </a:r>
            <a:r>
              <a:rPr lang="en-US" sz="5100" dirty="0">
                <a:sym typeface="Symbol" pitchFamily="18" charset="2"/>
              </a:rPr>
              <a:t>) = {e}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5100" dirty="0">
                <a:sym typeface="Symbol" pitchFamily="18" charset="2"/>
              </a:rPr>
              <a:t>FIRST() = {}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5100" dirty="0">
                <a:sym typeface="Symbol" pitchFamily="18" charset="2"/>
              </a:rPr>
              <a:t>FIRST(b) = {b}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5100" dirty="0">
                <a:sym typeface="Symbol" pitchFamily="18" charset="2"/>
              </a:rPr>
              <a:t>						         					         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5100" dirty="0">
                <a:sym typeface="Symbol" pitchFamily="18" charset="2"/>
              </a:rPr>
              <a:t>two production rules for M[</a:t>
            </a:r>
            <a:r>
              <a:rPr lang="en-US" sz="5100" dirty="0" err="1">
                <a:sym typeface="Symbol" pitchFamily="18" charset="2"/>
              </a:rPr>
              <a:t>E,e</a:t>
            </a:r>
            <a:r>
              <a:rPr lang="en-US" sz="5100" dirty="0">
                <a:sym typeface="Symbol" pitchFamily="18" charset="2"/>
              </a:rPr>
              <a:t>]. So, this grammar is not LL(1).</a:t>
            </a:r>
          </a:p>
          <a:p>
            <a:endParaRPr lang="en-BD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EC3A41-415D-7323-A898-646073437BCF}"/>
              </a:ext>
            </a:extLst>
          </p:cNvPr>
          <p:cNvSpPr txBox="1"/>
          <p:nvPr/>
        </p:nvSpPr>
        <p:spPr>
          <a:xfrm>
            <a:off x="3733014" y="3751869"/>
            <a:ext cx="2739211" cy="13665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400" dirty="0">
                <a:sym typeface="Symbol" pitchFamily="18" charset="2"/>
              </a:rPr>
              <a:t>FOLLOW(S) = { $,e 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>
                <a:sym typeface="Symbol" pitchFamily="18" charset="2"/>
              </a:rPr>
              <a:t>FOLLOW(E) = { $,e 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>
                <a:sym typeface="Symbol" pitchFamily="18" charset="2"/>
              </a:rPr>
              <a:t>FOLLOW(C) = { t }</a:t>
            </a:r>
          </a:p>
          <a:p>
            <a:endParaRPr lang="en-BD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CDA37BB-7169-A1CB-B7B7-C98F8F2D982B}"/>
              </a:ext>
            </a:extLst>
          </p:cNvPr>
          <p:cNvCxnSpPr/>
          <p:nvPr/>
        </p:nvCxnSpPr>
        <p:spPr>
          <a:xfrm>
            <a:off x="3516198" y="3648173"/>
            <a:ext cx="0" cy="20456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FF5FB5E-11B0-BC5C-5C6E-BD242A7CCE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0527089"/>
              </p:ext>
            </p:extLst>
          </p:nvPr>
        </p:nvGraphicFramePr>
        <p:xfrm>
          <a:off x="6523285" y="3866246"/>
          <a:ext cx="5047330" cy="1999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769">
                  <a:extLst>
                    <a:ext uri="{9D8B030D-6E8A-4147-A177-3AD203B41FA5}">
                      <a16:colId xmlns:a16="http://schemas.microsoft.com/office/drawing/2014/main" val="410618173"/>
                    </a:ext>
                  </a:extLst>
                </a:gridCol>
                <a:gridCol w="697583">
                  <a:extLst>
                    <a:ext uri="{9D8B030D-6E8A-4147-A177-3AD203B41FA5}">
                      <a16:colId xmlns:a16="http://schemas.microsoft.com/office/drawing/2014/main" val="955604838"/>
                    </a:ext>
                  </a:extLst>
                </a:gridCol>
                <a:gridCol w="857840">
                  <a:extLst>
                    <a:ext uri="{9D8B030D-6E8A-4147-A177-3AD203B41FA5}">
                      <a16:colId xmlns:a16="http://schemas.microsoft.com/office/drawing/2014/main" val="235426292"/>
                    </a:ext>
                  </a:extLst>
                </a:gridCol>
                <a:gridCol w="876692">
                  <a:extLst>
                    <a:ext uri="{9D8B030D-6E8A-4147-A177-3AD203B41FA5}">
                      <a16:colId xmlns:a16="http://schemas.microsoft.com/office/drawing/2014/main" val="4008286299"/>
                    </a:ext>
                  </a:extLst>
                </a:gridCol>
                <a:gridCol w="1159497">
                  <a:extLst>
                    <a:ext uri="{9D8B030D-6E8A-4147-A177-3AD203B41FA5}">
                      <a16:colId xmlns:a16="http://schemas.microsoft.com/office/drawing/2014/main" val="750136726"/>
                    </a:ext>
                  </a:extLst>
                </a:gridCol>
                <a:gridCol w="320512">
                  <a:extLst>
                    <a:ext uri="{9D8B030D-6E8A-4147-A177-3AD203B41FA5}">
                      <a16:colId xmlns:a16="http://schemas.microsoft.com/office/drawing/2014/main" val="1746523457"/>
                    </a:ext>
                  </a:extLst>
                </a:gridCol>
                <a:gridCol w="716437">
                  <a:extLst>
                    <a:ext uri="{9D8B030D-6E8A-4147-A177-3AD203B41FA5}">
                      <a16:colId xmlns:a16="http://schemas.microsoft.com/office/drawing/2014/main" val="5503117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</a:t>
                      </a: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a</a:t>
                      </a: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b</a:t>
                      </a: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e</a:t>
                      </a: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</a:t>
                      </a: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</a:t>
                      </a: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$</a:t>
                      </a:r>
                    </a:p>
                  </a:txBody>
                  <a:tcPr marL="84406" marR="84406" horzOverflow="overflow"/>
                </a:tc>
                <a:extLst>
                  <a:ext uri="{0D108BD9-81ED-4DB2-BD59-A6C34878D82A}">
                    <a16:rowId xmlns:a16="http://schemas.microsoft.com/office/drawing/2014/main" val="3985505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</a:t>
                      </a: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Symbol" pitchFamily="18" charset="2"/>
                        </a:rPr>
                        <a:t> a</a:t>
                      </a: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Symbol" pitchFamily="18" charset="2"/>
                        </a:rPr>
                        <a:t> iCtSE</a:t>
                      </a: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4406" marR="84406" horzOverflow="overflow"/>
                </a:tc>
                <a:extLst>
                  <a:ext uri="{0D108BD9-81ED-4DB2-BD59-A6C34878D82A}">
                    <a16:rowId xmlns:a16="http://schemas.microsoft.com/office/drawing/2014/main" val="2738582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</a:t>
                      </a: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sym typeface="Symbol" pitchFamily="18" charset="2"/>
                        </a:rPr>
                        <a:t>E  e S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sym typeface="Symbol" pitchFamily="18" charset="2"/>
                        </a:rPr>
                        <a:t>E  </a:t>
                      </a: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Symbol" pitchFamily="18" charset="2"/>
                        </a:rPr>
                        <a:t>E  </a:t>
                      </a:r>
                    </a:p>
                  </a:txBody>
                  <a:tcPr marL="84406" marR="84406" horzOverflow="overflow"/>
                </a:tc>
                <a:extLst>
                  <a:ext uri="{0D108BD9-81ED-4DB2-BD59-A6C34878D82A}">
                    <a16:rowId xmlns:a16="http://schemas.microsoft.com/office/drawing/2014/main" val="2925489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</a:t>
                      </a: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Symbol" pitchFamily="18" charset="2"/>
                        </a:rPr>
                        <a:t>C  b</a:t>
                      </a: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4406" marR="8440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4406" marR="84406" horzOverflow="overflow"/>
                </a:tc>
                <a:extLst>
                  <a:ext uri="{0D108BD9-81ED-4DB2-BD59-A6C34878D82A}">
                    <a16:rowId xmlns:a16="http://schemas.microsoft.com/office/drawing/2014/main" val="35891995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7139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8E7C8-7E82-C363-5FCD-2E9F5D5F0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How to check given Grammar is LL(1)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921369-AFA8-31EF-C1F4-65AC3A185F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289981" cy="4351338"/>
              </a:xfrm>
            </p:spPr>
            <p:txBody>
              <a:bodyPr/>
              <a:lstStyle/>
              <a:p>
                <a:r>
                  <a:rPr lang="en-BD" dirty="0"/>
                  <a:t>If G doesn’t contain </a:t>
                </a:r>
                <a14:m>
                  <m:oMath xmlns:m="http://schemas.openxmlformats.org/officeDocument/2006/math">
                    <m:r>
                      <a:rPr lang="en-BD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endParaRPr lang="en-US" sz="2800" dirty="0"/>
              </a:p>
              <a:p>
                <a:pPr marL="457200" lvl="1" indent="0">
                  <a:buNone/>
                </a:pPr>
                <a:r>
                  <a:rPr lang="en-BD" dirty="0"/>
                  <a:t>A </a:t>
                </a:r>
                <a:r>
                  <a:rPr lang="en-US" dirty="0">
                    <a:sym typeface="Symbol" pitchFamily="18" charset="2"/>
                  </a:rPr>
                  <a:t>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𝛼</m:t>
                    </m:r>
                    <m:r>
                      <a:rPr lang="en-US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1 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|</m:t>
                    </m:r>
                  </m:oMath>
                </a14:m>
                <a:r>
                  <a:rPr lang="en-BD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𝛼</m:t>
                    </m:r>
                    <m:r>
                      <a:rPr lang="en-US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2</m:t>
                    </m:r>
                    <m:r>
                      <a:rPr lang="en-US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|</m:t>
                    </m:r>
                  </m:oMath>
                </a14:m>
                <a:r>
                  <a:rPr lang="en-BD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𝛼</m:t>
                    </m:r>
                    <m:r>
                      <a:rPr lang="en-US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3</m:t>
                    </m:r>
                    <m:r>
                      <a:rPr lang="en-US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 </m:t>
                    </m:r>
                  </m:oMath>
                </a14:m>
                <a:br>
                  <a:rPr lang="en-US" baseline="-25000" dirty="0">
                    <a:ea typeface="Cambria Math" panose="02040503050406030204" pitchFamily="18" charset="0"/>
                    <a:sym typeface="Symbol" pitchFamily="18" charset="2"/>
                  </a:rPr>
                </a:br>
                <a:r>
                  <a:rPr lang="en-BD" dirty="0">
                    <a:ea typeface="Cambria Math" panose="02040503050406030204" pitchFamily="18" charset="0"/>
                    <a:sym typeface="Symbol" pitchFamily="18" charset="2"/>
                  </a:rPr>
                  <a:t>First(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𝛼</m:t>
                    </m:r>
                    <m:r>
                      <a:rPr lang="en-US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 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  <a:sym typeface="Symbol" pitchFamily="18" charset="2"/>
                  </a:rPr>
                  <a:t>)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∩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  <a:sym typeface="Symbol" pitchFamily="18" charset="2"/>
                  </a:rPr>
                  <a:t> </a:t>
                </a:r>
                <a:r>
                  <a:rPr lang="en-BD" dirty="0">
                    <a:ea typeface="Cambria Math" panose="02040503050406030204" pitchFamily="18" charset="0"/>
                    <a:sym typeface="Symbol" pitchFamily="18" charset="2"/>
                  </a:rPr>
                  <a:t>First(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𝛼</m:t>
                    </m:r>
                    <m:r>
                      <a:rPr lang="en-US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 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  <a:sym typeface="Symbol" pitchFamily="18" charset="2"/>
                  </a:rPr>
                  <a:t>) =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∅</m:t>
                    </m:r>
                  </m:oMath>
                </a14:m>
                <a:endParaRPr lang="en-US" dirty="0">
                  <a:ea typeface="Cambria Math" panose="02040503050406030204" pitchFamily="18" charset="0"/>
                  <a:sym typeface="Symbol" pitchFamily="18" charset="2"/>
                </a:endParaRPr>
              </a:p>
              <a:p>
                <a:pPr marL="457200" lvl="1" indent="0">
                  <a:buNone/>
                </a:pPr>
                <a:r>
                  <a:rPr lang="en-BD" dirty="0">
                    <a:ea typeface="Cambria Math" panose="02040503050406030204" pitchFamily="18" charset="0"/>
                    <a:sym typeface="Symbol" pitchFamily="18" charset="2"/>
                  </a:rPr>
                  <a:t>First(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𝛼</m:t>
                    </m:r>
                    <m:r>
                      <a:rPr lang="en-US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 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  <a:sym typeface="Symbol" pitchFamily="18" charset="2"/>
                  </a:rPr>
                  <a:t>)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∩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  <a:sym typeface="Symbol" pitchFamily="18" charset="2"/>
                  </a:rPr>
                  <a:t> </a:t>
                </a:r>
                <a:r>
                  <a:rPr lang="en-BD" dirty="0">
                    <a:ea typeface="Cambria Math" panose="02040503050406030204" pitchFamily="18" charset="0"/>
                    <a:sym typeface="Symbol" pitchFamily="18" charset="2"/>
                  </a:rPr>
                  <a:t>First(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𝛼</m:t>
                    </m:r>
                    <m:r>
                      <a:rPr lang="en-US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3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 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  <a:sym typeface="Symbol" pitchFamily="18" charset="2"/>
                  </a:rPr>
                  <a:t>) =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∅</m:t>
                    </m:r>
                  </m:oMath>
                </a14:m>
                <a:endParaRPr lang="en-US" dirty="0">
                  <a:ea typeface="Cambria Math" panose="02040503050406030204" pitchFamily="18" charset="0"/>
                  <a:sym typeface="Symbol" pitchFamily="18" charset="2"/>
                </a:endParaRPr>
              </a:p>
              <a:p>
                <a:pPr marL="457200" lvl="1" indent="0">
                  <a:buNone/>
                </a:pPr>
                <a:r>
                  <a:rPr lang="en-BD" dirty="0">
                    <a:ea typeface="Cambria Math" panose="02040503050406030204" pitchFamily="18" charset="0"/>
                    <a:sym typeface="Symbol" pitchFamily="18" charset="2"/>
                  </a:rPr>
                  <a:t>First(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𝛼</m:t>
                    </m:r>
                    <m:r>
                      <a:rPr lang="en-US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3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 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  <a:sym typeface="Symbol" pitchFamily="18" charset="2"/>
                  </a:rPr>
                  <a:t>)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∩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  <a:sym typeface="Symbol" pitchFamily="18" charset="2"/>
                  </a:rPr>
                  <a:t> </a:t>
                </a:r>
                <a:r>
                  <a:rPr lang="en-BD" dirty="0">
                    <a:ea typeface="Cambria Math" panose="02040503050406030204" pitchFamily="18" charset="0"/>
                    <a:sym typeface="Symbol" pitchFamily="18" charset="2"/>
                  </a:rPr>
                  <a:t>First(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𝛼</m:t>
                    </m:r>
                    <m:r>
                      <a:rPr lang="en-US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 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  <a:sym typeface="Symbol" pitchFamily="18" charset="2"/>
                  </a:rPr>
                  <a:t>) =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∅</m:t>
                    </m:r>
                  </m:oMath>
                </a14:m>
                <a:endParaRPr lang="en-US" dirty="0">
                  <a:ea typeface="Cambria Math" panose="02040503050406030204" pitchFamily="18" charset="0"/>
                  <a:sym typeface="Symbol" pitchFamily="18" charset="2"/>
                </a:endParaRPr>
              </a:p>
              <a:p>
                <a:r>
                  <a:rPr lang="en-BD" dirty="0"/>
                  <a:t>If G contains </a:t>
                </a:r>
                <a14:m>
                  <m:oMath xmlns:m="http://schemas.openxmlformats.org/officeDocument/2006/math">
                    <m:r>
                      <a:rPr lang="en-BD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endParaRPr lang="en-US" sz="2800" dirty="0"/>
              </a:p>
              <a:p>
                <a:pPr marL="457200" lvl="1" indent="0">
                  <a:buNone/>
                </a:pPr>
                <a:r>
                  <a:rPr lang="en-BD" dirty="0"/>
                  <a:t>A </a:t>
                </a:r>
                <a:r>
                  <a:rPr lang="en-US" dirty="0">
                    <a:sym typeface="Symbol" pitchFamily="18" charset="2"/>
                  </a:rPr>
                  <a:t>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𝛼</m:t>
                    </m:r>
                    <m:r>
                      <a:rPr lang="en-US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1 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|</m:t>
                    </m:r>
                  </m:oMath>
                </a14:m>
                <a:r>
                  <a:rPr lang="en-BD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𝛼</m:t>
                    </m:r>
                    <m:r>
                      <a:rPr lang="en-US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2</m:t>
                    </m:r>
                    <m:r>
                      <a:rPr lang="en-US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|</m:t>
                    </m:r>
                    <m:r>
                      <a:rPr lang="en-BD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br>
                  <a:rPr lang="en-US" baseline="-25000" dirty="0">
                    <a:ea typeface="Cambria Math" panose="02040503050406030204" pitchFamily="18" charset="0"/>
                    <a:sym typeface="Symbol" pitchFamily="18" charset="2"/>
                  </a:rPr>
                </a:br>
                <a:r>
                  <a:rPr lang="en-BD" dirty="0">
                    <a:ea typeface="Cambria Math" panose="02040503050406030204" pitchFamily="18" charset="0"/>
                    <a:sym typeface="Symbol" pitchFamily="18" charset="2"/>
                  </a:rPr>
                  <a:t>First(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𝛼</m:t>
                    </m:r>
                    <m:r>
                      <a:rPr lang="en-US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 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  <a:sym typeface="Symbol" pitchFamily="18" charset="2"/>
                  </a:rPr>
                  <a:t>)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∩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  <a:sym typeface="Symbol" pitchFamily="18" charset="2"/>
                  </a:rPr>
                  <a:t> </a:t>
                </a:r>
                <a:r>
                  <a:rPr lang="en-BD" dirty="0">
                    <a:ea typeface="Cambria Math" panose="02040503050406030204" pitchFamily="18" charset="0"/>
                    <a:sym typeface="Symbol" pitchFamily="18" charset="2"/>
                  </a:rPr>
                  <a:t>First(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𝛼</m:t>
                    </m:r>
                    <m:r>
                      <a:rPr lang="en-US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 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  <a:sym typeface="Symbol" pitchFamily="18" charset="2"/>
                  </a:rPr>
                  <a:t>) =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∅</m:t>
                    </m:r>
                  </m:oMath>
                </a14:m>
                <a:endParaRPr lang="en-US" dirty="0">
                  <a:ea typeface="Cambria Math" panose="02040503050406030204" pitchFamily="18" charset="0"/>
                  <a:sym typeface="Symbol" pitchFamily="18" charset="2"/>
                </a:endParaRPr>
              </a:p>
              <a:p>
                <a:pPr marL="457200" lvl="1" indent="0">
                  <a:buNone/>
                </a:pPr>
                <a:r>
                  <a:rPr lang="en-BD" dirty="0">
                    <a:ea typeface="Cambria Math" panose="02040503050406030204" pitchFamily="18" charset="0"/>
                    <a:sym typeface="Symbol" pitchFamily="18" charset="2"/>
                  </a:rPr>
                  <a:t>First(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𝛼</m:t>
                    </m:r>
                    <m:r>
                      <a:rPr lang="en-US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 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  <a:sym typeface="Symbol" pitchFamily="18" charset="2"/>
                  </a:rPr>
                  <a:t>)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∩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  <a:sym typeface="Symbol" pitchFamily="18" charset="2"/>
                  </a:rPr>
                  <a:t> </a:t>
                </a:r>
                <a:r>
                  <a:rPr lang="en-BD" dirty="0">
                    <a:ea typeface="Cambria Math" panose="02040503050406030204" pitchFamily="18" charset="0"/>
                    <a:sym typeface="Symbol" pitchFamily="18" charset="2"/>
                  </a:rPr>
                  <a:t>Follow(A</a:t>
                </a:r>
                <a:r>
                  <a:rPr lang="en-US" dirty="0">
                    <a:ea typeface="Cambria Math" panose="02040503050406030204" pitchFamily="18" charset="0"/>
                    <a:sym typeface="Symbol" pitchFamily="18" charset="2"/>
                  </a:rPr>
                  <a:t>) =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∅</m:t>
                    </m:r>
                  </m:oMath>
                </a14:m>
                <a:endParaRPr lang="en-US" dirty="0">
                  <a:ea typeface="Cambria Math" panose="02040503050406030204" pitchFamily="18" charset="0"/>
                  <a:sym typeface="Symbol" pitchFamily="18" charset="2"/>
                </a:endParaRPr>
              </a:p>
              <a:p>
                <a:pPr marL="457200" lvl="1" indent="0">
                  <a:buNone/>
                </a:pPr>
                <a:r>
                  <a:rPr lang="en-BD" dirty="0">
                    <a:ea typeface="Cambria Math" panose="02040503050406030204" pitchFamily="18" charset="0"/>
                    <a:sym typeface="Symbol" pitchFamily="18" charset="2"/>
                  </a:rPr>
                  <a:t>First(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𝛼</m:t>
                    </m:r>
                    <m:r>
                      <a:rPr lang="en-US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 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  <a:sym typeface="Symbol" pitchFamily="18" charset="2"/>
                  </a:rPr>
                  <a:t>)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∩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  <a:sym typeface="Symbol" pitchFamily="18" charset="2"/>
                  </a:rPr>
                  <a:t> </a:t>
                </a:r>
                <a:r>
                  <a:rPr lang="en-BD" dirty="0">
                    <a:ea typeface="Cambria Math" panose="02040503050406030204" pitchFamily="18" charset="0"/>
                    <a:sym typeface="Symbol" pitchFamily="18" charset="2"/>
                  </a:rPr>
                  <a:t>Follow(A</a:t>
                </a:r>
                <a:r>
                  <a:rPr lang="en-US" dirty="0">
                    <a:ea typeface="Cambria Math" panose="02040503050406030204" pitchFamily="18" charset="0"/>
                    <a:sym typeface="Symbol" pitchFamily="18" charset="2"/>
                  </a:rPr>
                  <a:t>) =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∅</m:t>
                    </m:r>
                  </m:oMath>
                </a14:m>
                <a:endParaRPr lang="en-US" dirty="0">
                  <a:ea typeface="Cambria Math" panose="02040503050406030204" pitchFamily="18" charset="0"/>
                  <a:sym typeface="Symbol" pitchFamily="18" charset="2"/>
                </a:endParaRPr>
              </a:p>
              <a:p>
                <a:pPr marL="457200" lvl="1" indent="0">
                  <a:buNone/>
                </a:pPr>
                <a:endParaRPr lang="en-US" dirty="0">
                  <a:ea typeface="Cambria Math" panose="02040503050406030204" pitchFamily="18" charset="0"/>
                  <a:sym typeface="Symbol" pitchFamily="18" charset="2"/>
                </a:endParaRPr>
              </a:p>
              <a:p>
                <a:endParaRPr lang="en-US" dirty="0">
                  <a:ea typeface="Cambria Math" panose="02040503050406030204" pitchFamily="18" charset="0"/>
                  <a:sym typeface="Symbol" pitchFamily="18" charset="2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921369-AFA8-31EF-C1F4-65AC3A185F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289981" cy="4351338"/>
              </a:xfrm>
              <a:blipFill>
                <a:blip r:embed="rId2"/>
                <a:stretch>
                  <a:fillRect l="-2560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FBD78C60-0E9C-7237-D5FB-111E40284C28}"/>
              </a:ext>
            </a:extLst>
          </p:cNvPr>
          <p:cNvSpPr/>
          <p:nvPr/>
        </p:nvSpPr>
        <p:spPr>
          <a:xfrm>
            <a:off x="6171414" y="2007908"/>
            <a:ext cx="5696932" cy="231514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✅ How to Check if a Grammar is LL(1):Remove Left Recursion &amp; Left Factor the </a:t>
            </a:r>
            <a:r>
              <a:rPr lang="en-US" dirty="0" err="1"/>
              <a:t>grammar.Compute</a:t>
            </a:r>
            <a:r>
              <a:rPr lang="en-US" dirty="0"/>
              <a:t> FIRST and FOLLOW sets for all non-</a:t>
            </a:r>
            <a:r>
              <a:rPr lang="en-US" dirty="0" err="1"/>
              <a:t>terminals.Construct</a:t>
            </a:r>
            <a:r>
              <a:rPr lang="en-US" dirty="0"/>
              <a:t> the Predictive Parsing Table (PPT):If A → α, put it in M[A, a] for all a ∈ FIRST(α).If ε ∈ FIRST(α), also put it in M[A, b] for all b ∈ FOLLOW(A).Check for </a:t>
            </a:r>
            <a:r>
              <a:rPr lang="en-US" dirty="0" err="1"/>
              <a:t>Conflicts:If</a:t>
            </a:r>
            <a:r>
              <a:rPr lang="en-US" dirty="0"/>
              <a:t> any cell has more than one entry → Not LL(1).Otherwise → LL(1).</a:t>
            </a:r>
          </a:p>
        </p:txBody>
      </p:sp>
    </p:spTree>
    <p:extLst>
      <p:ext uri="{BB962C8B-B14F-4D97-AF65-F5344CB8AC3E}">
        <p14:creationId xmlns:p14="http://schemas.microsoft.com/office/powerpoint/2010/main" val="31361071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26570-C3A4-023B-3103-32BD60818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Ex1: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7D29AF-2815-4E77-E3E8-504400CB32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3657600" lvl="8" indent="0">
                  <a:buNone/>
                </a:pPr>
                <a:r>
                  <a:rPr lang="en-BD" sz="2400" dirty="0"/>
                  <a:t>S </a:t>
                </a:r>
                <a:r>
                  <a:rPr lang="en-US" sz="2400" dirty="0">
                    <a:sym typeface="Symbol" pitchFamily="18" charset="2"/>
                  </a:rPr>
                  <a:t> </a:t>
                </a:r>
                <a:r>
                  <a:rPr lang="en-US" sz="2400" dirty="0" err="1">
                    <a:sym typeface="Symbol" pitchFamily="18" charset="2"/>
                  </a:rPr>
                  <a:t>aABb</a:t>
                </a:r>
                <a:endParaRPr lang="en-US" sz="2400" dirty="0">
                  <a:sym typeface="Symbol" pitchFamily="18" charset="2"/>
                </a:endParaRPr>
              </a:p>
              <a:p>
                <a:pPr marL="3657600" lvl="8" indent="0">
                  <a:buNone/>
                </a:pPr>
                <a:r>
                  <a:rPr lang="en-US" sz="2400" dirty="0">
                    <a:sym typeface="Symbol" pitchFamily="18" charset="2"/>
                  </a:rPr>
                  <a:t>A  a | </a:t>
                </a:r>
                <a14:m>
                  <m:oMath xmlns:m="http://schemas.openxmlformats.org/officeDocument/2006/math">
                    <m:r>
                      <a:rPr lang="en-BD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endParaRPr lang="en-BD" sz="2400" dirty="0"/>
              </a:p>
              <a:p>
                <a:pPr marL="3657600" lvl="8" indent="0">
                  <a:buNone/>
                </a:pPr>
                <a:r>
                  <a:rPr lang="en-BD" sz="2400" dirty="0"/>
                  <a:t>B</a:t>
                </a:r>
                <a:r>
                  <a:rPr lang="en-US" sz="2400" dirty="0">
                    <a:sym typeface="Symbol" pitchFamily="18" charset="2"/>
                  </a:rPr>
                  <a:t>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| </m:t>
                    </m:r>
                    <m:r>
                      <a:rPr lang="en-BD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endParaRPr lang="en-BD" sz="2400" dirty="0"/>
              </a:p>
              <a:p>
                <a:pPr marL="0" indent="0">
                  <a:buNone/>
                </a:pPr>
                <a:r>
                  <a:rPr lang="en-BD" dirty="0"/>
                  <a:t>Check if this grammar is LL(1) or not</a:t>
                </a:r>
              </a:p>
              <a:p>
                <a:pPr marL="0" indent="0">
                  <a:buNone/>
                </a:pPr>
                <a:r>
                  <a:rPr lang="en-BD" b="1" dirty="0"/>
                  <a:t>Solution: </a:t>
                </a:r>
              </a:p>
              <a:p>
                <a:r>
                  <a:rPr lang="en-BD" sz="2800" dirty="0"/>
                  <a:t>For this grammar S </a:t>
                </a:r>
                <a:r>
                  <a:rPr lang="en-US" sz="2800" dirty="0">
                    <a:sym typeface="Symbol" pitchFamily="18" charset="2"/>
                  </a:rPr>
                  <a:t> </a:t>
                </a:r>
                <a:r>
                  <a:rPr lang="en-US" sz="2800" dirty="0" err="1">
                    <a:sym typeface="Symbol" pitchFamily="18" charset="2"/>
                  </a:rPr>
                  <a:t>aABb</a:t>
                </a:r>
                <a:endParaRPr lang="en-US" sz="2800" dirty="0">
                  <a:sym typeface="Symbol" pitchFamily="18" charset="2"/>
                </a:endParaRPr>
              </a:p>
              <a:p>
                <a:pPr lvl="1"/>
                <a:r>
                  <a:rPr lang="en-BD" dirty="0"/>
                  <a:t>It doesn’t fall under the mentioned two rules</a:t>
                </a:r>
              </a:p>
              <a:p>
                <a:r>
                  <a:rPr lang="en-US" sz="2800" dirty="0">
                    <a:sym typeface="Symbol" pitchFamily="18" charset="2"/>
                  </a:rPr>
                  <a:t>For this grammar A  a | </a:t>
                </a:r>
                <a14:m>
                  <m:oMath xmlns:m="http://schemas.openxmlformats.org/officeDocument/2006/math">
                    <m:r>
                      <a:rPr lang="en-BD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endParaRPr lang="en-BD" dirty="0"/>
              </a:p>
              <a:p>
                <a:pPr lvl="1"/>
                <a:r>
                  <a:rPr lang="en-US" dirty="0">
                    <a:sym typeface="Symbol" pitchFamily="18" charset="2"/>
                  </a:rPr>
                  <a:t>	First(a) = {a} , Follow(A) = {</a:t>
                </a:r>
                <a:r>
                  <a:rPr lang="en-US" dirty="0" err="1">
                    <a:sym typeface="Symbol" pitchFamily="18" charset="2"/>
                  </a:rPr>
                  <a:t>d,b</a:t>
                </a:r>
                <a:r>
                  <a:rPr lang="en-US" dirty="0">
                    <a:sym typeface="Symbol" pitchFamily="18" charset="2"/>
                  </a:rPr>
                  <a:t>}, </a:t>
                </a:r>
                <a:r>
                  <a:rPr lang="en-BD" dirty="0">
                    <a:ea typeface="Cambria Math" panose="02040503050406030204" pitchFamily="18" charset="0"/>
                    <a:sym typeface="Symbol" pitchFamily="18" charset="2"/>
                  </a:rPr>
                  <a:t>First(a</a:t>
                </a:r>
                <a:r>
                  <a:rPr lang="en-US" dirty="0">
                    <a:ea typeface="Cambria Math" panose="02040503050406030204" pitchFamily="18" charset="0"/>
                    <a:sym typeface="Symbol" pitchFamily="18" charset="2"/>
                  </a:rPr>
                  <a:t>)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∩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  <a:sym typeface="Symbol" pitchFamily="18" charset="2"/>
                  </a:rPr>
                  <a:t> </a:t>
                </a:r>
                <a:r>
                  <a:rPr lang="en-BD" dirty="0">
                    <a:ea typeface="Cambria Math" panose="02040503050406030204" pitchFamily="18" charset="0"/>
                    <a:sym typeface="Symbol" pitchFamily="18" charset="2"/>
                  </a:rPr>
                  <a:t>Follow(A</a:t>
                </a:r>
                <a:r>
                  <a:rPr lang="en-US" dirty="0">
                    <a:ea typeface="Cambria Math" panose="02040503050406030204" pitchFamily="18" charset="0"/>
                    <a:sym typeface="Symbol" pitchFamily="18" charset="2"/>
                  </a:rPr>
                  <a:t>) =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∅</m:t>
                    </m:r>
                  </m:oMath>
                </a14:m>
                <a:endParaRPr lang="en-US" dirty="0">
                  <a:sym typeface="Symbol" pitchFamily="18" charset="2"/>
                </a:endParaRPr>
              </a:p>
              <a:p>
                <a:pPr marL="457200" lvl="1" indent="0">
                  <a:buNone/>
                </a:pPr>
                <a:r>
                  <a:rPr lang="en-US" dirty="0">
                    <a:ea typeface="Cambria Math" panose="02040503050406030204" pitchFamily="18" charset="0"/>
                    <a:sym typeface="Symbol" pitchFamily="18" charset="2"/>
                  </a:rPr>
                  <a:t> </a:t>
                </a:r>
              </a:p>
              <a:p>
                <a:pPr marL="0" indent="0">
                  <a:buNone/>
                </a:pPr>
                <a:endParaRPr lang="en-US" sz="2800" dirty="0">
                  <a:sym typeface="Symbol" pitchFamily="18" charset="2"/>
                </a:endParaRPr>
              </a:p>
              <a:p>
                <a:pPr marL="0" indent="0">
                  <a:buNone/>
                </a:pPr>
                <a:endParaRPr lang="en-BD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7D29AF-2815-4E77-E3E8-504400CB32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3198"/>
                </a:stretch>
              </a:blipFill>
            </p:spPr>
            <p:txBody>
              <a:bodyPr/>
              <a:lstStyle/>
              <a:p>
                <a:r>
                  <a:rPr lang="en-B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25866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CC9DA-D295-AD52-4FE9-106E1227F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Ex1: (Cont’d)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A4D94C-7776-AC13-A37A-83C987BDE2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800" dirty="0">
                    <a:sym typeface="Symbol" pitchFamily="18" charset="2"/>
                  </a:rPr>
                  <a:t>For this grammar </a:t>
                </a:r>
                <a:r>
                  <a:rPr lang="en-BD" sz="2800" dirty="0"/>
                  <a:t>B</a:t>
                </a:r>
                <a:r>
                  <a:rPr lang="en-US" sz="2800" dirty="0">
                    <a:sym typeface="Symbol" pitchFamily="18" charset="2"/>
                  </a:rPr>
                  <a:t>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</m:t>
                    </m:r>
                    <m:r>
                      <a:rPr lang="en-US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| </m:t>
                    </m:r>
                    <m:r>
                      <a:rPr lang="en-BD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endParaRPr lang="en-US" sz="2800" dirty="0">
                  <a:ea typeface="Cambria Math" panose="02040503050406030204" pitchFamily="18" charset="0"/>
                </a:endParaRPr>
              </a:p>
              <a:p>
                <a:pPr lvl="1"/>
                <a:r>
                  <a:rPr lang="en-US" dirty="0">
                    <a:sym typeface="Symbol" pitchFamily="18" charset="2"/>
                  </a:rPr>
                  <a:t>First(d) = {d} , Follow(B) = {b}, </a:t>
                </a:r>
                <a:r>
                  <a:rPr lang="en-BD" dirty="0">
                    <a:ea typeface="Cambria Math" panose="02040503050406030204" pitchFamily="18" charset="0"/>
                    <a:sym typeface="Symbol" pitchFamily="18" charset="2"/>
                  </a:rPr>
                  <a:t>First(d</a:t>
                </a:r>
                <a:r>
                  <a:rPr lang="en-US" dirty="0">
                    <a:ea typeface="Cambria Math" panose="02040503050406030204" pitchFamily="18" charset="0"/>
                    <a:sym typeface="Symbol" pitchFamily="18" charset="2"/>
                  </a:rPr>
                  <a:t>)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∩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  <a:sym typeface="Symbol" pitchFamily="18" charset="2"/>
                  </a:rPr>
                  <a:t> </a:t>
                </a:r>
                <a:r>
                  <a:rPr lang="en-BD" dirty="0">
                    <a:ea typeface="Cambria Math" panose="02040503050406030204" pitchFamily="18" charset="0"/>
                    <a:sym typeface="Symbol" pitchFamily="18" charset="2"/>
                  </a:rPr>
                  <a:t>Follow(B</a:t>
                </a:r>
                <a:r>
                  <a:rPr lang="en-US" dirty="0">
                    <a:ea typeface="Cambria Math" panose="02040503050406030204" pitchFamily="18" charset="0"/>
                    <a:sym typeface="Symbol" pitchFamily="18" charset="2"/>
                  </a:rPr>
                  <a:t>) =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∅</m:t>
                    </m:r>
                  </m:oMath>
                </a14:m>
                <a:endParaRPr lang="en-BD" dirty="0"/>
              </a:p>
              <a:p>
                <a:endParaRPr lang="en-BD" dirty="0"/>
              </a:p>
              <a:p>
                <a:r>
                  <a:rPr lang="en-BD" dirty="0"/>
                  <a:t>So, this grammar is LL(1) grammar.</a:t>
                </a:r>
              </a:p>
              <a:p>
                <a:pPr lvl="1"/>
                <a:endParaRPr lang="en-BD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A4D94C-7776-AC13-A37A-83C987BDE2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907"/>
                </a:stretch>
              </a:blipFill>
            </p:spPr>
            <p:txBody>
              <a:bodyPr/>
              <a:lstStyle/>
              <a:p>
                <a:r>
                  <a:rPr lang="en-B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85979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996EC-D573-8358-BA23-BF2E5371A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Ex2: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A62F53-41CA-1D57-21AB-07C1CB900A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3657600" lvl="8" indent="0">
                  <a:buNone/>
                </a:pPr>
                <a:r>
                  <a:rPr lang="en-US" sz="2400" dirty="0">
                    <a:sym typeface="Symbol" pitchFamily="18" charset="2"/>
                  </a:rPr>
                  <a:t>S  </a:t>
                </a:r>
                <a:r>
                  <a:rPr lang="en-US" sz="2400" dirty="0" err="1">
                    <a:sym typeface="Symbol" pitchFamily="18" charset="2"/>
                  </a:rPr>
                  <a:t>aSA</a:t>
                </a:r>
                <a:r>
                  <a:rPr lang="en-US" sz="2400" dirty="0">
                    <a:sym typeface="Symbol" pitchFamily="18" charset="2"/>
                  </a:rPr>
                  <a:t> | </a:t>
                </a:r>
                <a14:m>
                  <m:oMath xmlns:m="http://schemas.openxmlformats.org/officeDocument/2006/math">
                    <m:r>
                      <a:rPr lang="en-BD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endParaRPr lang="en-BD" sz="2400" dirty="0"/>
              </a:p>
              <a:p>
                <a:pPr marL="3657600" lvl="8" indent="0">
                  <a:buNone/>
                </a:pPr>
                <a:r>
                  <a:rPr lang="en-BD" sz="2400" dirty="0">
                    <a:sym typeface="Symbol" pitchFamily="18" charset="2"/>
                  </a:rPr>
                  <a:t>A </a:t>
                </a:r>
                <a:r>
                  <a:rPr lang="en-US" sz="2400" dirty="0">
                    <a:sym typeface="Symbol" pitchFamily="18" charset="2"/>
                  </a:rPr>
                  <a:t>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| </m:t>
                    </m:r>
                    <m:r>
                      <a:rPr lang="en-BD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endParaRPr lang="en-BD" sz="2400" dirty="0"/>
              </a:p>
              <a:p>
                <a:pPr marL="0" indent="0">
                  <a:buNone/>
                </a:pPr>
                <a:r>
                  <a:rPr lang="en-BD" dirty="0"/>
                  <a:t>Check if this grammar is LL(1) or not</a:t>
                </a:r>
              </a:p>
              <a:p>
                <a:pPr marL="0" indent="0">
                  <a:buNone/>
                </a:pPr>
                <a:r>
                  <a:rPr lang="en-BD" b="1" dirty="0"/>
                  <a:t>Solution: </a:t>
                </a:r>
              </a:p>
              <a:p>
                <a:r>
                  <a:rPr lang="en-US" sz="2800" dirty="0">
                    <a:sym typeface="Symbol" pitchFamily="18" charset="2"/>
                  </a:rPr>
                  <a:t>For this grammar </a:t>
                </a:r>
                <a:r>
                  <a:rPr lang="en-US" dirty="0">
                    <a:sym typeface="Symbol" pitchFamily="18" charset="2"/>
                  </a:rPr>
                  <a:t>S  </a:t>
                </a:r>
                <a:r>
                  <a:rPr lang="en-US" dirty="0" err="1">
                    <a:sym typeface="Symbol" pitchFamily="18" charset="2"/>
                  </a:rPr>
                  <a:t>aSA</a:t>
                </a:r>
                <a:r>
                  <a:rPr lang="en-US" dirty="0">
                    <a:sym typeface="Symbol" pitchFamily="18" charset="2"/>
                  </a:rPr>
                  <a:t> | 𝜀</a:t>
                </a:r>
              </a:p>
              <a:p>
                <a:pPr lvl="1"/>
                <a:r>
                  <a:rPr lang="en-US" dirty="0">
                    <a:sym typeface="Symbol" pitchFamily="18" charset="2"/>
                  </a:rPr>
                  <a:t>	First(</a:t>
                </a:r>
                <a:r>
                  <a:rPr lang="en-US" dirty="0" err="1">
                    <a:sym typeface="Symbol" pitchFamily="18" charset="2"/>
                  </a:rPr>
                  <a:t>aSA</a:t>
                </a:r>
                <a:r>
                  <a:rPr lang="en-US" dirty="0">
                    <a:sym typeface="Symbol" pitchFamily="18" charset="2"/>
                  </a:rPr>
                  <a:t>) = {a} , Follow(S) = {$,c}, </a:t>
                </a:r>
                <a:r>
                  <a:rPr lang="en-BD" dirty="0">
                    <a:ea typeface="Cambria Math" panose="02040503050406030204" pitchFamily="18" charset="0"/>
                    <a:sym typeface="Symbol" pitchFamily="18" charset="2"/>
                  </a:rPr>
                  <a:t>First(</a:t>
                </a:r>
                <a:r>
                  <a:rPr lang="en-US" dirty="0" err="1">
                    <a:sym typeface="Symbol" pitchFamily="18" charset="2"/>
                  </a:rPr>
                  <a:t>aSA</a:t>
                </a:r>
                <a:r>
                  <a:rPr lang="en-US" dirty="0">
                    <a:ea typeface="Cambria Math" panose="02040503050406030204" pitchFamily="18" charset="0"/>
                    <a:sym typeface="Symbol" pitchFamily="18" charset="2"/>
                  </a:rPr>
                  <a:t>)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∩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  <a:sym typeface="Symbol" pitchFamily="18" charset="2"/>
                  </a:rPr>
                  <a:t> </a:t>
                </a:r>
                <a:r>
                  <a:rPr lang="en-BD" dirty="0">
                    <a:ea typeface="Cambria Math" panose="02040503050406030204" pitchFamily="18" charset="0"/>
                    <a:sym typeface="Symbol" pitchFamily="18" charset="2"/>
                  </a:rPr>
                  <a:t>Follow(S</a:t>
                </a:r>
                <a:r>
                  <a:rPr lang="en-US" dirty="0">
                    <a:ea typeface="Cambria Math" panose="02040503050406030204" pitchFamily="18" charset="0"/>
                    <a:sym typeface="Symbol" pitchFamily="18" charset="2"/>
                  </a:rPr>
                  <a:t>) =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∅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  <a:sym typeface="Symbol" pitchFamily="18" charset="2"/>
                  </a:rPr>
                  <a:t> </a:t>
                </a:r>
              </a:p>
              <a:p>
                <a:r>
                  <a:rPr lang="en-US" sz="2800" dirty="0">
                    <a:sym typeface="Symbol" pitchFamily="18" charset="2"/>
                  </a:rPr>
                  <a:t>For this grammar </a:t>
                </a:r>
                <a:r>
                  <a:rPr lang="en-BD" dirty="0">
                    <a:sym typeface="Symbol" pitchFamily="18" charset="2"/>
                  </a:rPr>
                  <a:t>A</a:t>
                </a:r>
                <a:r>
                  <a:rPr lang="en-US" sz="2800" dirty="0">
                    <a:sym typeface="Symbol" pitchFamily="18" charset="2"/>
                  </a:rPr>
                  <a:t>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</m:t>
                    </m:r>
                    <m:r>
                      <a:rPr lang="en-US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| </m:t>
                    </m:r>
                    <m:r>
                      <a:rPr lang="en-BD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endParaRPr lang="en-US" sz="2800" dirty="0">
                  <a:ea typeface="Cambria Math" panose="02040503050406030204" pitchFamily="18" charset="0"/>
                </a:endParaRPr>
              </a:p>
              <a:p>
                <a:pPr lvl="1"/>
                <a:r>
                  <a:rPr lang="en-US" dirty="0">
                    <a:sym typeface="Symbol" pitchFamily="18" charset="2"/>
                  </a:rPr>
                  <a:t>First(c) = {c} , Follow(A) = {$,c}, </a:t>
                </a:r>
                <a:r>
                  <a:rPr lang="en-BD" dirty="0">
                    <a:ea typeface="Cambria Math" panose="02040503050406030204" pitchFamily="18" charset="0"/>
                    <a:sym typeface="Symbol" pitchFamily="18" charset="2"/>
                  </a:rPr>
                  <a:t>First(c</a:t>
                </a:r>
                <a:r>
                  <a:rPr lang="en-US" dirty="0">
                    <a:ea typeface="Cambria Math" panose="02040503050406030204" pitchFamily="18" charset="0"/>
                    <a:sym typeface="Symbol" pitchFamily="18" charset="2"/>
                  </a:rPr>
                  <a:t>)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∩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  <a:sym typeface="Symbol" pitchFamily="18" charset="2"/>
                  </a:rPr>
                  <a:t> </a:t>
                </a:r>
                <a:r>
                  <a:rPr lang="en-BD" dirty="0">
                    <a:ea typeface="Cambria Math" panose="02040503050406030204" pitchFamily="18" charset="0"/>
                    <a:sym typeface="Symbol" pitchFamily="18" charset="2"/>
                  </a:rPr>
                  <a:t>Follow(A</a:t>
                </a:r>
                <a:r>
                  <a:rPr lang="en-US" dirty="0">
                    <a:ea typeface="Cambria Math" panose="02040503050406030204" pitchFamily="18" charset="0"/>
                    <a:sym typeface="Symbol" pitchFamily="18" charset="2"/>
                  </a:rPr>
                  <a:t>) = {c}</a:t>
                </a:r>
                <a:endParaRPr lang="en-BD" dirty="0"/>
              </a:p>
              <a:p>
                <a:r>
                  <a:rPr lang="en-US" sz="2800" dirty="0">
                    <a:sym typeface="Symbol" pitchFamily="18" charset="2"/>
                  </a:rPr>
                  <a:t>So, this grammar is not LL(1)</a:t>
                </a:r>
              </a:p>
              <a:p>
                <a:pPr marL="0" indent="0">
                  <a:buNone/>
                </a:pPr>
                <a:endParaRPr lang="en-BD" b="1" dirty="0"/>
              </a:p>
              <a:p>
                <a:endParaRPr lang="en-BD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A62F53-41CA-1D57-21AB-07C1CB900A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B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24330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7D445-0412-F1D3-4C45-66F800A8E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EX3: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B4A914-7FF9-EED5-B2B1-4581806550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3657600" lvl="8" indent="0">
                  <a:buNone/>
                </a:pPr>
                <a:r>
                  <a:rPr lang="en-US" sz="2400" dirty="0">
                    <a:sym typeface="Symbol" pitchFamily="18" charset="2"/>
                  </a:rPr>
                  <a:t>S  </a:t>
                </a:r>
                <a:r>
                  <a:rPr lang="en-US" sz="2400" dirty="0" err="1">
                    <a:sym typeface="Symbol" pitchFamily="18" charset="2"/>
                  </a:rPr>
                  <a:t>aSbS</a:t>
                </a:r>
                <a:r>
                  <a:rPr lang="en-US" sz="2400" dirty="0">
                    <a:sym typeface="Symbol" pitchFamily="18" charset="2"/>
                  </a:rPr>
                  <a:t> | </a:t>
                </a:r>
                <a:r>
                  <a:rPr lang="en-US" sz="2400" dirty="0" err="1">
                    <a:sym typeface="Symbol" pitchFamily="18" charset="2"/>
                  </a:rPr>
                  <a:t>bSaS</a:t>
                </a:r>
                <a:r>
                  <a:rPr lang="en-US" sz="2400" dirty="0">
                    <a:sym typeface="Symbol" pitchFamily="18" charset="2"/>
                  </a:rPr>
                  <a:t> | </a:t>
                </a:r>
                <a14:m>
                  <m:oMath xmlns:m="http://schemas.openxmlformats.org/officeDocument/2006/math">
                    <m:r>
                      <a:rPr lang="en-BD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endParaRPr lang="en-BD" sz="2400" dirty="0"/>
              </a:p>
              <a:p>
                <a:pPr marL="0" indent="0">
                  <a:buNone/>
                </a:pPr>
                <a:r>
                  <a:rPr lang="en-BD" dirty="0"/>
                  <a:t>Check if this grammar is LL(1) or not</a:t>
                </a:r>
              </a:p>
              <a:p>
                <a:pPr marL="0" indent="0">
                  <a:buNone/>
                </a:pPr>
                <a:r>
                  <a:rPr lang="en-BD" b="1" dirty="0"/>
                  <a:t>Solution: </a:t>
                </a:r>
              </a:p>
              <a:p>
                <a:pPr marL="0" indent="0">
                  <a:buNone/>
                </a:pPr>
                <a:r>
                  <a:rPr lang="en-US" sz="2800" dirty="0">
                    <a:sym typeface="Symbol" pitchFamily="18" charset="2"/>
                  </a:rPr>
                  <a:t>For this grammar S  </a:t>
                </a:r>
                <a:r>
                  <a:rPr lang="en-US" sz="2800" dirty="0" err="1">
                    <a:sym typeface="Symbol" pitchFamily="18" charset="2"/>
                  </a:rPr>
                  <a:t>aSbS</a:t>
                </a:r>
                <a:r>
                  <a:rPr lang="en-US" sz="2800" dirty="0">
                    <a:sym typeface="Symbol" pitchFamily="18" charset="2"/>
                  </a:rPr>
                  <a:t> | </a:t>
                </a:r>
                <a:r>
                  <a:rPr lang="en-US" sz="2800" dirty="0" err="1">
                    <a:sym typeface="Symbol" pitchFamily="18" charset="2"/>
                  </a:rPr>
                  <a:t>bSaS</a:t>
                </a:r>
                <a:r>
                  <a:rPr lang="en-US" sz="2800" dirty="0">
                    <a:sym typeface="Symbol" pitchFamily="18" charset="2"/>
                  </a:rPr>
                  <a:t> | </a:t>
                </a:r>
                <a14:m>
                  <m:oMath xmlns:m="http://schemas.openxmlformats.org/officeDocument/2006/math">
                    <m:r>
                      <a:rPr lang="en-BD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endParaRPr lang="en-BD" sz="2800" dirty="0"/>
              </a:p>
              <a:p>
                <a:pPr lvl="1"/>
                <a:r>
                  <a:rPr lang="en-US" dirty="0">
                    <a:sym typeface="Symbol" pitchFamily="18" charset="2"/>
                  </a:rPr>
                  <a:t>First(</a:t>
                </a:r>
                <a:r>
                  <a:rPr lang="en-US" dirty="0" err="1">
                    <a:sym typeface="Symbol" pitchFamily="18" charset="2"/>
                  </a:rPr>
                  <a:t>aSbS</a:t>
                </a:r>
                <a:r>
                  <a:rPr lang="en-US" dirty="0">
                    <a:sym typeface="Symbol" pitchFamily="18" charset="2"/>
                  </a:rPr>
                  <a:t>) = {a} , First (</a:t>
                </a:r>
                <a:r>
                  <a:rPr lang="en-US" dirty="0" err="1">
                    <a:sym typeface="Symbol" pitchFamily="18" charset="2"/>
                  </a:rPr>
                  <a:t>bSaS</a:t>
                </a:r>
                <a:r>
                  <a:rPr lang="en-US" dirty="0">
                    <a:sym typeface="Symbol" pitchFamily="18" charset="2"/>
                  </a:rPr>
                  <a:t>) = {b}, Follow(S) = {$, b, a}</a:t>
                </a:r>
              </a:p>
              <a:p>
                <a:pPr lvl="1"/>
                <a:r>
                  <a:rPr lang="en-BD" dirty="0">
                    <a:ea typeface="Cambria Math" panose="02040503050406030204" pitchFamily="18" charset="0"/>
                    <a:sym typeface="Symbol" pitchFamily="18" charset="2"/>
                  </a:rPr>
                  <a:t>First(</a:t>
                </a:r>
                <a:r>
                  <a:rPr lang="en-US" dirty="0" err="1">
                    <a:sym typeface="Symbol" pitchFamily="18" charset="2"/>
                  </a:rPr>
                  <a:t>aSbS</a:t>
                </a:r>
                <a:r>
                  <a:rPr lang="en-US" dirty="0">
                    <a:ea typeface="Cambria Math" panose="02040503050406030204" pitchFamily="18" charset="0"/>
                    <a:sym typeface="Symbol" pitchFamily="18" charset="2"/>
                  </a:rPr>
                  <a:t>)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∩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  <a:sym typeface="Symbol" pitchFamily="18" charset="2"/>
                  </a:rPr>
                  <a:t> </a:t>
                </a:r>
                <a:r>
                  <a:rPr lang="en-US" dirty="0">
                    <a:sym typeface="Symbol" pitchFamily="18" charset="2"/>
                  </a:rPr>
                  <a:t>First (bSaS)</a:t>
                </a:r>
                <a:r>
                  <a:rPr lang="en-US" dirty="0">
                    <a:ea typeface="Cambria Math" panose="02040503050406030204" pitchFamily="18" charset="0"/>
                    <a:sym typeface="Symbol" pitchFamily="18" charset="2"/>
                  </a:rPr>
                  <a:t> =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∅</m:t>
                    </m:r>
                  </m:oMath>
                </a14:m>
                <a:endParaRPr lang="en-US" dirty="0">
                  <a:ea typeface="Cambria Math" panose="02040503050406030204" pitchFamily="18" charset="0"/>
                  <a:sym typeface="Symbol" pitchFamily="18" charset="2"/>
                </a:endParaRPr>
              </a:p>
              <a:p>
                <a:pPr lvl="1"/>
                <a:r>
                  <a:rPr lang="en-BD" dirty="0">
                    <a:ea typeface="Cambria Math" panose="02040503050406030204" pitchFamily="18" charset="0"/>
                    <a:sym typeface="Symbol" pitchFamily="18" charset="2"/>
                  </a:rPr>
                  <a:t>First(</a:t>
                </a:r>
                <a:r>
                  <a:rPr lang="en-US" dirty="0" err="1">
                    <a:sym typeface="Symbol" pitchFamily="18" charset="2"/>
                  </a:rPr>
                  <a:t>aSbS</a:t>
                </a:r>
                <a:r>
                  <a:rPr lang="en-US" dirty="0">
                    <a:ea typeface="Cambria Math" panose="02040503050406030204" pitchFamily="18" charset="0"/>
                    <a:sym typeface="Symbol" pitchFamily="18" charset="2"/>
                  </a:rPr>
                  <a:t>)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∩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  <a:sym typeface="Symbol" pitchFamily="18" charset="2"/>
                  </a:rPr>
                  <a:t> </a:t>
                </a:r>
                <a:r>
                  <a:rPr lang="en-US" dirty="0">
                    <a:sym typeface="Symbol" pitchFamily="18" charset="2"/>
                  </a:rPr>
                  <a:t>Follow(S) = {a}</a:t>
                </a:r>
              </a:p>
              <a:p>
                <a:pPr lvl="1"/>
                <a:r>
                  <a:rPr lang="en-US" dirty="0">
                    <a:sym typeface="Symbol" pitchFamily="18" charset="2"/>
                  </a:rPr>
                  <a:t>First (</a:t>
                </a:r>
                <a:r>
                  <a:rPr lang="en-US" dirty="0" err="1">
                    <a:sym typeface="Symbol" pitchFamily="18" charset="2"/>
                  </a:rPr>
                  <a:t>bSaS</a:t>
                </a:r>
                <a:r>
                  <a:rPr lang="en-US" dirty="0">
                    <a:sym typeface="Symbol" pitchFamily="18" charset="2"/>
                  </a:rPr>
                  <a:t>)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∩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  <a:sym typeface="Symbol" pitchFamily="18" charset="2"/>
                  </a:rPr>
                  <a:t> </a:t>
                </a:r>
                <a:r>
                  <a:rPr lang="en-US" dirty="0">
                    <a:sym typeface="Symbol" pitchFamily="18" charset="2"/>
                  </a:rPr>
                  <a:t>Follow(S) = {b}</a:t>
                </a:r>
                <a:endParaRPr lang="en-US" dirty="0">
                  <a:ea typeface="Cambria Math" panose="02040503050406030204" pitchFamily="18" charset="0"/>
                  <a:sym typeface="Symbol" pitchFamily="18" charset="2"/>
                </a:endParaRPr>
              </a:p>
              <a:p>
                <a:r>
                  <a:rPr lang="en-US" sz="2800" dirty="0">
                    <a:sym typeface="Symbol" pitchFamily="18" charset="2"/>
                  </a:rPr>
                  <a:t>So, this grammar is not LL(1)</a:t>
                </a:r>
              </a:p>
              <a:p>
                <a:endParaRPr lang="en-BD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B4A914-7FF9-EED5-B2B1-4581806550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B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68955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174704-8884-028A-15F4-E5F6EF8A94F0}"/>
              </a:ext>
            </a:extLst>
          </p:cNvPr>
          <p:cNvSpPr txBox="1"/>
          <p:nvPr/>
        </p:nvSpPr>
        <p:spPr>
          <a:xfrm>
            <a:off x="3221182" y="2644170"/>
            <a:ext cx="557934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sz="9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695434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742</TotalTime>
  <Words>2349</Words>
  <Application>Microsoft Office PowerPoint</Application>
  <PresentationFormat>Widescreen</PresentationFormat>
  <Paragraphs>308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Aptos</vt:lpstr>
      <vt:lpstr>Aptos Display</vt:lpstr>
      <vt:lpstr>Arial</vt:lpstr>
      <vt:lpstr>Cambria Math</vt:lpstr>
      <vt:lpstr>Symbol</vt:lpstr>
      <vt:lpstr>Wingdings</vt:lpstr>
      <vt:lpstr>Office Theme</vt:lpstr>
      <vt:lpstr>Non-Recursive Predictive Parser</vt:lpstr>
      <vt:lpstr>Non-Recursive Predictive Parser</vt:lpstr>
      <vt:lpstr>LL(1) parser</vt:lpstr>
      <vt:lpstr>Prime Requirement of LL(1) Parser</vt:lpstr>
      <vt:lpstr>LL(1) Parsing Table</vt:lpstr>
      <vt:lpstr>Rules for creating LL(1) Parsing Table</vt:lpstr>
      <vt:lpstr>LL(1) Parser – Parser Actions</vt:lpstr>
      <vt:lpstr>LL(1) Parser – Parser Actions</vt:lpstr>
      <vt:lpstr>Ex1:</vt:lpstr>
      <vt:lpstr>Finding First and Follow</vt:lpstr>
      <vt:lpstr>Creating LL(1) Parsing Table</vt:lpstr>
      <vt:lpstr>Stack Implementation</vt:lpstr>
      <vt:lpstr>Creating Parse Tree</vt:lpstr>
      <vt:lpstr>Ex2:</vt:lpstr>
      <vt:lpstr>Finding First and Follow</vt:lpstr>
      <vt:lpstr>Creating LL(1) Parsing Table</vt:lpstr>
      <vt:lpstr>Stack Implementation</vt:lpstr>
      <vt:lpstr>Creating Parse Tree</vt:lpstr>
      <vt:lpstr>How to check given Grammar is LL(1)</vt:lpstr>
      <vt:lpstr>Ex1:</vt:lpstr>
      <vt:lpstr>How to check given Grammar is LL(1)</vt:lpstr>
      <vt:lpstr>Ex1:</vt:lpstr>
      <vt:lpstr>Ex1: (Cont’d)</vt:lpstr>
      <vt:lpstr>Ex2:</vt:lpstr>
      <vt:lpstr>EX3: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Rakib Mahmud</dc:creator>
  <cp:lastModifiedBy>s m nabil ausaf</cp:lastModifiedBy>
  <cp:revision>8</cp:revision>
  <dcterms:created xsi:type="dcterms:W3CDTF">2024-11-01T16:40:18Z</dcterms:created>
  <dcterms:modified xsi:type="dcterms:W3CDTF">2025-08-30T15:08:26Z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2024-11-01T22:18:13Z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e5b25513-649b-4fb5-9155-a9ebe9987495</vt:lpwstr>
  </property>
  <property fmtid="{D5CDD505-2E9C-101B-9397-08002B2CF9AE}" pid="7" name="MSIP_Label_defa4170-0d19-0005-0004-bc88714345d2_ActionId">
    <vt:lpwstr>05d5e08c-9216-44c9-b330-4f26a2ec81b3</vt:lpwstr>
  </property>
  <property fmtid="{D5CDD505-2E9C-101B-9397-08002B2CF9AE}" pid="8" name="MSIP_Label_defa4170-0d19-0005-0004-bc88714345d2_ContentBits">
    <vt:lpwstr>0</vt:lpwstr>
  </property>
</Properties>
</file>