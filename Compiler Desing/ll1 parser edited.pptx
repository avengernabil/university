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9"/>
  </p:notesMasterIdLst>
  <p:sldIdLst>
    <p:sldId id="262" r:id="rId2"/>
    <p:sldId id="263" r:id="rId3"/>
    <p:sldId id="284" r:id="rId4"/>
    <p:sldId id="275" r:id="rId5"/>
    <p:sldId id="279" r:id="rId6"/>
    <p:sldId id="278" r:id="rId7"/>
    <p:sldId id="285" r:id="rId8"/>
  </p:sldIdLst>
  <p:sldSz cx="9144000" cy="5143500" type="screen16x9"/>
  <p:notesSz cx="6858000" cy="9144000"/>
  <p:embeddedFontLst>
    <p:embeddedFont>
      <p:font typeface="Corbel" panose="020B050302020402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010478-F138-4EF5-870D-C743B711A1FD}">
  <a:tblStyle styleId="{0D010478-F138-4EF5-870D-C743B711A1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cc7554a049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cc7554a049_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107aaa41fe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107aaa41fe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107aaa41fe9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107aaa41fe9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cc7554a049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cc7554a049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3572"/>
            <a:ext cx="3761184" cy="5147072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035052"/>
            <a:ext cx="6430967" cy="1962149"/>
          </a:xfrm>
        </p:spPr>
        <p:txBody>
          <a:bodyPr anchor="b">
            <a:normAutofit/>
          </a:bodyPr>
          <a:lstStyle>
            <a:lvl1pPr algn="r">
              <a:defRPr sz="45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2997200"/>
            <a:ext cx="5240734" cy="1041401"/>
          </a:xfrm>
        </p:spPr>
        <p:txBody>
          <a:bodyPr anchor="t">
            <a:normAutofit/>
          </a:bodyPr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4412457"/>
            <a:ext cx="3243033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914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4400349"/>
            <a:ext cx="41337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45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210" y="2000249"/>
            <a:ext cx="6698060" cy="1582787"/>
          </a:xfrm>
        </p:spPr>
        <p:txBody>
          <a:bodyPr anchor="b"/>
          <a:lstStyle>
            <a:lvl1pPr algn="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209" y="3583036"/>
            <a:ext cx="669806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17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35" y="2000250"/>
            <a:ext cx="3671291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5975" y="2000250"/>
            <a:ext cx="3671292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05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34" y="1993900"/>
            <a:ext cx="34553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233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366" y="2000250"/>
            <a:ext cx="3466903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5975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002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1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66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00150"/>
            <a:ext cx="2661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525" y="514350"/>
            <a:ext cx="4680743" cy="3829051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2228850"/>
            <a:ext cx="2661841" cy="13716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95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3" y="1314449"/>
            <a:ext cx="4069619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6011" y="685800"/>
            <a:ext cx="2460731" cy="3429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043" y="2343149"/>
            <a:ext cx="4069619" cy="13716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7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3549649"/>
            <a:ext cx="7514033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5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3974702"/>
            <a:ext cx="7514033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2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3" cy="2286000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23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7609" y="2571749"/>
            <a:ext cx="6399611" cy="28575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5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3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425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2481436"/>
            <a:ext cx="7514032" cy="1101600"/>
          </a:xfrm>
        </p:spPr>
        <p:txBody>
          <a:bodyPr anchor="b">
            <a:normAutofit/>
          </a:bodyPr>
          <a:lstStyle>
            <a:lvl1pPr algn="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3036"/>
            <a:ext cx="7514033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856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5" y="2914650"/>
            <a:ext cx="7514033" cy="66675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1400"/>
            <a:ext cx="7514033" cy="7620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448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4" cy="20454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4" y="2628900"/>
            <a:ext cx="7514035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262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801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492" y="514350"/>
            <a:ext cx="1327777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4" y="514350"/>
            <a:ext cx="6014807" cy="38290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9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27351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05895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>
            <a:spLocks noGrp="1"/>
          </p:cNvSpPr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ubTitle" idx="1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4273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>
            <a:spLocks noGrp="1"/>
          </p:cNvSpPr>
          <p:nvPr>
            <p:ph type="title" hasCustomPrompt="1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3" name="Google Shape;193;p26"/>
          <p:cNvSpPr txBox="1">
            <a:spLocks noGrp="1"/>
          </p:cNvSpPr>
          <p:nvPr>
            <p:ph type="subTitle" idx="1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32345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4373850" y="944250"/>
            <a:ext cx="4009500" cy="64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title" idx="2" hasCustomPrompt="1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8" name="Google Shape;208;p28"/>
          <p:cNvSpPr txBox="1">
            <a:spLocks noGrp="1"/>
          </p:cNvSpPr>
          <p:nvPr>
            <p:ph type="subTitle" idx="1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9365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>
            <a:spLocks noGrp="1"/>
          </p:cNvSpPr>
          <p:nvPr>
            <p:ph type="title"/>
          </p:nvPr>
        </p:nvSpPr>
        <p:spPr>
          <a:xfrm>
            <a:off x="4346500" y="2467375"/>
            <a:ext cx="4083600" cy="120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0" name="Google Shape;200;p27"/>
          <p:cNvSpPr txBox="1">
            <a:spLocks noGrp="1"/>
          </p:cNvSpPr>
          <p:nvPr>
            <p:ph type="title" idx="2" hasCustomPrompt="1"/>
          </p:nvPr>
        </p:nvSpPr>
        <p:spPr>
          <a:xfrm>
            <a:off x="4956100" y="1021325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1" name="Google Shape;201;p27"/>
          <p:cNvSpPr txBox="1">
            <a:spLocks noGrp="1"/>
          </p:cNvSpPr>
          <p:nvPr>
            <p:ph type="subTitle" idx="1"/>
          </p:nvPr>
        </p:nvSpPr>
        <p:spPr>
          <a:xfrm>
            <a:off x="4346500" y="3649675"/>
            <a:ext cx="40836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4162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3109" y="0"/>
            <a:ext cx="1827610" cy="51435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3" y="2000250"/>
            <a:ext cx="7514035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9492" y="4412457"/>
            <a:ext cx="8572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9210" y="4412457"/>
            <a:ext cx="531313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3893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92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/>
          <p:cNvSpPr txBox="1">
            <a:spLocks noGrp="1"/>
          </p:cNvSpPr>
          <p:nvPr>
            <p:ph type="subTitle" idx="1"/>
          </p:nvPr>
        </p:nvSpPr>
        <p:spPr>
          <a:xfrm>
            <a:off x="1478756" y="1682000"/>
            <a:ext cx="4807744" cy="28399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Presented By Team </a:t>
            </a:r>
            <a:r>
              <a:rPr lang="en-US" sz="2000" b="1" dirty="0"/>
              <a:t>ZERO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Our Group Members Are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1.S M Nabil Ausaf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2.Adib Chowdhury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3.Sumaiya Rahaman Ava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4.Rayhan Hossain Rohan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5.MD Akram </a:t>
            </a:r>
            <a:endParaRPr sz="1800" b="1" dirty="0"/>
          </a:p>
        </p:txBody>
      </p:sp>
      <p:sp>
        <p:nvSpPr>
          <p:cNvPr id="553" name="Google Shape;553;p66"/>
          <p:cNvSpPr txBox="1">
            <a:spLocks noGrp="1"/>
          </p:cNvSpPr>
          <p:nvPr>
            <p:ph type="title"/>
          </p:nvPr>
        </p:nvSpPr>
        <p:spPr>
          <a:xfrm>
            <a:off x="713225" y="445024"/>
            <a:ext cx="5644375" cy="778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                    </a:t>
            </a:r>
            <a:r>
              <a:rPr lang="en-US" sz="3200" dirty="0"/>
              <a:t>LL1 parser table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B8AF43-9DA6-567C-AECB-C62B2EB860F3}"/>
              </a:ext>
            </a:extLst>
          </p:cNvPr>
          <p:cNvSpPr/>
          <p:nvPr/>
        </p:nvSpPr>
        <p:spPr>
          <a:xfrm>
            <a:off x="8608219" y="4657725"/>
            <a:ext cx="371475" cy="3357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7"/>
          <p:cNvSpPr txBox="1">
            <a:spLocks noGrp="1"/>
          </p:cNvSpPr>
          <p:nvPr>
            <p:ph type="subTitle" idx="1"/>
          </p:nvPr>
        </p:nvSpPr>
        <p:spPr>
          <a:xfrm>
            <a:off x="1335880" y="814388"/>
            <a:ext cx="7188919" cy="34048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1" dirty="0"/>
              <a:t>Grammar:</a:t>
            </a:r>
            <a:endParaRPr lang="en-US" sz="2800" dirty="0"/>
          </a:p>
          <a:p>
            <a:r>
              <a:rPr lang="en-US" sz="2800" dirty="0"/>
              <a:t>S → LM  </a:t>
            </a:r>
          </a:p>
          <a:p>
            <a:r>
              <a:rPr lang="en-US" sz="2800" dirty="0"/>
              <a:t>L → l | ε  </a:t>
            </a:r>
          </a:p>
          <a:p>
            <a:r>
              <a:rPr lang="en-US" sz="2800" dirty="0"/>
              <a:t>M → </a:t>
            </a:r>
            <a:r>
              <a:rPr lang="en-US" sz="2800" dirty="0" err="1"/>
              <a:t>mN</a:t>
            </a:r>
            <a:r>
              <a:rPr lang="en-US" sz="2800" dirty="0"/>
              <a:t>  </a:t>
            </a:r>
          </a:p>
          <a:p>
            <a:r>
              <a:rPr lang="en-US" sz="2800" dirty="0"/>
              <a:t>N → n | ε</a:t>
            </a:r>
          </a:p>
          <a:p>
            <a:r>
              <a:rPr lang="en-US" sz="2800" dirty="0"/>
              <a:t>Given that, The input string is  </a:t>
            </a:r>
            <a:r>
              <a:rPr lang="en-US" sz="2800" b="1" dirty="0" err="1"/>
              <a:t>lmn</a:t>
            </a:r>
            <a:r>
              <a:rPr lang="en-US" sz="2800" b="1" dirty="0"/>
              <a:t>$</a:t>
            </a:r>
            <a:r>
              <a:rPr lang="en-US" sz="2800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E0235D-C840-BF7A-2662-565E8A7D72DE}"/>
              </a:ext>
            </a:extLst>
          </p:cNvPr>
          <p:cNvSpPr/>
          <p:nvPr/>
        </p:nvSpPr>
        <p:spPr>
          <a:xfrm>
            <a:off x="8524799" y="4643438"/>
            <a:ext cx="476326" cy="3786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BC2565D-5E56-49DC-9C5F-E41916C32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19907"/>
              </p:ext>
            </p:extLst>
          </p:nvPr>
        </p:nvGraphicFramePr>
        <p:xfrm>
          <a:off x="1209600" y="1288800"/>
          <a:ext cx="5695200" cy="2497706"/>
        </p:xfrm>
        <a:graphic>
          <a:graphicData uri="http://schemas.openxmlformats.org/drawingml/2006/table">
            <a:tbl>
              <a:tblPr firstRow="1" firstCol="1" bandRow="1">
                <a:tableStyleId>{0D010478-F138-4EF5-870D-C743B711A1FD}</a:tableStyleId>
              </a:tblPr>
              <a:tblGrid>
                <a:gridCol w="1713600">
                  <a:extLst>
                    <a:ext uri="{9D8B030D-6E8A-4147-A177-3AD203B41FA5}">
                      <a16:colId xmlns:a16="http://schemas.microsoft.com/office/drawing/2014/main" val="854223800"/>
                    </a:ext>
                  </a:extLst>
                </a:gridCol>
                <a:gridCol w="2083200">
                  <a:extLst>
                    <a:ext uri="{9D8B030D-6E8A-4147-A177-3AD203B41FA5}">
                      <a16:colId xmlns:a16="http://schemas.microsoft.com/office/drawing/2014/main" val="3195538911"/>
                    </a:ext>
                  </a:extLst>
                </a:gridCol>
                <a:gridCol w="1898400">
                  <a:extLst>
                    <a:ext uri="{9D8B030D-6E8A-4147-A177-3AD203B41FA5}">
                      <a16:colId xmlns:a16="http://schemas.microsoft.com/office/drawing/2014/main" val="3524390615"/>
                    </a:ext>
                  </a:extLst>
                </a:gridCol>
              </a:tblGrid>
              <a:tr h="5237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FIRST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FOLLOW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71826153"/>
                  </a:ext>
                </a:extLst>
              </a:tr>
              <a:tr h="4989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35823608"/>
                  </a:ext>
                </a:extLst>
              </a:tr>
              <a:tr h="4880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L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79213321"/>
                  </a:ext>
                </a:extLst>
              </a:tr>
              <a:tr h="4880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45080448"/>
                  </a:ext>
                </a:extLst>
              </a:tr>
              <a:tr h="4989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02840936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54ADE91E-37E9-41A7-8D64-969E5838A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00" y="356891"/>
            <a:ext cx="5875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 and FOLLOW Sets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4C006-09BA-40E3-859F-6EBE12C83ACF}"/>
              </a:ext>
            </a:extLst>
          </p:cNvPr>
          <p:cNvSpPr txBox="1"/>
          <p:nvPr/>
        </p:nvSpPr>
        <p:spPr>
          <a:xfrm>
            <a:off x="3225600" y="1821600"/>
            <a:ext cx="9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{l, m}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826E6FE-94B3-40D0-9E2E-9B10717C7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86177"/>
              </p:ext>
            </p:extLst>
          </p:nvPr>
        </p:nvGraphicFramePr>
        <p:xfrm>
          <a:off x="3309303" y="2353160"/>
          <a:ext cx="1154697" cy="367030"/>
        </p:xfrm>
        <a:graphic>
          <a:graphicData uri="http://schemas.openxmlformats.org/drawingml/2006/table">
            <a:tbl>
              <a:tblPr firstRow="1" firstCol="1" bandRow="1">
                <a:tableStyleId>{0D010478-F138-4EF5-870D-C743B711A1FD}</a:tableStyleId>
              </a:tblPr>
              <a:tblGrid>
                <a:gridCol w="1154697">
                  <a:extLst>
                    <a:ext uri="{9D8B030D-6E8A-4147-A177-3AD203B41FA5}">
                      <a16:colId xmlns:a16="http://schemas.microsoft.com/office/drawing/2014/main" val="29445610"/>
                    </a:ext>
                  </a:extLst>
                </a:gridCol>
              </a:tblGrid>
              <a:tr h="3670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{l, ε}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5391812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5B3C8B2-7D83-4CBE-92E5-6D77B5A58544}"/>
              </a:ext>
            </a:extLst>
          </p:cNvPr>
          <p:cNvSpPr txBox="1"/>
          <p:nvPr/>
        </p:nvSpPr>
        <p:spPr>
          <a:xfrm>
            <a:off x="3232800" y="2813671"/>
            <a:ext cx="123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{m}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774C50-F676-4E65-9F02-61A57352D51E}"/>
              </a:ext>
            </a:extLst>
          </p:cNvPr>
          <p:cNvSpPr txBox="1"/>
          <p:nvPr/>
        </p:nvSpPr>
        <p:spPr>
          <a:xfrm>
            <a:off x="3232800" y="3358712"/>
            <a:ext cx="141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{n, ε}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BB356E-397B-4474-BD67-5A85FF66C60D}"/>
              </a:ext>
            </a:extLst>
          </p:cNvPr>
          <p:cNvSpPr txBox="1"/>
          <p:nvPr/>
        </p:nvSpPr>
        <p:spPr>
          <a:xfrm>
            <a:off x="5115600" y="1921293"/>
            <a:ext cx="122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{$}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C9548E-423A-40FD-9F0A-5D00F9DEFEEC}"/>
              </a:ext>
            </a:extLst>
          </p:cNvPr>
          <p:cNvSpPr txBox="1"/>
          <p:nvPr/>
        </p:nvSpPr>
        <p:spPr>
          <a:xfrm>
            <a:off x="5108400" y="2412000"/>
            <a:ext cx="961200" cy="367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{m, $}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11DBA0-205F-46EE-A562-87859F25F160}"/>
              </a:ext>
            </a:extLst>
          </p:cNvPr>
          <p:cNvSpPr txBox="1"/>
          <p:nvPr/>
        </p:nvSpPr>
        <p:spPr>
          <a:xfrm>
            <a:off x="5108400" y="2894400"/>
            <a:ext cx="961200" cy="367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{$}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D1A0DC-9F15-4501-ABDF-AD8FBDA078AC}"/>
              </a:ext>
            </a:extLst>
          </p:cNvPr>
          <p:cNvSpPr txBox="1"/>
          <p:nvPr/>
        </p:nvSpPr>
        <p:spPr>
          <a:xfrm>
            <a:off x="5115600" y="3261430"/>
            <a:ext cx="87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{$}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94591E-31B7-762A-7E71-D26ADF76A987}"/>
              </a:ext>
            </a:extLst>
          </p:cNvPr>
          <p:cNvSpPr/>
          <p:nvPr/>
        </p:nvSpPr>
        <p:spPr>
          <a:xfrm>
            <a:off x="8458200" y="4614863"/>
            <a:ext cx="571500" cy="3929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13" grpId="0"/>
      <p:bldP spid="14" grpId="0"/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B5ABEBF-82A3-4DC6-BE2A-F30DB4112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881016"/>
              </p:ext>
            </p:extLst>
          </p:nvPr>
        </p:nvGraphicFramePr>
        <p:xfrm>
          <a:off x="1724428" y="1605776"/>
          <a:ext cx="5523865" cy="2460704"/>
        </p:xfrm>
        <a:graphic>
          <a:graphicData uri="http://schemas.openxmlformats.org/drawingml/2006/table">
            <a:tbl>
              <a:tblPr firstRow="1" firstCol="1" bandRow="1">
                <a:tableStyleId>{0D010478-F138-4EF5-870D-C743B711A1FD}</a:tableStyleId>
              </a:tblPr>
              <a:tblGrid>
                <a:gridCol w="1104773">
                  <a:extLst>
                    <a:ext uri="{9D8B030D-6E8A-4147-A177-3AD203B41FA5}">
                      <a16:colId xmlns:a16="http://schemas.microsoft.com/office/drawing/2014/main" val="1252083494"/>
                    </a:ext>
                  </a:extLst>
                </a:gridCol>
                <a:gridCol w="1104773">
                  <a:extLst>
                    <a:ext uri="{9D8B030D-6E8A-4147-A177-3AD203B41FA5}">
                      <a16:colId xmlns:a16="http://schemas.microsoft.com/office/drawing/2014/main" val="1440426631"/>
                    </a:ext>
                  </a:extLst>
                </a:gridCol>
                <a:gridCol w="1104773">
                  <a:extLst>
                    <a:ext uri="{9D8B030D-6E8A-4147-A177-3AD203B41FA5}">
                      <a16:colId xmlns:a16="http://schemas.microsoft.com/office/drawing/2014/main" val="2756521518"/>
                    </a:ext>
                  </a:extLst>
                </a:gridCol>
                <a:gridCol w="1104773">
                  <a:extLst>
                    <a:ext uri="{9D8B030D-6E8A-4147-A177-3AD203B41FA5}">
                      <a16:colId xmlns:a16="http://schemas.microsoft.com/office/drawing/2014/main" val="2716913806"/>
                    </a:ext>
                  </a:extLst>
                </a:gridCol>
                <a:gridCol w="1104773">
                  <a:extLst>
                    <a:ext uri="{9D8B030D-6E8A-4147-A177-3AD203B41FA5}">
                      <a16:colId xmlns:a16="http://schemas.microsoft.com/office/drawing/2014/main" val="2720732120"/>
                    </a:ext>
                  </a:extLst>
                </a:gridCol>
              </a:tblGrid>
              <a:tr h="8620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Non-Terminal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l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m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n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$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4868569"/>
                  </a:ext>
                </a:extLst>
              </a:tr>
              <a:tr h="399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S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S → LM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S → LM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79696663"/>
                  </a:ext>
                </a:extLst>
              </a:tr>
              <a:tr h="399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L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L → l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L → ε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L → ε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22327006"/>
                  </a:ext>
                </a:extLst>
              </a:tr>
              <a:tr h="399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M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M → </a:t>
                      </a:r>
                      <a:r>
                        <a:rPr lang="en-US" sz="1800" kern="0" dirty="0" err="1">
                          <a:effectLst/>
                        </a:rPr>
                        <a:t>mN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6041301"/>
                  </a:ext>
                </a:extLst>
              </a:tr>
              <a:tr h="399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N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N → n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N → ε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0413340"/>
                  </a:ext>
                </a:extLst>
              </a:tr>
            </a:tbl>
          </a:graphicData>
        </a:graphic>
      </p:graphicFrame>
      <p:sp>
        <p:nvSpPr>
          <p:cNvPr id="15" name="Rectangle 2">
            <a:extLst>
              <a:ext uri="{FF2B5EF4-FFF2-40B4-BE49-F238E27FC236}">
                <a16:creationId xmlns:a16="http://schemas.microsoft.com/office/drawing/2014/main" id="{8D5444A7-426C-4A15-A9AF-35E8E3E62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4494" y="448644"/>
            <a:ext cx="293262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LL(1) Parser Table: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F6FE40-C611-6431-0BAA-51D0585F1DB0}"/>
              </a:ext>
            </a:extLst>
          </p:cNvPr>
          <p:cNvSpPr/>
          <p:nvPr/>
        </p:nvSpPr>
        <p:spPr>
          <a:xfrm>
            <a:off x="8465344" y="4672013"/>
            <a:ext cx="507206" cy="3500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0376886-A431-484B-8604-2545CC491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64321"/>
              </p:ext>
            </p:extLst>
          </p:nvPr>
        </p:nvGraphicFramePr>
        <p:xfrm>
          <a:off x="1514049" y="1004890"/>
          <a:ext cx="5446828" cy="3747137"/>
        </p:xfrm>
        <a:graphic>
          <a:graphicData uri="http://schemas.openxmlformats.org/drawingml/2006/table">
            <a:tbl>
              <a:tblPr firstRow="1" firstCol="1" bandRow="1">
                <a:tableStyleId>{0D010478-F138-4EF5-870D-C743B711A1FD}</a:tableStyleId>
              </a:tblPr>
              <a:tblGrid>
                <a:gridCol w="1361707">
                  <a:extLst>
                    <a:ext uri="{9D8B030D-6E8A-4147-A177-3AD203B41FA5}">
                      <a16:colId xmlns:a16="http://schemas.microsoft.com/office/drawing/2014/main" val="922754854"/>
                    </a:ext>
                  </a:extLst>
                </a:gridCol>
                <a:gridCol w="1361707">
                  <a:extLst>
                    <a:ext uri="{9D8B030D-6E8A-4147-A177-3AD203B41FA5}">
                      <a16:colId xmlns:a16="http://schemas.microsoft.com/office/drawing/2014/main" val="2433368357"/>
                    </a:ext>
                  </a:extLst>
                </a:gridCol>
                <a:gridCol w="1361707">
                  <a:extLst>
                    <a:ext uri="{9D8B030D-6E8A-4147-A177-3AD203B41FA5}">
                      <a16:colId xmlns:a16="http://schemas.microsoft.com/office/drawing/2014/main" val="2365773526"/>
                    </a:ext>
                  </a:extLst>
                </a:gridCol>
                <a:gridCol w="1361707">
                  <a:extLst>
                    <a:ext uri="{9D8B030D-6E8A-4147-A177-3AD203B41FA5}">
                      <a16:colId xmlns:a16="http://schemas.microsoft.com/office/drawing/2014/main" val="1831972395"/>
                    </a:ext>
                  </a:extLst>
                </a:gridCol>
              </a:tblGrid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Step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Stack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Input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Action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1215414495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S$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lmn$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S → LM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1280310332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M L $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lmn$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L → l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1445022823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3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M l $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lmn$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pop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734656562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4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M $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M → mN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3616283589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5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N m 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pop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3315297336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6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N 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N → n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521428796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7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Pop  (end)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39705830"/>
                  </a:ext>
                </a:extLst>
              </a:tr>
              <a:tr h="413922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8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(empty)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(empty)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 dirty="0">
                          <a:effectLst/>
                        </a:rPr>
                        <a:t> Accepted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3612212447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E2A67528-CF97-46B5-B55E-D7906DC60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322" y="383683"/>
            <a:ext cx="634384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LL(1) Stack Implementation: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6097D2-3691-FAFC-9A37-BA9B77FB6C84}"/>
              </a:ext>
            </a:extLst>
          </p:cNvPr>
          <p:cNvSpPr/>
          <p:nvPr/>
        </p:nvSpPr>
        <p:spPr>
          <a:xfrm>
            <a:off x="8522494" y="4752027"/>
            <a:ext cx="471487" cy="3057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3D8E3195-E27E-4873-8372-06878CF294A8}"/>
              </a:ext>
            </a:extLst>
          </p:cNvPr>
          <p:cNvSpPr/>
          <p:nvPr/>
        </p:nvSpPr>
        <p:spPr>
          <a:xfrm>
            <a:off x="4665598" y="655200"/>
            <a:ext cx="626400" cy="583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2E4E7C-FB55-453F-A9C6-BAF707FA7F3C}"/>
              </a:ext>
            </a:extLst>
          </p:cNvPr>
          <p:cNvCxnSpPr>
            <a:cxnSpLocks/>
          </p:cNvCxnSpPr>
          <p:nvPr/>
        </p:nvCxnSpPr>
        <p:spPr>
          <a:xfrm>
            <a:off x="5111996" y="1072800"/>
            <a:ext cx="367202" cy="57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CD7314-D975-4AF1-A3A3-E8B40038617C}"/>
              </a:ext>
            </a:extLst>
          </p:cNvPr>
          <p:cNvCxnSpPr>
            <a:cxnSpLocks/>
            <a:stCxn id="7" idx="3"/>
          </p:cNvCxnSpPr>
          <p:nvPr/>
        </p:nvCxnSpPr>
        <p:spPr>
          <a:xfrm flipH="1">
            <a:off x="4478398" y="1152992"/>
            <a:ext cx="278934" cy="495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5003873-8581-4AB3-B739-355B2F3EF1BB}"/>
              </a:ext>
            </a:extLst>
          </p:cNvPr>
          <p:cNvSpPr/>
          <p:nvPr/>
        </p:nvSpPr>
        <p:spPr>
          <a:xfrm>
            <a:off x="4032004" y="1648800"/>
            <a:ext cx="539996" cy="633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3C5A1C1-4114-4C0E-902D-771BEEC26C92}"/>
              </a:ext>
            </a:extLst>
          </p:cNvPr>
          <p:cNvSpPr/>
          <p:nvPr/>
        </p:nvSpPr>
        <p:spPr>
          <a:xfrm>
            <a:off x="5392800" y="1648800"/>
            <a:ext cx="539996" cy="633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7C73C7-F680-4093-86CE-39F276F87AB4}"/>
              </a:ext>
            </a:extLst>
          </p:cNvPr>
          <p:cNvCxnSpPr>
            <a:stCxn id="17" idx="4"/>
          </p:cNvCxnSpPr>
          <p:nvPr/>
        </p:nvCxnSpPr>
        <p:spPr>
          <a:xfrm flipH="1">
            <a:off x="3909600" y="2282400"/>
            <a:ext cx="392402" cy="37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FB1FA23-517E-45C4-9F6E-5A3E904005CB}"/>
              </a:ext>
            </a:extLst>
          </p:cNvPr>
          <p:cNvCxnSpPr>
            <a:stCxn id="18" idx="4"/>
          </p:cNvCxnSpPr>
          <p:nvPr/>
        </p:nvCxnSpPr>
        <p:spPr>
          <a:xfrm flipH="1">
            <a:off x="5111996" y="2282400"/>
            <a:ext cx="550802" cy="44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5C59984-4CEE-4A27-B152-DEA42AF40E81}"/>
              </a:ext>
            </a:extLst>
          </p:cNvPr>
          <p:cNvSpPr/>
          <p:nvPr/>
        </p:nvSpPr>
        <p:spPr>
          <a:xfrm>
            <a:off x="3425332" y="2627008"/>
            <a:ext cx="606672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BCC64E9-AB2A-4B1C-A801-02CCF183BFB1}"/>
              </a:ext>
            </a:extLst>
          </p:cNvPr>
          <p:cNvSpPr/>
          <p:nvPr/>
        </p:nvSpPr>
        <p:spPr>
          <a:xfrm>
            <a:off x="4572000" y="2663008"/>
            <a:ext cx="606672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CA2A14A-C675-46F1-96A7-3581135E1BF9}"/>
              </a:ext>
            </a:extLst>
          </p:cNvPr>
          <p:cNvCxnSpPr>
            <a:stCxn id="18" idx="4"/>
          </p:cNvCxnSpPr>
          <p:nvPr/>
        </p:nvCxnSpPr>
        <p:spPr>
          <a:xfrm>
            <a:off x="5662798" y="2282400"/>
            <a:ext cx="529202" cy="511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D430A0BC-0087-442D-BD2B-BD7F2965C57B}"/>
              </a:ext>
            </a:extLst>
          </p:cNvPr>
          <p:cNvSpPr/>
          <p:nvPr/>
        </p:nvSpPr>
        <p:spPr>
          <a:xfrm>
            <a:off x="6096524" y="2728800"/>
            <a:ext cx="529202" cy="6237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5088AF7-1FEA-4CD8-A1D1-86C70085BAE6}"/>
              </a:ext>
            </a:extLst>
          </p:cNvPr>
          <p:cNvCxnSpPr>
            <a:stCxn id="26" idx="4"/>
          </p:cNvCxnSpPr>
          <p:nvPr/>
        </p:nvCxnSpPr>
        <p:spPr>
          <a:xfrm>
            <a:off x="6361125" y="3352592"/>
            <a:ext cx="0" cy="441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9650FA3A-75EB-4E36-9699-47E32E8DF8A5}"/>
              </a:ext>
            </a:extLst>
          </p:cNvPr>
          <p:cNvSpPr/>
          <p:nvPr/>
        </p:nvSpPr>
        <p:spPr>
          <a:xfrm>
            <a:off x="6096524" y="3794400"/>
            <a:ext cx="529202" cy="6237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87FB8A-D609-4D79-89CB-1106754F3028}"/>
              </a:ext>
            </a:extLst>
          </p:cNvPr>
          <p:cNvSpPr txBox="1"/>
          <p:nvPr/>
        </p:nvSpPr>
        <p:spPr>
          <a:xfrm>
            <a:off x="1457324" y="221456"/>
            <a:ext cx="25746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Parse Tree: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29AC1D-5B2B-CA1B-16F2-FDA75EDD1888}"/>
              </a:ext>
            </a:extLst>
          </p:cNvPr>
          <p:cNvSpPr/>
          <p:nvPr/>
        </p:nvSpPr>
        <p:spPr>
          <a:xfrm>
            <a:off x="8415338" y="4557713"/>
            <a:ext cx="507206" cy="3857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18" grpId="0" animBg="1"/>
      <p:bldP spid="23" grpId="0" animBg="1"/>
      <p:bldP spid="28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867555-0B63-1F81-9506-7960DAB3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356" y="871538"/>
            <a:ext cx="2843214" cy="607217"/>
          </a:xfrm>
        </p:spPr>
        <p:txBody>
          <a:bodyPr/>
          <a:lstStyle/>
          <a:p>
            <a:r>
              <a:rPr lang="en-US" altLang="en-US" sz="2000" b="1" dirty="0">
                <a:ln>
                  <a:noFill/>
                </a:ln>
                <a:latin typeface="Arial" panose="020B0604020202020204" pitchFamily="34" charset="0"/>
              </a:rPr>
              <a:t>Conclusion:</a:t>
            </a:r>
            <a:br>
              <a:rPr lang="en-US" altLang="en-US" sz="800" b="1" dirty="0">
                <a:ln>
                  <a:noFill/>
                </a:ln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A5167E-E4C2-DBFE-6067-7233A0FE785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00138" y="1536494"/>
            <a:ext cx="728662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given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grammar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LL(1)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its parse table has no conflicts (each cell has at most one production). Using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sets, we successfully built the parse table and simulated the input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lmn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LL(1) stack parsing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ended in acceptance. This confirms that the string “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lmn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part of the language defined by the grammar. The corresponding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parse tree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follows the derivation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 → LM → l m 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clearly showing how the input is generated by the grammar.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EE54C5-3CE4-165D-7E08-16630C3A8930}"/>
              </a:ext>
            </a:extLst>
          </p:cNvPr>
          <p:cNvSpPr/>
          <p:nvPr/>
        </p:nvSpPr>
        <p:spPr>
          <a:xfrm>
            <a:off x="8658225" y="4729163"/>
            <a:ext cx="392906" cy="3286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980585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85</TotalTime>
  <Words>333</Words>
  <Application>Microsoft Office PowerPoint</Application>
  <PresentationFormat>On-screen Show (16:9)</PresentationFormat>
  <Paragraphs>105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Corbel</vt:lpstr>
      <vt:lpstr>Calibri</vt:lpstr>
      <vt:lpstr>Arial Unicode MS</vt:lpstr>
      <vt:lpstr>Arial</vt:lpstr>
      <vt:lpstr>Parallax</vt:lpstr>
      <vt:lpstr>                             LL1 parser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iFarmer – Empowering Farmers Through Technology -</dc:title>
  <dc:creator>User</dc:creator>
  <cp:lastModifiedBy>s m nabil ausaf</cp:lastModifiedBy>
  <cp:revision>12</cp:revision>
  <dcterms:modified xsi:type="dcterms:W3CDTF">2025-07-31T05:29:47Z</dcterms:modified>
</cp:coreProperties>
</file>