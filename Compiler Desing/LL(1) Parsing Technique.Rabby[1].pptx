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0" r:id="rId2"/>
    <p:sldId id="257" r:id="rId3"/>
    <p:sldId id="261" r:id="rId4"/>
    <p:sldId id="281" r:id="rId5"/>
    <p:sldId id="282" r:id="rId6"/>
    <p:sldId id="283" r:id="rId7"/>
    <p:sldId id="262" r:id="rId8"/>
    <p:sldId id="272" r:id="rId9"/>
    <p:sldId id="275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3AE0DC-2AE5-4F77-B7D3-3C99DE28B87B}">
          <p14:sldIdLst>
            <p14:sldId id="280"/>
            <p14:sldId id="257"/>
            <p14:sldId id="261"/>
            <p14:sldId id="281"/>
          </p14:sldIdLst>
        </p14:section>
        <p14:section name="Untitled Section" id="{7F3BAE29-A4AD-4DE2-8759-871D50CA1B55}">
          <p14:sldIdLst>
            <p14:sldId id="282"/>
            <p14:sldId id="283"/>
            <p14:sldId id="262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1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0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2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7304" y="2811899"/>
            <a:ext cx="65692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LL(1) Parsing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213820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 Syntax Analysis through Predictive Parsing</a:t>
            </a:r>
            <a:endParaRPr lang="en-US" sz="37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5D2BCF-E561-ACBA-81D0-4718DE63C410}"/>
              </a:ext>
            </a:extLst>
          </p:cNvPr>
          <p:cNvCxnSpPr/>
          <p:nvPr/>
        </p:nvCxnSpPr>
        <p:spPr>
          <a:xfrm>
            <a:off x="889000" y="3784600"/>
            <a:ext cx="735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7644" y="780525"/>
            <a:ext cx="1298448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8970"/>
              </a:lnSpc>
            </a:pPr>
            <a:r>
              <a:rPr lang="en-US" sz="6600" dirty="0">
                <a:solidFill>
                  <a:srgbClr val="3A6DDA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Introduction</a:t>
            </a:r>
            <a:endParaRPr lang="en-US" sz="6410" dirty="0"/>
          </a:p>
        </p:txBody>
      </p:sp>
      <p:sp>
        <p:nvSpPr>
          <p:cNvPr id="5" name="Text 1"/>
          <p:cNvSpPr/>
          <p:nvPr/>
        </p:nvSpPr>
        <p:spPr>
          <a:xfrm>
            <a:off x="1078992" y="3633214"/>
            <a:ext cx="5989320" cy="7863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50"/>
              </a:lnSpc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Md </a:t>
            </a:r>
            <a:r>
              <a:rPr lang="en-US" sz="2320" dirty="0" err="1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Mosfiqur</a:t>
            </a: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Rahman</a:t>
            </a:r>
          </a:p>
          <a:p>
            <a:pPr algn="l">
              <a:lnSpc>
                <a:spcPts val="3250"/>
              </a:lnSpc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</a:rPr>
              <a:t>Roll: 22</a:t>
            </a:r>
            <a:endParaRPr lang="en-US" sz="2320" dirty="0"/>
          </a:p>
        </p:txBody>
      </p:sp>
      <p:sp>
        <p:nvSpPr>
          <p:cNvPr id="6" name="Text 2"/>
          <p:cNvSpPr/>
          <p:nvPr/>
        </p:nvSpPr>
        <p:spPr>
          <a:xfrm>
            <a:off x="1078992" y="4728391"/>
            <a:ext cx="5989320" cy="969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</a:rPr>
              <a:t>Tayeba Akter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</a:rPr>
              <a:t>Roll: 21</a:t>
            </a:r>
            <a:endParaRPr lang="en-US" sz="2320" dirty="0"/>
          </a:p>
        </p:txBody>
      </p:sp>
      <p:sp>
        <p:nvSpPr>
          <p:cNvPr id="9" name="Text 5"/>
          <p:cNvSpPr/>
          <p:nvPr/>
        </p:nvSpPr>
        <p:spPr>
          <a:xfrm>
            <a:off x="830460" y="2832530"/>
            <a:ext cx="59893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chemeClr val="accent1">
                    <a:lumMod val="75000"/>
                  </a:schemeClr>
                </a:solidFill>
              </a:rPr>
              <a:t>Team Members</a:t>
            </a:r>
          </a:p>
        </p:txBody>
      </p:sp>
      <p:sp>
        <p:nvSpPr>
          <p:cNvPr id="10" name="Text 6"/>
          <p:cNvSpPr/>
          <p:nvPr/>
        </p:nvSpPr>
        <p:spPr>
          <a:xfrm>
            <a:off x="6738898" y="3633213"/>
            <a:ext cx="5989320" cy="878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Alamin Hossen Rabby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</a:rPr>
              <a:t>Roll: 42</a:t>
            </a:r>
            <a:endParaRPr lang="en-US" sz="2320" dirty="0"/>
          </a:p>
        </p:txBody>
      </p:sp>
      <p:sp>
        <p:nvSpPr>
          <p:cNvPr id="11" name="Text 7"/>
          <p:cNvSpPr/>
          <p:nvPr/>
        </p:nvSpPr>
        <p:spPr>
          <a:xfrm>
            <a:off x="6738898" y="4818887"/>
            <a:ext cx="5989320" cy="878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Sadia Akter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20" dirty="0">
                <a:solidFill>
                  <a:srgbClr val="17171C"/>
                </a:solidFill>
                <a:latin typeface="思源黑体-思源黑体-Regular" pitchFamily="34" charset="0"/>
                <a:ea typeface="思源黑体-思源黑体-Regular" pitchFamily="34" charset="-122"/>
              </a:rPr>
              <a:t>Roll: 25</a:t>
            </a:r>
            <a:endParaRPr lang="en-US" sz="2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964" y="927536"/>
            <a:ext cx="1216152" cy="12161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097280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4640" dirty="0">
                <a:solidFill>
                  <a:srgbClr val="3A6DDA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Grammar</a:t>
            </a:r>
            <a:endParaRPr lang="en-US" sz="464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6AD1FE-A4CA-1D3B-6B53-B9C05EAF546F}"/>
              </a:ext>
            </a:extLst>
          </p:cNvPr>
          <p:cNvSpPr txBox="1">
            <a:spLocks/>
          </p:cNvSpPr>
          <p:nvPr/>
        </p:nvSpPr>
        <p:spPr>
          <a:xfrm>
            <a:off x="1732503" y="3098343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ym typeface="+mn-ea"/>
              </a:rPr>
              <a:t>S → AB | *C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+mn-ea"/>
              </a:rPr>
              <a:t>A → +ab | id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+mn-ea"/>
              </a:rPr>
              <a:t>B → (C)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+mn-ea"/>
              </a:rPr>
              <a:t>C → a</a:t>
            </a:r>
            <a:r>
              <a:rPr lang="el-GR" dirty="0">
                <a:sym typeface="+mn-ea"/>
              </a:rPr>
              <a:t>ε</a:t>
            </a:r>
          </a:p>
          <a:p>
            <a:pPr marL="0" indent="0">
              <a:buFont typeface="Arial" pitchFamily="34" charset="0"/>
              <a:buNone/>
            </a:pPr>
            <a:endParaRPr lang="el-GR" dirty="0"/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+mn-ea"/>
              </a:rPr>
              <a:t>Given input string: +ab(a)$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>
                <a:sym typeface="+mn-ea"/>
              </a:rPr>
              <a:t>                                                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                                                 </a:t>
            </a:r>
            <a:r>
              <a:rPr dirty="0">
                <a:sym typeface="+mn-ea"/>
              </a:rPr>
              <a:t>FIRST and FOLLOW Sets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99120520"/>
              </p:ext>
            </p:extLst>
          </p:nvPr>
        </p:nvGraphicFramePr>
        <p:xfrm>
          <a:off x="974568" y="2190750"/>
          <a:ext cx="12618720" cy="3578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STRING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FIRST 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FOLLOW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{+, id, *}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{$}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{+, id}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{</a:t>
                      </a:r>
                      <a:r>
                        <a:rPr lang="en-US" sz="2200">
                          <a:sym typeface="+mn-ea"/>
                        </a:rPr>
                        <a:t>(</a:t>
                      </a:r>
                      <a:r>
                        <a:rPr sz="2200">
                          <a:sym typeface="+mn-ea"/>
                        </a:rPr>
                        <a:t>}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{</a:t>
                      </a:r>
                      <a:r>
                        <a:rPr lang="en-US" sz="2200">
                          <a:sym typeface="+mn-ea"/>
                        </a:rPr>
                        <a:t>(</a:t>
                      </a:r>
                      <a:r>
                        <a:rPr sz="2200">
                          <a:sym typeface="+mn-ea"/>
                        </a:rPr>
                        <a:t>}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{</a:t>
                      </a:r>
                      <a:r>
                        <a:rPr lang="en-US" sz="2200">
                          <a:sym typeface="+mn-ea"/>
                        </a:rPr>
                        <a:t>$</a:t>
                      </a:r>
                      <a:r>
                        <a:rPr sz="2200">
                          <a:sym typeface="+mn-ea"/>
                        </a:rPr>
                        <a:t>}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{</a:t>
                      </a:r>
                      <a:r>
                        <a:rPr lang="en-US" sz="2200">
                          <a:sym typeface="+mn-ea"/>
                        </a:rPr>
                        <a:t>a</a:t>
                      </a:r>
                      <a:r>
                        <a:rPr sz="2200">
                          <a:sym typeface="+mn-ea"/>
                        </a:rPr>
                        <a:t>}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 dirty="0">
                          <a:sym typeface="+mn-ea"/>
                        </a:rPr>
                        <a:t>{)</a:t>
                      </a:r>
                      <a:r>
                        <a:rPr lang="en-US" sz="2200" dirty="0">
                          <a:sym typeface="+mn-ea"/>
                        </a:rPr>
                        <a:t>,$</a:t>
                      </a:r>
                      <a:r>
                        <a:rPr sz="2200" dirty="0">
                          <a:sym typeface="+mn-ea"/>
                        </a:rPr>
                        <a:t>}</a:t>
                      </a:r>
                      <a:endParaRPr lang="en-US" sz="22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                                      </a:t>
            </a:r>
            <a:r>
              <a:rPr dirty="0">
                <a:sym typeface="+mn-ea"/>
              </a:rPr>
              <a:t>LL(1) Parser Table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06861771"/>
              </p:ext>
            </p:extLst>
          </p:nvPr>
        </p:nvGraphicFramePr>
        <p:xfrm>
          <a:off x="770024" y="2250910"/>
          <a:ext cx="1261872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Non Terminal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+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id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*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(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)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S→AB 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S→AB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S→*C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A→+ab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A→id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B→(C)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C→a   </a:t>
                      </a:r>
                    </a:p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2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                                                    </a:t>
            </a:r>
            <a:r>
              <a:rPr dirty="0">
                <a:sym typeface="+mn-ea"/>
              </a:rPr>
              <a:t>LL(1) Stack Implementation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15019450"/>
              </p:ext>
            </p:extLst>
          </p:nvPr>
        </p:nvGraphicFramePr>
        <p:xfrm>
          <a:off x="806120" y="2190750"/>
          <a:ext cx="126187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STACK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INPUT 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OUTPUT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+ab(a)$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S→AB 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$BA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+ab(a)$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A→+ab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$Bba+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+ab(a)$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$Bba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ym typeface="+mn-ea"/>
                        </a:rPr>
                        <a:t>   </a:t>
                      </a:r>
                      <a:r>
                        <a:rPr sz="2200">
                          <a:sym typeface="+mn-ea"/>
                        </a:rPr>
                        <a:t>ab(a)$</a:t>
                      </a:r>
                      <a:r>
                        <a:rPr lang="en-US" sz="2200">
                          <a:sym typeface="+mn-ea"/>
                        </a:rPr>
                        <a:t>  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$Bb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ym typeface="+mn-ea"/>
                        </a:rPr>
                        <a:t>     </a:t>
                      </a:r>
                      <a:r>
                        <a:rPr sz="2200">
                          <a:sym typeface="+mn-ea"/>
                        </a:rPr>
                        <a:t>b(a)$</a:t>
                      </a:r>
                      <a:r>
                        <a:rPr lang="en-US" sz="2200">
                          <a:sym typeface="+mn-ea"/>
                        </a:rPr>
                        <a:t>  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$B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ym typeface="+mn-ea"/>
                        </a:rPr>
                        <a:t>       </a:t>
                      </a:r>
                      <a:r>
                        <a:rPr sz="2200">
                          <a:sym typeface="+mn-ea"/>
                        </a:rPr>
                        <a:t>(a)$</a:t>
                      </a:r>
                      <a:r>
                        <a:rPr lang="en-US" sz="2200">
                          <a:sym typeface="+mn-ea"/>
                        </a:rPr>
                        <a:t>  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B→(C)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$)</a:t>
                      </a:r>
                      <a:r>
                        <a:rPr sz="2200">
                          <a:sym typeface="+mn-ea"/>
                        </a:rPr>
                        <a:t>C</a:t>
                      </a:r>
                      <a:r>
                        <a:rPr lang="en-US" sz="2200">
                          <a:sym typeface="+mn-ea"/>
                        </a:rPr>
                        <a:t>(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ym typeface="+mn-ea"/>
                        </a:rPr>
                        <a:t>       </a:t>
                      </a:r>
                      <a:r>
                        <a:rPr sz="2200">
                          <a:sym typeface="+mn-ea"/>
                        </a:rPr>
                        <a:t>(a)$</a:t>
                      </a:r>
                      <a:r>
                        <a:rPr lang="en-US" sz="2200">
                          <a:sym typeface="+mn-ea"/>
                        </a:rPr>
                        <a:t>  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$)C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        a)$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ym typeface="+mn-ea"/>
                        </a:rPr>
                        <a:t> C→a   </a:t>
                      </a:r>
                      <a:endParaRPr lang="en-US" sz="22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$)a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ym typeface="+mn-ea"/>
                        </a:rPr>
                        <a:t>        a)$</a:t>
                      </a:r>
                      <a:endParaRPr lang="en-US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$)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          )$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POP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$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           $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Accepted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74796"/>
            <a:ext cx="65972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Parse Tree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2592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/>
              <a:t>The parse tree shows the structure of the input based on the grammar, with each derivation step expanding a node. For the string "</a:t>
            </a:r>
            <a:r>
              <a:rPr lang="en-US" sz="2400" dirty="0">
                <a:sym typeface="+mn-ea"/>
              </a:rPr>
              <a:t> +ab(a)$ </a:t>
            </a:r>
            <a:r>
              <a:rPr lang="en-US" sz="2400" dirty="0"/>
              <a:t>", an error occurs during parsing, indicating it's not valid for the given grammar. As a result, a complete parse tree cannot be formed.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A8C6CB-0D54-E6C4-12B0-4A56EF3CA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D496E-9096-7419-5DDB-88B29AE01CEA}"/>
              </a:ext>
            </a:extLst>
          </p:cNvPr>
          <p:cNvSpPr txBox="1"/>
          <p:nvPr/>
        </p:nvSpPr>
        <p:spPr>
          <a:xfrm>
            <a:off x="10460327" y="2381459"/>
            <a:ext cx="4069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             S</a:t>
            </a:r>
          </a:p>
          <a:p>
            <a:r>
              <a:rPr lang="pt-BR" sz="3600" dirty="0"/>
              <a:t>           /   \</a:t>
            </a:r>
          </a:p>
          <a:p>
            <a:r>
              <a:rPr lang="pt-BR" sz="3600" dirty="0"/>
              <a:t>         A       B</a:t>
            </a:r>
          </a:p>
          <a:p>
            <a:r>
              <a:rPr lang="pt-BR" sz="3600" dirty="0"/>
              <a:t>     / /  \       \</a:t>
            </a:r>
          </a:p>
          <a:p>
            <a:r>
              <a:rPr lang="pt-BR" sz="3600" dirty="0"/>
              <a:t>   +  a   b   ( C )</a:t>
            </a:r>
          </a:p>
          <a:p>
            <a:r>
              <a:rPr lang="pt-BR" sz="3600" dirty="0"/>
              <a:t>                    |</a:t>
            </a:r>
          </a:p>
          <a:p>
            <a:r>
              <a:rPr lang="pt-BR" sz="3600" dirty="0"/>
              <a:t>                    a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4495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22960" y="2393696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500"/>
              </a:lnSpc>
              <a:buNone/>
            </a:pPr>
            <a:r>
              <a:rPr lang="en-US" sz="4640" dirty="0">
                <a:solidFill>
                  <a:srgbClr val="3A6DDA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Conclusion</a:t>
            </a:r>
            <a:endParaRPr lang="en-US" sz="464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AB18A-71E9-B6C8-200B-E63FE9550B1F}"/>
              </a:ext>
            </a:extLst>
          </p:cNvPr>
          <p:cNvSpPr txBox="1"/>
          <p:nvPr/>
        </p:nvSpPr>
        <p:spPr>
          <a:xfrm>
            <a:off x="1323340" y="3977946"/>
            <a:ext cx="1220216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LL(1) parsing is a simple and efficient method used in syntax analysis for compilers. It works by scanning the input left to right and building a leftmost derivation using one lookahead symbol. In this presentation, we showed how to create the LL(1) parsing table, parsed a sample string, and built the corresponding parse tree. Overall, LL(1) parsers are easy to implement but require grammars to be unambiguous and free of left recursion.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4376E9-D545-965F-1F86-480E7BEF13DA}"/>
              </a:ext>
            </a:extLst>
          </p:cNvPr>
          <p:cNvCxnSpPr/>
          <p:nvPr/>
        </p:nvCxnSpPr>
        <p:spPr>
          <a:xfrm>
            <a:off x="1104900" y="3683000"/>
            <a:ext cx="1249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19856"/>
            <a:ext cx="1298448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970"/>
              </a:lnSpc>
            </a:pPr>
            <a:r>
              <a:rPr lang="en-US" sz="6600" dirty="0">
                <a:solidFill>
                  <a:srgbClr val="FF0000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Do you have any question?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33A81F5-AF24-822E-0276-A35F861786A8}"/>
              </a:ext>
            </a:extLst>
          </p:cNvPr>
          <p:cNvSpPr/>
          <p:nvPr/>
        </p:nvSpPr>
        <p:spPr>
          <a:xfrm>
            <a:off x="3787028" y="5122664"/>
            <a:ext cx="6904421" cy="973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970"/>
              </a:lnSpc>
            </a:pPr>
            <a:r>
              <a:rPr lang="en-US" sz="4800" dirty="0">
                <a:solidFill>
                  <a:srgbClr val="3A6DDA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452</Words>
  <Application>Microsoft Office PowerPoint</Application>
  <PresentationFormat>Custom</PresentationFormat>
  <Paragraphs>112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Petrona Bold</vt:lpstr>
      <vt:lpstr>思源黑体-思源黑体-Regular</vt:lpstr>
      <vt:lpstr>Office Theme</vt:lpstr>
      <vt:lpstr>PowerPoint Presentation</vt:lpstr>
      <vt:lpstr>PowerPoint Presentation</vt:lpstr>
      <vt:lpstr>PowerPoint Presentation</vt:lpstr>
      <vt:lpstr>                                                                                                  FIRST and FOLLOW Sets</vt:lpstr>
      <vt:lpstr>                                       LL(1) Parser Table</vt:lpstr>
      <vt:lpstr>                                                     LL(1) Stack Implementation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 m nabil ausaf</cp:lastModifiedBy>
  <cp:revision>5</cp:revision>
  <dcterms:created xsi:type="dcterms:W3CDTF">2025-08-02T17:01:43Z</dcterms:created>
  <dcterms:modified xsi:type="dcterms:W3CDTF">2025-08-03T04:44:22Z</dcterms:modified>
</cp:coreProperties>
</file>