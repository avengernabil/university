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Lst>
  <p:notesMasterIdLst>
    <p:notesMasterId r:id="rId10"/>
  </p:notesMasterIdLst>
  <p:sldIdLst>
    <p:sldId id="262" r:id="rId2"/>
    <p:sldId id="263" r:id="rId3"/>
    <p:sldId id="284" r:id="rId4"/>
    <p:sldId id="275" r:id="rId5"/>
    <p:sldId id="279" r:id="rId6"/>
    <p:sldId id="278" r:id="rId7"/>
    <p:sldId id="285" r:id="rId8"/>
    <p:sldId id="286" r:id="rId9"/>
  </p:sldIdLst>
  <p:sldSz cx="9144000" cy="5143500" type="screen16x9"/>
  <p:notesSz cx="6858000" cy="9144000"/>
  <p:embeddedFontLst>
    <p:embeddedFont>
      <p:font typeface="Corbel" panose="020B0503020204020204" pitchFamily="34" charset="0"/>
      <p:regular r:id="rId11"/>
      <p:bold r:id="rId12"/>
      <p:italic r:id="rId13"/>
      <p:boldItalic r:id="rId1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010478-F138-4EF5-870D-C743B711A1FD}">
  <a:tblStyle styleId="{0D010478-F138-4EF5-870D-C743B711A1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cc7554a049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cc7554a049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07aaa41fe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07aaa41fe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07aaa41fe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07aaa41fe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cc7554a049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cc7554a049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409575" y="-3572"/>
            <a:ext cx="3761184" cy="5147072"/>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196301" y="1035052"/>
            <a:ext cx="6430967" cy="1962149"/>
          </a:xfrm>
        </p:spPr>
        <p:txBody>
          <a:bodyPr anchor="b">
            <a:normAutofit/>
          </a:bodyPr>
          <a:lstStyle>
            <a:lvl1pPr algn="r">
              <a:defRPr sz="4500">
                <a:effectLst/>
              </a:defRPr>
            </a:lvl1pPr>
          </a:lstStyle>
          <a:p>
            <a:r>
              <a:rPr lang="en-US"/>
              <a:t>Click to edit Master title style</a:t>
            </a:r>
            <a:endParaRPr lang="en-US" dirty="0"/>
          </a:p>
        </p:txBody>
      </p:sp>
      <p:sp>
        <p:nvSpPr>
          <p:cNvPr id="3" name="Subtitle 2"/>
          <p:cNvSpPr>
            <a:spLocks noGrp="1"/>
          </p:cNvSpPr>
          <p:nvPr>
            <p:ph type="subTitle" idx="1"/>
          </p:nvPr>
        </p:nvSpPr>
        <p:spPr>
          <a:xfrm>
            <a:off x="3386533" y="2997200"/>
            <a:ext cx="5240734" cy="1041401"/>
          </a:xfrm>
        </p:spPr>
        <p:txBody>
          <a:bodyPr anchor="t">
            <a:normAutofit/>
          </a:bodyPr>
          <a:lstStyle>
            <a:lvl1pPr marL="0" indent="0" algn="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a:xfrm>
            <a:off x="3999309" y="4412457"/>
            <a:ext cx="3243033" cy="273844"/>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064671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13893" y="4400349"/>
            <a:ext cx="41337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214403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9210" y="2000249"/>
            <a:ext cx="6698060" cy="1582787"/>
          </a:xfrm>
        </p:spPr>
        <p:txBody>
          <a:bodyPr anchor="b"/>
          <a:lstStyle>
            <a:lvl1pPr algn="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29209" y="3583036"/>
            <a:ext cx="6698061" cy="6453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25940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13234" y="514351"/>
            <a:ext cx="7514035" cy="13144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13235" y="2000250"/>
            <a:ext cx="3671291" cy="234315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55975" y="2000250"/>
            <a:ext cx="3671292" cy="234315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80299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134" y="1993900"/>
            <a:ext cx="3455391" cy="432197"/>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13233" y="2501503"/>
            <a:ext cx="3671292" cy="1841897"/>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0366" y="2000250"/>
            <a:ext cx="3466903" cy="432197"/>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55975" y="2501503"/>
            <a:ext cx="3671292" cy="1841897"/>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2263851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271227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9253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1200150"/>
            <a:ext cx="2661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946525" y="514350"/>
            <a:ext cx="4680743" cy="3829051"/>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234" y="2228850"/>
            <a:ext cx="2661841" cy="1371600"/>
          </a:xfrm>
        </p:spPr>
        <p:txBody>
          <a:bodyPr>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002161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043" y="1314449"/>
            <a:ext cx="4069619" cy="1028700"/>
          </a:xfrm>
        </p:spPr>
        <p:txBody>
          <a:bodyPr anchor="b">
            <a:normAutofit/>
          </a:bodyPr>
          <a:lstStyle>
            <a:lvl1pPr algn="ctr">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6011" y="685800"/>
            <a:ext cx="2460731" cy="3429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112043" y="2343149"/>
            <a:ext cx="4069619" cy="1371600"/>
          </a:xfrm>
        </p:spPr>
        <p:txBody>
          <a:bodyPr>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14263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3549649"/>
            <a:ext cx="7514033"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509" y="699084"/>
            <a:ext cx="6169458" cy="2373732"/>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113234" y="3974702"/>
            <a:ext cx="7514033"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67554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5" y="514350"/>
            <a:ext cx="7514033" cy="2286000"/>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3257550"/>
            <a:ext cx="7514035" cy="10858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594026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198959" y="64726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11454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514351"/>
            <a:ext cx="6742509" cy="20573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27609" y="2571749"/>
            <a:ext cx="6399611" cy="285750"/>
          </a:xfrm>
        </p:spPr>
        <p:txBody>
          <a:bodyPr anchor="ctr">
            <a:normAutofit/>
          </a:bodyPr>
          <a:lstStyle>
            <a:lvl1pPr marL="0" indent="0">
              <a:buFontTx/>
              <a:buNone/>
              <a:defRPr sz="135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234" y="3257550"/>
            <a:ext cx="7514033" cy="10858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896350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235" y="2481436"/>
            <a:ext cx="7514032" cy="1101600"/>
          </a:xfrm>
        </p:spPr>
        <p:txBody>
          <a:bodyPr anchor="b">
            <a:normAutofit/>
          </a:bodyPr>
          <a:lstStyle>
            <a:lvl1pPr algn="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3583036"/>
            <a:ext cx="7514033" cy="6453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853020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198959" y="64726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11454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514351"/>
            <a:ext cx="6742509" cy="20573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235" y="2914650"/>
            <a:ext cx="7514033" cy="666750"/>
          </a:xfrm>
        </p:spPr>
        <p:txBody>
          <a:bodyPr vert="horz" lIns="91440" tIns="45720" rIns="91440" bIns="45720" rtlCol="0" anchor="b">
            <a:normAutofit/>
          </a:bodyPr>
          <a:lstStyle>
            <a:lvl1pPr algn="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3581400"/>
            <a:ext cx="7514033" cy="762000"/>
          </a:xfrm>
        </p:spPr>
        <p:txBody>
          <a:bodyPr anchor="t">
            <a:norm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197099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235" y="514350"/>
            <a:ext cx="7514034" cy="2045494"/>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234" y="2628900"/>
            <a:ext cx="7514035"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3257550"/>
            <a:ext cx="7514035"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947360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5959396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492" y="514350"/>
            <a:ext cx="1327777" cy="38290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234" y="514350"/>
            <a:ext cx="6014807" cy="38290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709579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extLst>
      <p:ext uri="{BB962C8B-B14F-4D97-AF65-F5344CB8AC3E}">
        <p14:creationId xmlns:p14="http://schemas.microsoft.com/office/powerpoint/2010/main" val="4286124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extLst>
      <p:ext uri="{BB962C8B-B14F-4D97-AF65-F5344CB8AC3E}">
        <p14:creationId xmlns:p14="http://schemas.microsoft.com/office/powerpoint/2010/main" val="2507737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728263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1">
  <p:cSld name="Big number 1">
    <p:spTree>
      <p:nvGrpSpPr>
        <p:cNvPr id="1" name="Shape 191"/>
        <p:cNvGrpSpPr/>
        <p:nvPr/>
      </p:nvGrpSpPr>
      <p:grpSpPr>
        <a:xfrm>
          <a:off x="0" y="0"/>
          <a:ext cx="0" cy="0"/>
          <a:chOff x="0" y="0"/>
          <a:chExt cx="0" cy="0"/>
        </a:xfrm>
      </p:grpSpPr>
      <p:sp>
        <p:nvSpPr>
          <p:cNvPr id="192" name="Google Shape;192;p26"/>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Tree>
    <p:extLst>
      <p:ext uri="{BB962C8B-B14F-4D97-AF65-F5344CB8AC3E}">
        <p14:creationId xmlns:p14="http://schemas.microsoft.com/office/powerpoint/2010/main" val="1438743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4373850" y="944250"/>
            <a:ext cx="40095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7" name="Google Shape;207;p28"/>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8" name="Google Shape;208;p28"/>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506482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4346500" y="2467375"/>
            <a:ext cx="4083600" cy="120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0" name="Google Shape;200;p27"/>
          <p:cNvSpPr txBox="1">
            <a:spLocks noGrp="1"/>
          </p:cNvSpPr>
          <p:nvPr>
            <p:ph type="title" idx="2" hasCustomPrompt="1"/>
          </p:nvPr>
        </p:nvSpPr>
        <p:spPr>
          <a:xfrm>
            <a:off x="4956100" y="1021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1" name="Google Shape;201;p27"/>
          <p:cNvSpPr txBox="1">
            <a:spLocks noGrp="1"/>
          </p:cNvSpPr>
          <p:nvPr>
            <p:ph type="subTitle" idx="1"/>
          </p:nvPr>
        </p:nvSpPr>
        <p:spPr>
          <a:xfrm>
            <a:off x="4346500" y="3649675"/>
            <a:ext cx="40836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6156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55"/>
        <p:cNvGrpSpPr/>
        <p:nvPr/>
      </p:nvGrpSpPr>
      <p:grpSpPr>
        <a:xfrm>
          <a:off x="0" y="0"/>
          <a:ext cx="0" cy="0"/>
          <a:chOff x="0" y="0"/>
          <a:chExt cx="0" cy="0"/>
        </a:xfrm>
      </p:grpSpPr>
    </p:spTree>
    <p:extLst>
      <p:ext uri="{BB962C8B-B14F-4D97-AF65-F5344CB8AC3E}">
        <p14:creationId xmlns:p14="http://schemas.microsoft.com/office/powerpoint/2010/main" val="718492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467"/>
        <p:cNvGrpSpPr/>
        <p:nvPr/>
      </p:nvGrpSpPr>
      <p:grpSpPr>
        <a:xfrm>
          <a:off x="0" y="0"/>
          <a:ext cx="0" cy="0"/>
          <a:chOff x="0" y="0"/>
          <a:chExt cx="0" cy="0"/>
        </a:xfrm>
      </p:grpSpPr>
    </p:spTree>
    <p:extLst>
      <p:ext uri="{BB962C8B-B14F-4D97-AF65-F5344CB8AC3E}">
        <p14:creationId xmlns:p14="http://schemas.microsoft.com/office/powerpoint/2010/main" val="2009941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13109" y="0"/>
            <a:ext cx="1827610" cy="51435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113234" y="514351"/>
            <a:ext cx="7514035" cy="131444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3233" y="2000250"/>
            <a:ext cx="7514035" cy="234315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9492" y="4412457"/>
            <a:ext cx="857250" cy="273844"/>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8/2/2025</a:t>
            </a:fld>
            <a:endParaRPr lang="en-US" dirty="0"/>
          </a:p>
        </p:txBody>
      </p:sp>
      <p:sp>
        <p:nvSpPr>
          <p:cNvPr id="5" name="Footer Placeholder 4"/>
          <p:cNvSpPr>
            <a:spLocks noGrp="1"/>
          </p:cNvSpPr>
          <p:nvPr>
            <p:ph type="ftr" sz="quarter" idx="3"/>
          </p:nvPr>
        </p:nvSpPr>
        <p:spPr>
          <a:xfrm>
            <a:off x="1929210" y="4412457"/>
            <a:ext cx="5313133" cy="273844"/>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8213893" y="4412457"/>
            <a:ext cx="413375" cy="273844"/>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29473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Lst>
  <p:hf sldNum="0" hdr="0" ftr="0" dt="0"/>
  <p:txStyles>
    <p:titleStyle>
      <a:lvl1pPr algn="ctr" defTabSz="342900" rtl="0" eaLnBrk="1" latinLnBrk="0" hangingPunct="1">
        <a:spcBef>
          <a:spcPct val="0"/>
        </a:spcBef>
        <a:buNone/>
        <a:defRPr sz="3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lumMod val="75000"/>
          </a:schemeClr>
        </a:buClr>
        <a:buSzPct val="145000"/>
        <a:buFont typeface="Arial"/>
        <a:buChar char="•"/>
        <a:defRPr sz="1800" kern="1200" cap="none">
          <a:solidFill>
            <a:schemeClr val="tx1"/>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lumMod val="75000"/>
          </a:schemeClr>
        </a:buClr>
        <a:buSzPct val="145000"/>
        <a:buFont typeface="Arial"/>
        <a:buChar char="•"/>
        <a:defRPr sz="1500" kern="1200" cap="none">
          <a:solidFill>
            <a:schemeClr val="tx1"/>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lumMod val="75000"/>
          </a:schemeClr>
        </a:buClr>
        <a:buSzPct val="145000"/>
        <a:buFont typeface="Arial"/>
        <a:buChar char="•"/>
        <a:defRPr sz="1350" kern="1200" cap="none">
          <a:solidFill>
            <a:schemeClr val="tx1"/>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lumMod val="75000"/>
          </a:schemeClr>
        </a:buClr>
        <a:buSzPct val="145000"/>
        <a:buFont typeface="Arial"/>
        <a:buChar char="•"/>
        <a:defRPr sz="1200" kern="1200" cap="none">
          <a:solidFill>
            <a:schemeClr val="tx1"/>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6"/>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Presented By :   </a:t>
            </a:r>
            <a:r>
              <a:rPr lang="en-US" sz="2000" b="1" dirty="0"/>
              <a:t>Team Zero</a:t>
            </a:r>
          </a:p>
          <a:p>
            <a:pPr marL="0" lvl="0" indent="0" algn="l" rtl="0">
              <a:spcBef>
                <a:spcPts val="0"/>
              </a:spcBef>
              <a:spcAft>
                <a:spcPts val="0"/>
              </a:spcAft>
              <a:buNone/>
            </a:pPr>
            <a:endParaRPr lang="en-US" b="1" dirty="0"/>
          </a:p>
          <a:p>
            <a:pPr marL="0" lvl="0" indent="0" algn="l" rtl="0">
              <a:spcBef>
                <a:spcPts val="0"/>
              </a:spcBef>
              <a:spcAft>
                <a:spcPts val="0"/>
              </a:spcAft>
              <a:buNone/>
            </a:pPr>
            <a:r>
              <a:rPr lang="en-US" sz="1800" b="1" dirty="0"/>
              <a:t>Our team members are </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Nabil-01</a:t>
            </a:r>
          </a:p>
          <a:p>
            <a:pPr marL="0" lvl="0" indent="0" algn="l" rtl="0">
              <a:spcBef>
                <a:spcPts val="0"/>
              </a:spcBef>
              <a:spcAft>
                <a:spcPts val="0"/>
              </a:spcAft>
              <a:buNone/>
            </a:pPr>
            <a:r>
              <a:rPr lang="en-US" b="1" dirty="0"/>
              <a:t>Adib-02</a:t>
            </a:r>
          </a:p>
          <a:p>
            <a:pPr marL="0" lvl="0" indent="0" algn="l" rtl="0">
              <a:spcBef>
                <a:spcPts val="0"/>
              </a:spcBef>
              <a:spcAft>
                <a:spcPts val="0"/>
              </a:spcAft>
              <a:buNone/>
            </a:pPr>
            <a:r>
              <a:rPr lang="en-US" b="1" dirty="0"/>
              <a:t>Ava-03</a:t>
            </a:r>
          </a:p>
          <a:p>
            <a:pPr marL="0" lvl="0" indent="0" algn="l" rtl="0">
              <a:spcBef>
                <a:spcPts val="0"/>
              </a:spcBef>
              <a:spcAft>
                <a:spcPts val="0"/>
              </a:spcAft>
              <a:buNone/>
            </a:pPr>
            <a:r>
              <a:rPr lang="en-US" b="1" dirty="0"/>
              <a:t>Akram-04 </a:t>
            </a:r>
          </a:p>
          <a:p>
            <a:pPr marL="0" lvl="0" indent="0" algn="l" rtl="0">
              <a:spcBef>
                <a:spcPts val="0"/>
              </a:spcBef>
              <a:spcAft>
                <a:spcPts val="0"/>
              </a:spcAft>
              <a:buNone/>
            </a:pPr>
            <a:r>
              <a:rPr lang="en-US" b="1" dirty="0"/>
              <a:t>MD Rayhan -05 </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Date: 03/08/2025</a:t>
            </a:r>
          </a:p>
          <a:p>
            <a:pPr marL="0" lvl="0" indent="0" algn="l" rtl="0">
              <a:spcBef>
                <a:spcPts val="0"/>
              </a:spcBef>
              <a:spcAft>
                <a:spcPts val="0"/>
              </a:spcAft>
              <a:buNone/>
            </a:pPr>
            <a:endParaRPr b="1" dirty="0"/>
          </a:p>
        </p:txBody>
      </p:sp>
      <p:sp>
        <p:nvSpPr>
          <p:cNvPr id="553" name="Google Shape;553;p66"/>
          <p:cNvSpPr txBox="1">
            <a:spLocks noGrp="1"/>
          </p:cNvSpPr>
          <p:nvPr>
            <p:ph type="title"/>
          </p:nvPr>
        </p:nvSpPr>
        <p:spPr>
          <a:xfrm>
            <a:off x="713225" y="445024"/>
            <a:ext cx="5644375" cy="778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LL1 parser table</a:t>
            </a:r>
            <a:endParaRPr dirty="0"/>
          </a:p>
        </p:txBody>
      </p:sp>
      <p:sp>
        <p:nvSpPr>
          <p:cNvPr id="2" name="Rectangle 1">
            <a:extLst>
              <a:ext uri="{FF2B5EF4-FFF2-40B4-BE49-F238E27FC236}">
                <a16:creationId xmlns:a16="http://schemas.microsoft.com/office/drawing/2014/main" id="{D8ECEEA2-2F8A-421E-8AA3-613F0E055D92}"/>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subTitle" idx="1"/>
          </p:nvPr>
        </p:nvSpPr>
        <p:spPr>
          <a:xfrm>
            <a:off x="1164430" y="602000"/>
            <a:ext cx="7270369" cy="3617200"/>
          </a:xfrm>
          <a:prstGeom prst="rect">
            <a:avLst/>
          </a:prstGeom>
        </p:spPr>
        <p:txBody>
          <a:bodyPr spcFirstLastPara="1" wrap="square" lIns="91425" tIns="91425" rIns="91425" bIns="91425" anchor="t" anchorCtr="0">
            <a:noAutofit/>
          </a:bodyPr>
          <a:lstStyle/>
          <a:p>
            <a:pPr marL="114300" indent="0">
              <a:buNone/>
            </a:pPr>
            <a:r>
              <a:rPr lang="en-US" sz="2800" b="1" dirty="0"/>
              <a:t>Grammar:</a:t>
            </a:r>
            <a:endParaRPr lang="en-US" sz="2800" dirty="0"/>
          </a:p>
          <a:p>
            <a:r>
              <a:rPr lang="en-US" sz="2800" dirty="0"/>
              <a:t>S → LM  </a:t>
            </a:r>
          </a:p>
          <a:p>
            <a:r>
              <a:rPr lang="en-US" sz="2800" dirty="0"/>
              <a:t>L → l | ε  </a:t>
            </a:r>
          </a:p>
          <a:p>
            <a:r>
              <a:rPr lang="en-US" sz="2800" dirty="0"/>
              <a:t>M → </a:t>
            </a:r>
            <a:r>
              <a:rPr lang="en-US" sz="2800" dirty="0" err="1"/>
              <a:t>mN</a:t>
            </a:r>
            <a:r>
              <a:rPr lang="en-US" sz="2800" dirty="0"/>
              <a:t>  </a:t>
            </a:r>
          </a:p>
          <a:p>
            <a:r>
              <a:rPr lang="en-US" sz="2800" dirty="0"/>
              <a:t>N → n | ε</a:t>
            </a:r>
          </a:p>
          <a:p>
            <a:r>
              <a:rPr lang="en-US" sz="2800" dirty="0"/>
              <a:t>Given that, The input string is  </a:t>
            </a:r>
            <a:r>
              <a:rPr lang="en-US" sz="2800" b="1" dirty="0" err="1"/>
              <a:t>lmn</a:t>
            </a:r>
            <a:r>
              <a:rPr lang="en-US" sz="2800" b="1" dirty="0"/>
              <a:t>$</a:t>
            </a:r>
            <a:r>
              <a:rPr lang="en-US" sz="2800" dirty="0"/>
              <a:t> </a:t>
            </a:r>
          </a:p>
          <a:p>
            <a:pPr marL="0" lvl="0" indent="0">
              <a:buClr>
                <a:schemeClr val="dk1"/>
              </a:buClr>
              <a:buSzPts val="1100"/>
              <a:buNone/>
            </a:pPr>
            <a:endParaRPr lang="en-US" sz="2800" dirty="0"/>
          </a:p>
          <a:p>
            <a:pPr marL="0" lvl="0" indent="0">
              <a:buClr>
                <a:schemeClr val="dk1"/>
              </a:buClr>
              <a:buSzPts val="1100"/>
              <a:buNone/>
            </a:pPr>
            <a:r>
              <a:rPr lang="en-US" sz="1800" dirty="0"/>
              <a:t> It is not ambiguous, left recursive, non-deterministic. So no need                                               to eliminate ambiguity, left recursion or non-determinism.</a:t>
            </a:r>
            <a:endParaRPr sz="1800" dirty="0"/>
          </a:p>
        </p:txBody>
      </p:sp>
      <p:sp>
        <p:nvSpPr>
          <p:cNvPr id="3" name="Rectangle 2">
            <a:extLst>
              <a:ext uri="{FF2B5EF4-FFF2-40B4-BE49-F238E27FC236}">
                <a16:creationId xmlns:a16="http://schemas.microsoft.com/office/drawing/2014/main" id="{0B7DF0EA-A21E-4140-A42D-0706AF3ED456}"/>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BC2565D-5E56-49DC-9C5F-E41916C3213E}"/>
              </a:ext>
            </a:extLst>
          </p:cNvPr>
          <p:cNvGraphicFramePr>
            <a:graphicFrameLocks noGrp="1"/>
          </p:cNvGraphicFramePr>
          <p:nvPr>
            <p:extLst>
              <p:ext uri="{D42A27DB-BD31-4B8C-83A1-F6EECF244321}">
                <p14:modId xmlns:p14="http://schemas.microsoft.com/office/powerpoint/2010/main" val="92419907"/>
              </p:ext>
            </p:extLst>
          </p:nvPr>
        </p:nvGraphicFramePr>
        <p:xfrm>
          <a:off x="1209600" y="1288800"/>
          <a:ext cx="5695200" cy="2497706"/>
        </p:xfrm>
        <a:graphic>
          <a:graphicData uri="http://schemas.openxmlformats.org/drawingml/2006/table">
            <a:tbl>
              <a:tblPr firstRow="1" firstCol="1" bandRow="1">
                <a:tableStyleId>{0D010478-F138-4EF5-870D-C743B711A1FD}</a:tableStyleId>
              </a:tblPr>
              <a:tblGrid>
                <a:gridCol w="1713600">
                  <a:extLst>
                    <a:ext uri="{9D8B030D-6E8A-4147-A177-3AD203B41FA5}">
                      <a16:colId xmlns:a16="http://schemas.microsoft.com/office/drawing/2014/main" val="854223800"/>
                    </a:ext>
                  </a:extLst>
                </a:gridCol>
                <a:gridCol w="2083200">
                  <a:extLst>
                    <a:ext uri="{9D8B030D-6E8A-4147-A177-3AD203B41FA5}">
                      <a16:colId xmlns:a16="http://schemas.microsoft.com/office/drawing/2014/main" val="3195538911"/>
                    </a:ext>
                  </a:extLst>
                </a:gridCol>
                <a:gridCol w="1898400">
                  <a:extLst>
                    <a:ext uri="{9D8B030D-6E8A-4147-A177-3AD203B41FA5}">
                      <a16:colId xmlns:a16="http://schemas.microsoft.com/office/drawing/2014/main" val="3524390615"/>
                    </a:ext>
                  </a:extLst>
                </a:gridCol>
              </a:tblGrid>
              <a:tr h="523706">
                <a:tc>
                  <a:txBody>
                    <a:bodyPr/>
                    <a:lstStyle/>
                    <a:p>
                      <a:pPr marL="0" marR="0">
                        <a:lnSpc>
                          <a:spcPct val="115000"/>
                        </a:lnSpc>
                        <a:spcBef>
                          <a:spcPts val="0"/>
                        </a:spcBef>
                        <a:spcAft>
                          <a:spcPts val="800"/>
                        </a:spcAft>
                      </a:pPr>
                      <a:r>
                        <a:rPr lang="en-US" sz="1200" kern="100">
                          <a:effectLst/>
                        </a:rPr>
                        <a:t>STRING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r>
                        <a:rPr lang="en-US" sz="1200" kern="100">
                          <a:effectLst/>
                        </a:rPr>
                        <a:t>FIRST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r>
                        <a:rPr lang="en-US" sz="1200" kern="100">
                          <a:effectLst/>
                        </a:rPr>
                        <a:t>FOLLOW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71826153"/>
                  </a:ext>
                </a:extLst>
              </a:tr>
              <a:tr h="498988">
                <a:tc>
                  <a:txBody>
                    <a:bodyPr/>
                    <a:lstStyle/>
                    <a:p>
                      <a:pPr marL="0" marR="0">
                        <a:lnSpc>
                          <a:spcPct val="115000"/>
                        </a:lnSpc>
                        <a:spcBef>
                          <a:spcPts val="0"/>
                        </a:spcBef>
                        <a:spcAft>
                          <a:spcPts val="800"/>
                        </a:spcAft>
                      </a:pPr>
                      <a:r>
                        <a:rPr lang="en-US" sz="1200" kern="100" dirty="0">
                          <a:effectLst/>
                        </a:rPr>
                        <a: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35823608"/>
                  </a:ext>
                </a:extLst>
              </a:tr>
              <a:tr h="488012">
                <a:tc>
                  <a:txBody>
                    <a:bodyPr/>
                    <a:lstStyle/>
                    <a:p>
                      <a:pPr marL="0" marR="0">
                        <a:lnSpc>
                          <a:spcPct val="115000"/>
                        </a:lnSpc>
                        <a:spcBef>
                          <a:spcPts val="0"/>
                        </a:spcBef>
                        <a:spcAft>
                          <a:spcPts val="800"/>
                        </a:spcAft>
                      </a:pPr>
                      <a:r>
                        <a:rPr lang="en-US" sz="1200" kern="100" dirty="0">
                          <a:effectLst/>
                        </a:rPr>
                        <a:t>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9213321"/>
                  </a:ext>
                </a:extLst>
              </a:tr>
              <a:tr h="488012">
                <a:tc>
                  <a:txBody>
                    <a:bodyPr/>
                    <a:lstStyle/>
                    <a:p>
                      <a:pPr marL="0" marR="0">
                        <a:lnSpc>
                          <a:spcPct val="115000"/>
                        </a:lnSpc>
                        <a:spcBef>
                          <a:spcPts val="0"/>
                        </a:spcBef>
                        <a:spcAft>
                          <a:spcPts val="800"/>
                        </a:spcAft>
                      </a:pPr>
                      <a:r>
                        <a:rPr lang="en-US" sz="1200" kern="100" dirty="0">
                          <a:effectLst/>
                        </a:rPr>
                        <a:t>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5080448"/>
                  </a:ext>
                </a:extLst>
              </a:tr>
              <a:tr h="498988">
                <a:tc>
                  <a:txBody>
                    <a:bodyPr/>
                    <a:lstStyle/>
                    <a:p>
                      <a:pPr marL="0" marR="0">
                        <a:lnSpc>
                          <a:spcPct val="115000"/>
                        </a:lnSpc>
                        <a:spcBef>
                          <a:spcPts val="0"/>
                        </a:spcBef>
                        <a:spcAft>
                          <a:spcPts val="800"/>
                        </a:spcAft>
                      </a:pPr>
                      <a:r>
                        <a:rPr lang="en-US" sz="1200" kern="100">
                          <a:effectLst/>
                        </a:rPr>
                        <a:t>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02840936"/>
                  </a:ext>
                </a:extLst>
              </a:tr>
            </a:tbl>
          </a:graphicData>
        </a:graphic>
      </p:graphicFrame>
      <p:sp>
        <p:nvSpPr>
          <p:cNvPr id="7" name="Rectangle 1">
            <a:extLst>
              <a:ext uri="{FF2B5EF4-FFF2-40B4-BE49-F238E27FC236}">
                <a16:creationId xmlns:a16="http://schemas.microsoft.com/office/drawing/2014/main" id="{54ADE91E-37E9-41A7-8D64-969E5838A5FC}"/>
              </a:ext>
            </a:extLst>
          </p:cNvPr>
          <p:cNvSpPr>
            <a:spLocks noChangeArrowheads="1"/>
          </p:cNvSpPr>
          <p:nvPr/>
        </p:nvSpPr>
        <p:spPr bwMode="auto">
          <a:xfrm>
            <a:off x="1209600" y="496368"/>
            <a:ext cx="58315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FIRST and FOLLOW Sets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804C006-09BA-40E3-859F-6EBE12C83ACF}"/>
              </a:ext>
            </a:extLst>
          </p:cNvPr>
          <p:cNvSpPr txBox="1"/>
          <p:nvPr/>
        </p:nvSpPr>
        <p:spPr>
          <a:xfrm>
            <a:off x="3225600" y="1821600"/>
            <a:ext cx="9288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{l, m}</a:t>
            </a:r>
            <a:endParaRPr lang="en-US" dirty="0"/>
          </a:p>
        </p:txBody>
      </p:sp>
      <p:sp>
        <p:nvSpPr>
          <p:cNvPr id="15" name="TextBox 14">
            <a:extLst>
              <a:ext uri="{FF2B5EF4-FFF2-40B4-BE49-F238E27FC236}">
                <a16:creationId xmlns:a16="http://schemas.microsoft.com/office/drawing/2014/main" id="{35B3C8B2-7D83-4CBE-92E5-6D77B5A58544}"/>
              </a:ext>
            </a:extLst>
          </p:cNvPr>
          <p:cNvSpPr txBox="1"/>
          <p:nvPr/>
        </p:nvSpPr>
        <p:spPr>
          <a:xfrm>
            <a:off x="3232800" y="2813671"/>
            <a:ext cx="12312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{m}</a:t>
            </a:r>
            <a:endParaRPr lang="en-US" dirty="0"/>
          </a:p>
        </p:txBody>
      </p:sp>
      <p:sp>
        <p:nvSpPr>
          <p:cNvPr id="13" name="TextBox 12">
            <a:extLst>
              <a:ext uri="{FF2B5EF4-FFF2-40B4-BE49-F238E27FC236}">
                <a16:creationId xmlns:a16="http://schemas.microsoft.com/office/drawing/2014/main" id="{02774C50-F676-4E65-9F02-61A57352D51E}"/>
              </a:ext>
            </a:extLst>
          </p:cNvPr>
          <p:cNvSpPr txBox="1"/>
          <p:nvPr/>
        </p:nvSpPr>
        <p:spPr>
          <a:xfrm>
            <a:off x="3232800" y="3358712"/>
            <a:ext cx="14184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{n, ε}</a:t>
            </a:r>
            <a:endParaRPr lang="en-US" dirty="0"/>
          </a:p>
        </p:txBody>
      </p:sp>
      <p:sp>
        <p:nvSpPr>
          <p:cNvPr id="14" name="TextBox 13">
            <a:extLst>
              <a:ext uri="{FF2B5EF4-FFF2-40B4-BE49-F238E27FC236}">
                <a16:creationId xmlns:a16="http://schemas.microsoft.com/office/drawing/2014/main" id="{0BBB356E-397B-4474-BD67-5A85FF66C60D}"/>
              </a:ext>
            </a:extLst>
          </p:cNvPr>
          <p:cNvSpPr txBox="1"/>
          <p:nvPr/>
        </p:nvSpPr>
        <p:spPr>
          <a:xfrm>
            <a:off x="5115600" y="1921293"/>
            <a:ext cx="12276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18" name="TextBox 17">
            <a:extLst>
              <a:ext uri="{FF2B5EF4-FFF2-40B4-BE49-F238E27FC236}">
                <a16:creationId xmlns:a16="http://schemas.microsoft.com/office/drawing/2014/main" id="{B7C9548E-423A-40FD-9F0A-5D00F9DEFEEC}"/>
              </a:ext>
            </a:extLst>
          </p:cNvPr>
          <p:cNvSpPr txBox="1"/>
          <p:nvPr/>
        </p:nvSpPr>
        <p:spPr>
          <a:xfrm>
            <a:off x="5108400" y="2412000"/>
            <a:ext cx="961200" cy="367030"/>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{m, $}</a:t>
            </a:r>
            <a:endParaRPr lang="en-US" dirty="0"/>
          </a:p>
        </p:txBody>
      </p:sp>
      <p:sp>
        <p:nvSpPr>
          <p:cNvPr id="19" name="TextBox 18">
            <a:extLst>
              <a:ext uri="{FF2B5EF4-FFF2-40B4-BE49-F238E27FC236}">
                <a16:creationId xmlns:a16="http://schemas.microsoft.com/office/drawing/2014/main" id="{7011DBA0-205F-46EE-A562-87859F25F160}"/>
              </a:ext>
            </a:extLst>
          </p:cNvPr>
          <p:cNvSpPr txBox="1"/>
          <p:nvPr/>
        </p:nvSpPr>
        <p:spPr>
          <a:xfrm>
            <a:off x="5108400" y="2894400"/>
            <a:ext cx="961200" cy="367030"/>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20" name="TextBox 19">
            <a:extLst>
              <a:ext uri="{FF2B5EF4-FFF2-40B4-BE49-F238E27FC236}">
                <a16:creationId xmlns:a16="http://schemas.microsoft.com/office/drawing/2014/main" id="{A8D1A0DC-9F15-4501-ABDF-AD8FBDA078AC}"/>
              </a:ext>
            </a:extLst>
          </p:cNvPr>
          <p:cNvSpPr txBox="1"/>
          <p:nvPr/>
        </p:nvSpPr>
        <p:spPr>
          <a:xfrm>
            <a:off x="5115600" y="3261430"/>
            <a:ext cx="8748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3" name="TextBox 2">
            <a:extLst>
              <a:ext uri="{FF2B5EF4-FFF2-40B4-BE49-F238E27FC236}">
                <a16:creationId xmlns:a16="http://schemas.microsoft.com/office/drawing/2014/main" id="{4B63CFF1-EB65-4D69-AD12-DED9D572821E}"/>
              </a:ext>
            </a:extLst>
          </p:cNvPr>
          <p:cNvSpPr txBox="1"/>
          <p:nvPr/>
        </p:nvSpPr>
        <p:spPr>
          <a:xfrm>
            <a:off x="3232800" y="2345574"/>
            <a:ext cx="802801" cy="584775"/>
          </a:xfrm>
          <a:prstGeom prst="rect">
            <a:avLst/>
          </a:prstGeom>
          <a:noFill/>
        </p:spPr>
        <p:txBody>
          <a:bodyPr wrap="square" rtlCol="0">
            <a:spAutoFit/>
          </a:bodyPr>
          <a:lstStyle/>
          <a:p>
            <a:r>
              <a:rPr lang="en-US" sz="1800" kern="100" dirty="0">
                <a:effectLst/>
              </a:rPr>
              <a:t>{l,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12" name="Rectangle 11">
            <a:extLst>
              <a:ext uri="{FF2B5EF4-FFF2-40B4-BE49-F238E27FC236}">
                <a16:creationId xmlns:a16="http://schemas.microsoft.com/office/drawing/2014/main" id="{97478642-2AAB-4CF0-8747-0878C37B87EE}"/>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anim calcmode="lin" valueType="num">
                                      <p:cBhvr>
                                        <p:cTn id="50" dur="1000" fill="hold"/>
                                        <p:tgtEl>
                                          <p:spTgt spid="19"/>
                                        </p:tgtEl>
                                        <p:attrNameLst>
                                          <p:attrName>ppt_x</p:attrName>
                                        </p:attrNameLst>
                                      </p:cBhvr>
                                      <p:tavLst>
                                        <p:tav tm="0">
                                          <p:val>
                                            <p:strVal val="#ppt_x"/>
                                          </p:val>
                                        </p:tav>
                                        <p:tav tm="100000">
                                          <p:val>
                                            <p:strVal val="#ppt_x"/>
                                          </p:val>
                                        </p:tav>
                                      </p:tavLst>
                                    </p:anim>
                                    <p:anim calcmode="lin" valueType="num">
                                      <p:cBhvr>
                                        <p:cTn id="5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anim calcmode="lin" valueType="num">
                                      <p:cBhvr>
                                        <p:cTn id="57" dur="1000" fill="hold"/>
                                        <p:tgtEl>
                                          <p:spTgt spid="20"/>
                                        </p:tgtEl>
                                        <p:attrNameLst>
                                          <p:attrName>ppt_x</p:attrName>
                                        </p:attrNameLst>
                                      </p:cBhvr>
                                      <p:tavLst>
                                        <p:tav tm="0">
                                          <p:val>
                                            <p:strVal val="#ppt_x"/>
                                          </p:val>
                                        </p:tav>
                                        <p:tav tm="100000">
                                          <p:val>
                                            <p:strVal val="#ppt_x"/>
                                          </p:val>
                                        </p:tav>
                                      </p:tavLst>
                                    </p:anim>
                                    <p:anim calcmode="lin" valueType="num">
                                      <p:cBhvr>
                                        <p:cTn id="5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3" grpId="0"/>
      <p:bldP spid="14" grpId="0"/>
      <p:bldP spid="18" grpId="0"/>
      <p:bldP spid="19" grpId="0"/>
      <p:bldP spid="20"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4B5ABEBF-82A3-4DC6-BE2A-F30DB41125E5}"/>
              </a:ext>
            </a:extLst>
          </p:cNvPr>
          <p:cNvGraphicFramePr>
            <a:graphicFrameLocks noGrp="1"/>
          </p:cNvGraphicFramePr>
          <p:nvPr>
            <p:extLst>
              <p:ext uri="{D42A27DB-BD31-4B8C-83A1-F6EECF244321}">
                <p14:modId xmlns:p14="http://schemas.microsoft.com/office/powerpoint/2010/main" val="430881016"/>
              </p:ext>
            </p:extLst>
          </p:nvPr>
        </p:nvGraphicFramePr>
        <p:xfrm>
          <a:off x="1724428" y="1605776"/>
          <a:ext cx="5523865" cy="2460704"/>
        </p:xfrm>
        <a:graphic>
          <a:graphicData uri="http://schemas.openxmlformats.org/drawingml/2006/table">
            <a:tbl>
              <a:tblPr firstRow="1" firstCol="1" bandRow="1">
                <a:tableStyleId>{0D010478-F138-4EF5-870D-C743B711A1FD}</a:tableStyleId>
              </a:tblPr>
              <a:tblGrid>
                <a:gridCol w="1104773">
                  <a:extLst>
                    <a:ext uri="{9D8B030D-6E8A-4147-A177-3AD203B41FA5}">
                      <a16:colId xmlns:a16="http://schemas.microsoft.com/office/drawing/2014/main" val="1252083494"/>
                    </a:ext>
                  </a:extLst>
                </a:gridCol>
                <a:gridCol w="1104773">
                  <a:extLst>
                    <a:ext uri="{9D8B030D-6E8A-4147-A177-3AD203B41FA5}">
                      <a16:colId xmlns:a16="http://schemas.microsoft.com/office/drawing/2014/main" val="1440426631"/>
                    </a:ext>
                  </a:extLst>
                </a:gridCol>
                <a:gridCol w="1104773">
                  <a:extLst>
                    <a:ext uri="{9D8B030D-6E8A-4147-A177-3AD203B41FA5}">
                      <a16:colId xmlns:a16="http://schemas.microsoft.com/office/drawing/2014/main" val="2756521518"/>
                    </a:ext>
                  </a:extLst>
                </a:gridCol>
                <a:gridCol w="1104773">
                  <a:extLst>
                    <a:ext uri="{9D8B030D-6E8A-4147-A177-3AD203B41FA5}">
                      <a16:colId xmlns:a16="http://schemas.microsoft.com/office/drawing/2014/main" val="2716913806"/>
                    </a:ext>
                  </a:extLst>
                </a:gridCol>
                <a:gridCol w="1104773">
                  <a:extLst>
                    <a:ext uri="{9D8B030D-6E8A-4147-A177-3AD203B41FA5}">
                      <a16:colId xmlns:a16="http://schemas.microsoft.com/office/drawing/2014/main" val="2720732120"/>
                    </a:ext>
                  </a:extLst>
                </a:gridCol>
              </a:tblGrid>
              <a:tr h="862028">
                <a:tc>
                  <a:txBody>
                    <a:bodyPr/>
                    <a:lstStyle/>
                    <a:p>
                      <a:pPr marL="0" marR="0" algn="ctr">
                        <a:lnSpc>
                          <a:spcPct val="115000"/>
                        </a:lnSpc>
                        <a:spcBef>
                          <a:spcPts val="0"/>
                        </a:spcBef>
                        <a:spcAft>
                          <a:spcPts val="0"/>
                        </a:spcAft>
                      </a:pPr>
                      <a:r>
                        <a:rPr lang="en-US" sz="1800" kern="0" dirty="0">
                          <a:effectLst/>
                        </a:rPr>
                        <a:t>Non-Terminal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24868569"/>
                  </a:ext>
                </a:extLst>
              </a:tr>
              <a:tr h="399669">
                <a:tc>
                  <a:txBody>
                    <a:bodyPr/>
                    <a:lstStyle/>
                    <a:p>
                      <a:pPr marL="0" marR="0" algn="ctr">
                        <a:lnSpc>
                          <a:spcPct val="115000"/>
                        </a:lnSpc>
                        <a:spcBef>
                          <a:spcPts val="0"/>
                        </a:spcBef>
                        <a:spcAft>
                          <a:spcPts val="0"/>
                        </a:spcAft>
                      </a:pPr>
                      <a:r>
                        <a:rPr lang="en-US" sz="1800" kern="0" dirty="0">
                          <a:effectLst/>
                        </a:rPr>
                        <a: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S → LM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S → LM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79696663"/>
                  </a:ext>
                </a:extLst>
              </a:tr>
              <a:tr h="399669">
                <a:tc>
                  <a:txBody>
                    <a:bodyPr/>
                    <a:lstStyle/>
                    <a:p>
                      <a:pPr marL="0" marR="0" algn="ctr">
                        <a:lnSpc>
                          <a:spcPct val="115000"/>
                        </a:lnSpc>
                        <a:spcBef>
                          <a:spcPts val="0"/>
                        </a:spcBef>
                        <a:spcAft>
                          <a:spcPts val="0"/>
                        </a:spcAft>
                      </a:pPr>
                      <a:r>
                        <a:rPr lang="en-US" sz="1800" kern="0">
                          <a:effectLst/>
                        </a:rPr>
                        <a:t>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22327006"/>
                  </a:ext>
                </a:extLst>
              </a:tr>
              <a:tr h="399669">
                <a:tc>
                  <a:txBody>
                    <a:bodyPr/>
                    <a:lstStyle/>
                    <a:p>
                      <a:pPr marL="0" marR="0" algn="ctr">
                        <a:lnSpc>
                          <a:spcPct val="115000"/>
                        </a:lnSpc>
                        <a:spcBef>
                          <a:spcPts val="0"/>
                        </a:spcBef>
                        <a:spcAft>
                          <a:spcPts val="0"/>
                        </a:spcAft>
                      </a:pPr>
                      <a:r>
                        <a:rPr lang="en-US" sz="1800" kern="0">
                          <a:effectLst/>
                        </a:rPr>
                        <a:t>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M → </a:t>
                      </a:r>
                      <a:r>
                        <a:rPr lang="en-US" sz="1800" kern="0" dirty="0" err="1">
                          <a:effectLst/>
                        </a:rPr>
                        <a:t>mN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36041301"/>
                  </a:ext>
                </a:extLst>
              </a:tr>
              <a:tr h="399669">
                <a:tc>
                  <a:txBody>
                    <a:bodyPr/>
                    <a:lstStyle/>
                    <a:p>
                      <a:pPr marL="0" marR="0" algn="ctr">
                        <a:lnSpc>
                          <a:spcPct val="115000"/>
                        </a:lnSpc>
                        <a:spcBef>
                          <a:spcPts val="0"/>
                        </a:spcBef>
                        <a:spcAft>
                          <a:spcPts val="0"/>
                        </a:spcAft>
                      </a:pPr>
                      <a:r>
                        <a:rPr lang="en-US" sz="1800" kern="0">
                          <a:effectLst/>
                        </a:rPr>
                        <a:t>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N → 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N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0413340"/>
                  </a:ext>
                </a:extLst>
              </a:tr>
            </a:tbl>
          </a:graphicData>
        </a:graphic>
      </p:graphicFrame>
      <p:sp>
        <p:nvSpPr>
          <p:cNvPr id="15" name="Rectangle 2">
            <a:extLst>
              <a:ext uri="{FF2B5EF4-FFF2-40B4-BE49-F238E27FC236}">
                <a16:creationId xmlns:a16="http://schemas.microsoft.com/office/drawing/2014/main" id="{8D5444A7-426C-4A15-A9AF-35E8E3E62111}"/>
              </a:ext>
            </a:extLst>
          </p:cNvPr>
          <p:cNvSpPr>
            <a:spLocks noChangeArrowheads="1"/>
          </p:cNvSpPr>
          <p:nvPr/>
        </p:nvSpPr>
        <p:spPr bwMode="auto">
          <a:xfrm>
            <a:off x="2068861" y="448644"/>
            <a:ext cx="252825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LL(1) Parser Table: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FA747534-68F2-4407-9B8E-EA2CFC52915F}"/>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0376886-A431-484B-8604-2545CC491271}"/>
              </a:ext>
            </a:extLst>
          </p:cNvPr>
          <p:cNvGraphicFramePr>
            <a:graphicFrameLocks noGrp="1"/>
          </p:cNvGraphicFramePr>
          <p:nvPr>
            <p:extLst>
              <p:ext uri="{D42A27DB-BD31-4B8C-83A1-F6EECF244321}">
                <p14:modId xmlns:p14="http://schemas.microsoft.com/office/powerpoint/2010/main" val="1942256883"/>
              </p:ext>
            </p:extLst>
          </p:nvPr>
        </p:nvGraphicFramePr>
        <p:xfrm>
          <a:off x="1996886" y="1062318"/>
          <a:ext cx="5694832" cy="3866027"/>
        </p:xfrm>
        <a:graphic>
          <a:graphicData uri="http://schemas.openxmlformats.org/drawingml/2006/table">
            <a:tbl>
              <a:tblPr firstRow="1" firstCol="1" bandRow="1">
                <a:tableStyleId>{0D010478-F138-4EF5-870D-C743B711A1FD}</a:tableStyleId>
              </a:tblPr>
              <a:tblGrid>
                <a:gridCol w="1423708">
                  <a:extLst>
                    <a:ext uri="{9D8B030D-6E8A-4147-A177-3AD203B41FA5}">
                      <a16:colId xmlns:a16="http://schemas.microsoft.com/office/drawing/2014/main" val="922754854"/>
                    </a:ext>
                  </a:extLst>
                </a:gridCol>
                <a:gridCol w="1423708">
                  <a:extLst>
                    <a:ext uri="{9D8B030D-6E8A-4147-A177-3AD203B41FA5}">
                      <a16:colId xmlns:a16="http://schemas.microsoft.com/office/drawing/2014/main" val="2433368357"/>
                    </a:ext>
                  </a:extLst>
                </a:gridCol>
                <a:gridCol w="1423708">
                  <a:extLst>
                    <a:ext uri="{9D8B030D-6E8A-4147-A177-3AD203B41FA5}">
                      <a16:colId xmlns:a16="http://schemas.microsoft.com/office/drawing/2014/main" val="2365773526"/>
                    </a:ext>
                  </a:extLst>
                </a:gridCol>
                <a:gridCol w="1423708">
                  <a:extLst>
                    <a:ext uri="{9D8B030D-6E8A-4147-A177-3AD203B41FA5}">
                      <a16:colId xmlns:a16="http://schemas.microsoft.com/office/drawing/2014/main" val="1831972395"/>
                    </a:ext>
                  </a:extLst>
                </a:gridCol>
              </a:tblGrid>
              <a:tr h="414596">
                <a:tc>
                  <a:txBody>
                    <a:bodyPr/>
                    <a:lstStyle/>
                    <a:p>
                      <a:pPr marL="457200" marR="0">
                        <a:lnSpc>
                          <a:spcPct val="115000"/>
                        </a:lnSpc>
                        <a:spcBef>
                          <a:spcPts val="0"/>
                        </a:spcBef>
                        <a:spcAft>
                          <a:spcPts val="0"/>
                        </a:spcAft>
                      </a:pPr>
                      <a:r>
                        <a:rPr lang="en-US" sz="1600" kern="0" dirty="0">
                          <a:effectLst/>
                        </a:rPr>
                        <a:t>Step</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Stack</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Input</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dirty="0">
                          <a:effectLst/>
                          <a:latin typeface="Calibri" panose="020F0502020204030204" pitchFamily="34" charset="0"/>
                          <a:ea typeface="Calibri" panose="020F0502020204030204" pitchFamily="34" charset="0"/>
                          <a:cs typeface="Times New Roman" panose="02020603050405020304" pitchFamily="18" charset="0"/>
                        </a:rPr>
                        <a:t>Output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215414495"/>
                  </a:ext>
                </a:extLst>
              </a:tr>
              <a:tr h="414596">
                <a:tc>
                  <a:txBody>
                    <a:bodyPr/>
                    <a:lstStyle/>
                    <a:p>
                      <a:pPr marL="457200" marR="0">
                        <a:lnSpc>
                          <a:spcPct val="115000"/>
                        </a:lnSpc>
                        <a:spcBef>
                          <a:spcPts val="0"/>
                        </a:spcBef>
                        <a:spcAft>
                          <a:spcPts val="0"/>
                        </a:spcAft>
                      </a:pPr>
                      <a:r>
                        <a:rPr lang="en-US" sz="1600" kern="0" dirty="0">
                          <a:effectLst/>
                        </a:rPr>
                        <a:t>1</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S$</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a:effectLst/>
                        </a:rPr>
                        <a:t>S → LM</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280310332"/>
                  </a:ext>
                </a:extLst>
              </a:tr>
              <a:tr h="414596">
                <a:tc>
                  <a:txBody>
                    <a:bodyPr/>
                    <a:lstStyle/>
                    <a:p>
                      <a:pPr marL="457200" marR="0">
                        <a:lnSpc>
                          <a:spcPct val="115000"/>
                        </a:lnSpc>
                        <a:spcBef>
                          <a:spcPts val="0"/>
                        </a:spcBef>
                        <a:spcAft>
                          <a:spcPts val="0"/>
                        </a:spcAft>
                      </a:pPr>
                      <a:r>
                        <a:rPr lang="en-US" sz="1600" kern="0">
                          <a:effectLst/>
                        </a:rPr>
                        <a:t>2</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M L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a:effectLst/>
                        </a:rPr>
                        <a:t>L → l</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445022823"/>
                  </a:ext>
                </a:extLst>
              </a:tr>
              <a:tr h="414596">
                <a:tc>
                  <a:txBody>
                    <a:bodyPr/>
                    <a:lstStyle/>
                    <a:p>
                      <a:pPr marL="457200" marR="0">
                        <a:lnSpc>
                          <a:spcPct val="115000"/>
                        </a:lnSpc>
                        <a:spcBef>
                          <a:spcPts val="0"/>
                        </a:spcBef>
                        <a:spcAft>
                          <a:spcPts val="0"/>
                        </a:spcAft>
                      </a:pPr>
                      <a:r>
                        <a:rPr lang="en-US" sz="1600" kern="0">
                          <a:effectLst/>
                        </a:rPr>
                        <a:t>3</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M l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a:effectLst/>
                        </a:rPr>
                        <a:t>pop</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734656562"/>
                  </a:ext>
                </a:extLst>
              </a:tr>
              <a:tr h="414596">
                <a:tc>
                  <a:txBody>
                    <a:bodyPr/>
                    <a:lstStyle/>
                    <a:p>
                      <a:pPr marL="457200" marR="0">
                        <a:lnSpc>
                          <a:spcPct val="115000"/>
                        </a:lnSpc>
                        <a:spcBef>
                          <a:spcPts val="0"/>
                        </a:spcBef>
                        <a:spcAft>
                          <a:spcPts val="0"/>
                        </a:spcAft>
                      </a:pPr>
                      <a:r>
                        <a:rPr lang="en-US" sz="1600" kern="0" dirty="0">
                          <a:effectLst/>
                        </a:rPr>
                        <a:t>4</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M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dirty="0">
                          <a:effectLst/>
                        </a:rPr>
                        <a:t>M → </a:t>
                      </a:r>
                      <a:r>
                        <a:rPr lang="en-US" sz="1600" kern="0" dirty="0" err="1">
                          <a:effectLst/>
                        </a:rPr>
                        <a:t>mN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616283589"/>
                  </a:ext>
                </a:extLst>
              </a:tr>
              <a:tr h="414596">
                <a:tc>
                  <a:txBody>
                    <a:bodyPr/>
                    <a:lstStyle/>
                    <a:p>
                      <a:pPr marL="457200" marR="0">
                        <a:lnSpc>
                          <a:spcPct val="115000"/>
                        </a:lnSpc>
                        <a:spcBef>
                          <a:spcPts val="0"/>
                        </a:spcBef>
                        <a:spcAft>
                          <a:spcPts val="0"/>
                        </a:spcAft>
                      </a:pPr>
                      <a:r>
                        <a:rPr lang="en-US" sz="1600" kern="0">
                          <a:effectLst/>
                        </a:rPr>
                        <a:t>5</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N m $</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a:effectLst/>
                        </a:rPr>
                        <a:t>pop</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315297336"/>
                  </a:ext>
                </a:extLst>
              </a:tr>
              <a:tr h="414596">
                <a:tc>
                  <a:txBody>
                    <a:bodyPr/>
                    <a:lstStyle/>
                    <a:p>
                      <a:pPr marL="457200" marR="0">
                        <a:lnSpc>
                          <a:spcPct val="115000"/>
                        </a:lnSpc>
                        <a:spcBef>
                          <a:spcPts val="0"/>
                        </a:spcBef>
                        <a:spcAft>
                          <a:spcPts val="0"/>
                        </a:spcAft>
                      </a:pPr>
                      <a:r>
                        <a:rPr lang="en-US" sz="1600" kern="0">
                          <a:effectLst/>
                        </a:rPr>
                        <a:t>6</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N $</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a:effectLst/>
                        </a:rPr>
                        <a:t>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a:effectLst/>
                        </a:rPr>
                        <a:t>N → 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521428796"/>
                  </a:ext>
                </a:extLst>
              </a:tr>
              <a:tr h="414596">
                <a:tc>
                  <a:txBody>
                    <a:bodyPr/>
                    <a:lstStyle/>
                    <a:p>
                      <a:pPr marL="457200" marR="0">
                        <a:lnSpc>
                          <a:spcPct val="115000"/>
                        </a:lnSpc>
                        <a:spcBef>
                          <a:spcPts val="0"/>
                        </a:spcBef>
                        <a:spcAft>
                          <a:spcPts val="0"/>
                        </a:spcAft>
                      </a:pPr>
                      <a:r>
                        <a:rPr lang="en-US" sz="1600" kern="0" dirty="0">
                          <a:effectLst/>
                        </a:rPr>
                        <a:t>7</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0" dirty="0">
                          <a:effectLst/>
                          <a:latin typeface="Calibri" panose="020F0502020204030204" pitchFamily="34" charset="0"/>
                          <a:ea typeface="Calibri" panose="020F0502020204030204" pitchFamily="34" charset="0"/>
                          <a:cs typeface="Times New Roman" panose="02020603050405020304" pitchFamily="18" charset="0"/>
                        </a:rPr>
                        <a:t>POP</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9705830"/>
                  </a:ext>
                </a:extLst>
              </a:tr>
              <a:tr h="549259">
                <a:tc>
                  <a:txBody>
                    <a:bodyPr/>
                    <a:lstStyle/>
                    <a:p>
                      <a:pPr marL="457200" marR="0">
                        <a:lnSpc>
                          <a:spcPct val="115000"/>
                        </a:lnSpc>
                        <a:spcBef>
                          <a:spcPts val="0"/>
                        </a:spcBef>
                        <a:spcAft>
                          <a:spcPts val="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8</a:t>
                      </a:r>
                    </a:p>
                  </a:txBody>
                  <a:tcPr marL="8647" marR="8647" marT="8647" marB="8647" anchor="ctr"/>
                </a:tc>
                <a:tc>
                  <a:txBody>
                    <a:bodyPr/>
                    <a:lstStyle/>
                    <a:p>
                      <a:pPr marL="457200" marR="0">
                        <a:lnSpc>
                          <a:spcPct val="115000"/>
                        </a:lnSpc>
                        <a:spcBef>
                          <a:spcPts val="0"/>
                        </a:spcBef>
                        <a:spcAft>
                          <a:spcPts val="0"/>
                        </a:spcAft>
                      </a:pPr>
                      <a:r>
                        <a:rPr lang="en-US" sz="1600" kern="0" dirty="0">
                          <a:effectLst/>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0"/>
                        </a:spcAft>
                      </a:pPr>
                      <a:r>
                        <a:rPr lang="en-US" sz="1600" kern="0" dirty="0">
                          <a:effectLst/>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nSpc>
                          <a:spcPct val="115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ACCEPTED</a:t>
                      </a:r>
                    </a:p>
                  </a:txBody>
                  <a:tcPr marL="8647" marR="8647" marT="8647" marB="8647" anchor="ctr"/>
                </a:tc>
                <a:extLst>
                  <a:ext uri="{0D108BD9-81ED-4DB2-BD59-A6C34878D82A}">
                    <a16:rowId xmlns:a16="http://schemas.microsoft.com/office/drawing/2014/main" val="863427753"/>
                  </a:ext>
                </a:extLst>
              </a:tr>
            </a:tbl>
          </a:graphicData>
        </a:graphic>
      </p:graphicFrame>
      <p:sp>
        <p:nvSpPr>
          <p:cNvPr id="9" name="Rectangle 1">
            <a:extLst>
              <a:ext uri="{FF2B5EF4-FFF2-40B4-BE49-F238E27FC236}">
                <a16:creationId xmlns:a16="http://schemas.microsoft.com/office/drawing/2014/main" id="{E2A67528-CF97-46B5-B55E-D7906DC6025D}"/>
              </a:ext>
            </a:extLst>
          </p:cNvPr>
          <p:cNvSpPr>
            <a:spLocks noChangeArrowheads="1"/>
          </p:cNvSpPr>
          <p:nvPr/>
        </p:nvSpPr>
        <p:spPr bwMode="auto">
          <a:xfrm>
            <a:off x="1878322" y="383683"/>
            <a:ext cx="634384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LL(1) Stack Implementation:</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B151B497-47A4-4E97-B3C5-E89500EEC825}"/>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 name="Oval 6">
            <a:extLst>
              <a:ext uri="{FF2B5EF4-FFF2-40B4-BE49-F238E27FC236}">
                <a16:creationId xmlns:a16="http://schemas.microsoft.com/office/drawing/2014/main" id="{3D8E3195-E27E-4873-8372-06878CF294A8}"/>
              </a:ext>
            </a:extLst>
          </p:cNvPr>
          <p:cNvSpPr/>
          <p:nvPr/>
        </p:nvSpPr>
        <p:spPr>
          <a:xfrm>
            <a:off x="4665598" y="655200"/>
            <a:ext cx="626400" cy="58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cxnSp>
        <p:nvCxnSpPr>
          <p:cNvPr id="13" name="Straight Arrow Connector 12">
            <a:extLst>
              <a:ext uri="{FF2B5EF4-FFF2-40B4-BE49-F238E27FC236}">
                <a16:creationId xmlns:a16="http://schemas.microsoft.com/office/drawing/2014/main" id="{B52E4E7C-FB55-453F-A9C6-BAF707FA7F3C}"/>
              </a:ext>
            </a:extLst>
          </p:cNvPr>
          <p:cNvCxnSpPr>
            <a:cxnSpLocks/>
            <a:stCxn id="7" idx="5"/>
          </p:cNvCxnSpPr>
          <p:nvPr/>
        </p:nvCxnSpPr>
        <p:spPr>
          <a:xfrm>
            <a:off x="5200264" y="1152992"/>
            <a:ext cx="278934" cy="495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ECD7314-D975-4AF1-A3A3-E8B40038617C}"/>
              </a:ext>
            </a:extLst>
          </p:cNvPr>
          <p:cNvCxnSpPr>
            <a:cxnSpLocks/>
            <a:stCxn id="7" idx="3"/>
          </p:cNvCxnSpPr>
          <p:nvPr/>
        </p:nvCxnSpPr>
        <p:spPr>
          <a:xfrm flipH="1">
            <a:off x="4478398" y="1152992"/>
            <a:ext cx="278934" cy="495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C5003873-8581-4AB3-B739-355B2F3EF1BB}"/>
              </a:ext>
            </a:extLst>
          </p:cNvPr>
          <p:cNvSpPr/>
          <p:nvPr/>
        </p:nvSpPr>
        <p:spPr>
          <a:xfrm>
            <a:off x="4032004" y="1648800"/>
            <a:ext cx="539996" cy="633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t>
            </a:r>
          </a:p>
        </p:txBody>
      </p:sp>
      <p:sp>
        <p:nvSpPr>
          <p:cNvPr id="18" name="Oval 17">
            <a:extLst>
              <a:ext uri="{FF2B5EF4-FFF2-40B4-BE49-F238E27FC236}">
                <a16:creationId xmlns:a16="http://schemas.microsoft.com/office/drawing/2014/main" id="{C3C5A1C1-4114-4C0E-902D-771BEEC26C92}"/>
              </a:ext>
            </a:extLst>
          </p:cNvPr>
          <p:cNvSpPr/>
          <p:nvPr/>
        </p:nvSpPr>
        <p:spPr>
          <a:xfrm>
            <a:off x="5392800" y="1648800"/>
            <a:ext cx="539996" cy="633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20" name="Straight Arrow Connector 19">
            <a:extLst>
              <a:ext uri="{FF2B5EF4-FFF2-40B4-BE49-F238E27FC236}">
                <a16:creationId xmlns:a16="http://schemas.microsoft.com/office/drawing/2014/main" id="{E47C73C7-F680-4093-86CE-39F276F87AB4}"/>
              </a:ext>
            </a:extLst>
          </p:cNvPr>
          <p:cNvCxnSpPr>
            <a:stCxn id="17" idx="4"/>
          </p:cNvCxnSpPr>
          <p:nvPr/>
        </p:nvCxnSpPr>
        <p:spPr>
          <a:xfrm flipH="1">
            <a:off x="3909600" y="2282400"/>
            <a:ext cx="392402" cy="37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FB1FA23-517E-45C4-9F6E-5A3E904005CB}"/>
              </a:ext>
            </a:extLst>
          </p:cNvPr>
          <p:cNvCxnSpPr>
            <a:cxnSpLocks/>
            <a:stCxn id="18" idx="4"/>
            <a:endCxn id="28" idx="0"/>
          </p:cNvCxnSpPr>
          <p:nvPr/>
        </p:nvCxnSpPr>
        <p:spPr>
          <a:xfrm flipH="1">
            <a:off x="5339731" y="2282400"/>
            <a:ext cx="323067" cy="52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5C59984-4CEE-4A27-B152-DEA42AF40E81}"/>
              </a:ext>
            </a:extLst>
          </p:cNvPr>
          <p:cNvSpPr/>
          <p:nvPr/>
        </p:nvSpPr>
        <p:spPr>
          <a:xfrm>
            <a:off x="3425332" y="2627008"/>
            <a:ext cx="606672"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t>
            </a:r>
          </a:p>
        </p:txBody>
      </p:sp>
      <p:sp>
        <p:nvSpPr>
          <p:cNvPr id="28" name="Oval 27">
            <a:extLst>
              <a:ext uri="{FF2B5EF4-FFF2-40B4-BE49-F238E27FC236}">
                <a16:creationId xmlns:a16="http://schemas.microsoft.com/office/drawing/2014/main" id="{6BCC64E9-AB2A-4B1C-A801-02CCF183BFB1}"/>
              </a:ext>
            </a:extLst>
          </p:cNvPr>
          <p:cNvSpPr/>
          <p:nvPr/>
        </p:nvSpPr>
        <p:spPr>
          <a:xfrm>
            <a:off x="5036395" y="2803096"/>
            <a:ext cx="606672"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25" name="Straight Arrow Connector 24">
            <a:extLst>
              <a:ext uri="{FF2B5EF4-FFF2-40B4-BE49-F238E27FC236}">
                <a16:creationId xmlns:a16="http://schemas.microsoft.com/office/drawing/2014/main" id="{5CA2A14A-C675-46F1-96A7-3581135E1BF9}"/>
              </a:ext>
            </a:extLst>
          </p:cNvPr>
          <p:cNvCxnSpPr>
            <a:stCxn id="18" idx="4"/>
          </p:cNvCxnSpPr>
          <p:nvPr/>
        </p:nvCxnSpPr>
        <p:spPr>
          <a:xfrm>
            <a:off x="5662798" y="2282400"/>
            <a:ext cx="529202" cy="51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D430A0BC-0087-442D-BD2B-BD7F2965C57B}"/>
              </a:ext>
            </a:extLst>
          </p:cNvPr>
          <p:cNvSpPr/>
          <p:nvPr/>
        </p:nvSpPr>
        <p:spPr>
          <a:xfrm>
            <a:off x="6096524" y="2728800"/>
            <a:ext cx="529202" cy="6237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p>
        </p:txBody>
      </p:sp>
      <p:cxnSp>
        <p:nvCxnSpPr>
          <p:cNvPr id="29" name="Straight Arrow Connector 28">
            <a:extLst>
              <a:ext uri="{FF2B5EF4-FFF2-40B4-BE49-F238E27FC236}">
                <a16:creationId xmlns:a16="http://schemas.microsoft.com/office/drawing/2014/main" id="{C5088AF7-1FEA-4CD8-A1D1-86C70085BAE6}"/>
              </a:ext>
            </a:extLst>
          </p:cNvPr>
          <p:cNvCxnSpPr>
            <a:stCxn id="26" idx="4"/>
          </p:cNvCxnSpPr>
          <p:nvPr/>
        </p:nvCxnSpPr>
        <p:spPr>
          <a:xfrm>
            <a:off x="6361125" y="3352592"/>
            <a:ext cx="0" cy="441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687FB8A-D609-4D79-89CB-1106754F3028}"/>
              </a:ext>
            </a:extLst>
          </p:cNvPr>
          <p:cNvSpPr txBox="1"/>
          <p:nvPr/>
        </p:nvSpPr>
        <p:spPr>
          <a:xfrm>
            <a:off x="1157288" y="554400"/>
            <a:ext cx="2321718" cy="584775"/>
          </a:xfrm>
          <a:prstGeom prst="rect">
            <a:avLst/>
          </a:prstGeom>
          <a:noFill/>
        </p:spPr>
        <p:txBody>
          <a:bodyPr wrap="square" rtlCol="0">
            <a:spAutoFit/>
          </a:bodyPr>
          <a:lstStyle/>
          <a:p>
            <a:r>
              <a:rPr lang="en-US" sz="3200" dirty="0"/>
              <a:t>Parse Tree:</a:t>
            </a:r>
          </a:p>
        </p:txBody>
      </p:sp>
      <p:sp>
        <p:nvSpPr>
          <p:cNvPr id="2" name="Oval 1">
            <a:extLst>
              <a:ext uri="{FF2B5EF4-FFF2-40B4-BE49-F238E27FC236}">
                <a16:creationId xmlns:a16="http://schemas.microsoft.com/office/drawing/2014/main" id="{AA49334D-358F-4870-BF83-3E1AC0BC84B3}"/>
              </a:ext>
            </a:extLst>
          </p:cNvPr>
          <p:cNvSpPr/>
          <p:nvPr/>
        </p:nvSpPr>
        <p:spPr>
          <a:xfrm>
            <a:off x="6047888" y="3794400"/>
            <a:ext cx="593921" cy="6237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p>
        </p:txBody>
      </p:sp>
      <p:sp>
        <p:nvSpPr>
          <p:cNvPr id="16" name="Rectangle 15">
            <a:extLst>
              <a:ext uri="{FF2B5EF4-FFF2-40B4-BE49-F238E27FC236}">
                <a16:creationId xmlns:a16="http://schemas.microsoft.com/office/drawing/2014/main" id="{4F9FADB3-63BE-4203-A81C-71F4BFDA78AC}"/>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 name="Oval 3">
            <a:extLst>
              <a:ext uri="{FF2B5EF4-FFF2-40B4-BE49-F238E27FC236}">
                <a16:creationId xmlns:a16="http://schemas.microsoft.com/office/drawing/2014/main" id="{3FB023C7-3F1D-888B-BD8F-20592F13B796}"/>
              </a:ext>
            </a:extLst>
          </p:cNvPr>
          <p:cNvSpPr/>
          <p:nvPr/>
        </p:nvSpPr>
        <p:spPr>
          <a:xfrm>
            <a:off x="4364936" y="2803096"/>
            <a:ext cx="485670" cy="4418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t>ε</a:t>
            </a:r>
            <a:endParaRPr lang="en-US" dirty="0"/>
          </a:p>
        </p:txBody>
      </p:sp>
      <p:sp>
        <p:nvSpPr>
          <p:cNvPr id="5" name="Oval 4">
            <a:extLst>
              <a:ext uri="{FF2B5EF4-FFF2-40B4-BE49-F238E27FC236}">
                <a16:creationId xmlns:a16="http://schemas.microsoft.com/office/drawing/2014/main" id="{463EF4A2-F47B-4776-D74D-9E403FD14A98}"/>
              </a:ext>
            </a:extLst>
          </p:cNvPr>
          <p:cNvSpPr/>
          <p:nvPr/>
        </p:nvSpPr>
        <p:spPr>
          <a:xfrm>
            <a:off x="7120316" y="3790340"/>
            <a:ext cx="593922" cy="4418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t>ε</a:t>
            </a:r>
            <a:endParaRPr lang="en-US" dirty="0"/>
          </a:p>
        </p:txBody>
      </p:sp>
      <p:cxnSp>
        <p:nvCxnSpPr>
          <p:cNvPr id="6" name="Straight Arrow Connector 5">
            <a:extLst>
              <a:ext uri="{FF2B5EF4-FFF2-40B4-BE49-F238E27FC236}">
                <a16:creationId xmlns:a16="http://schemas.microsoft.com/office/drawing/2014/main" id="{A23B96D0-4945-C04B-2724-1253F0764AE8}"/>
              </a:ext>
            </a:extLst>
          </p:cNvPr>
          <p:cNvCxnSpPr>
            <a:cxnSpLocks/>
            <a:stCxn id="17" idx="4"/>
          </p:cNvCxnSpPr>
          <p:nvPr/>
        </p:nvCxnSpPr>
        <p:spPr>
          <a:xfrm>
            <a:off x="4302002" y="2282400"/>
            <a:ext cx="280936" cy="525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B3B978-CAB1-C367-3C88-FDE7E9A0C6AD}"/>
              </a:ext>
            </a:extLst>
          </p:cNvPr>
          <p:cNvCxnSpPr>
            <a:cxnSpLocks/>
            <a:stCxn id="26" idx="5"/>
            <a:endCxn id="5" idx="1"/>
          </p:cNvCxnSpPr>
          <p:nvPr/>
        </p:nvCxnSpPr>
        <p:spPr>
          <a:xfrm>
            <a:off x="6548226" y="3261240"/>
            <a:ext cx="659068" cy="593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8" grpId="0" animBg="1"/>
      <p:bldP spid="23" grpId="0" animBg="1"/>
      <p:bldP spid="28" grpId="0" animBg="1"/>
      <p:bldP spid="26" grpId="0" animBg="1"/>
      <p:bldP spid="2"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AB73B1-0911-441B-887C-859DC6F7CC93}"/>
              </a:ext>
            </a:extLst>
          </p:cNvPr>
          <p:cNvSpPr txBox="1"/>
          <p:nvPr/>
        </p:nvSpPr>
        <p:spPr>
          <a:xfrm>
            <a:off x="1150144" y="526851"/>
            <a:ext cx="7436644" cy="2954655"/>
          </a:xfrm>
          <a:prstGeom prst="rect">
            <a:avLst/>
          </a:prstGeom>
          <a:noFill/>
        </p:spPr>
        <p:txBody>
          <a:bodyPr wrap="square">
            <a:spAutoFit/>
          </a:bodyPr>
          <a:lstStyle/>
          <a:p>
            <a:r>
              <a:rPr lang="en-US" sz="2800" b="1" dirty="0"/>
              <a:t>Conclusion:</a:t>
            </a:r>
          </a:p>
          <a:p>
            <a:br>
              <a:rPr lang="en-US" dirty="0"/>
            </a:br>
            <a:r>
              <a:rPr lang="en-US" sz="2000" dirty="0"/>
              <a:t>The given grammar is LL(1) as its parse table has no conflicts (each cell has at most one production). Using the FIRST and FOLLOW sets, we successfully built the parse table and simulated the input </a:t>
            </a:r>
            <a:r>
              <a:rPr lang="en-US" sz="2000" dirty="0" err="1"/>
              <a:t>lmn</a:t>
            </a:r>
            <a:r>
              <a:rPr lang="en-US" sz="2000" dirty="0"/>
              <a:t>$ using LL(1) stack parsing, which ended in acceptance. This confirms that the string “</a:t>
            </a:r>
            <a:r>
              <a:rPr lang="en-US" sz="2000" dirty="0" err="1"/>
              <a:t>lmn</a:t>
            </a:r>
            <a:r>
              <a:rPr lang="en-US" sz="2000" dirty="0"/>
              <a:t>” is part of the language defined by the grammar. The corresponding parse tree follows the derivation S → LM → l m n, clearly showing how the input is generated by the grammar.</a:t>
            </a:r>
          </a:p>
        </p:txBody>
      </p:sp>
      <p:sp>
        <p:nvSpPr>
          <p:cNvPr id="4" name="Rectangle 3">
            <a:extLst>
              <a:ext uri="{FF2B5EF4-FFF2-40B4-BE49-F238E27FC236}">
                <a16:creationId xmlns:a16="http://schemas.microsoft.com/office/drawing/2014/main" id="{80F63B9E-53F1-4B6F-B169-E21202449A1B}"/>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Tree>
    <p:extLst>
      <p:ext uri="{BB962C8B-B14F-4D97-AF65-F5344CB8AC3E}">
        <p14:creationId xmlns:p14="http://schemas.microsoft.com/office/powerpoint/2010/main" val="3050471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F6DEB5-8B30-44C2-9E64-3FFA3BA78936}"/>
              </a:ext>
            </a:extLst>
          </p:cNvPr>
          <p:cNvSpPr/>
          <p:nvPr/>
        </p:nvSpPr>
        <p:spPr>
          <a:xfrm>
            <a:off x="1850400" y="972000"/>
            <a:ext cx="5191200" cy="285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t>Thank You!</a:t>
            </a:r>
          </a:p>
          <a:p>
            <a:endParaRPr lang="en-US" dirty="0">
              <a:solidFill>
                <a:schemeClr val="bg1"/>
              </a:solidFill>
            </a:endParaRPr>
          </a:p>
          <a:p>
            <a:r>
              <a:rPr lang="en-US" dirty="0">
                <a:solidFill>
                  <a:schemeClr val="bg1"/>
                </a:solidFill>
              </a:rPr>
              <a:t>💬 For queries or more insights, feel free to ask!</a:t>
            </a:r>
          </a:p>
          <a:p>
            <a:endParaRPr lang="en-US" dirty="0"/>
          </a:p>
        </p:txBody>
      </p:sp>
      <p:sp>
        <p:nvSpPr>
          <p:cNvPr id="3" name="Rectangle 2">
            <a:extLst>
              <a:ext uri="{FF2B5EF4-FFF2-40B4-BE49-F238E27FC236}">
                <a16:creationId xmlns:a16="http://schemas.microsoft.com/office/drawing/2014/main" id="{F3DFAE32-B960-4032-8792-00EC512E960A}"/>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Tree>
    <p:extLst>
      <p:ext uri="{BB962C8B-B14F-4D97-AF65-F5344CB8AC3E}">
        <p14:creationId xmlns:p14="http://schemas.microsoft.com/office/powerpoint/2010/main" val="3420970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208</TotalTime>
  <Words>356</Words>
  <Application>Microsoft Office PowerPoint</Application>
  <PresentationFormat>On-screen Show (16:9)</PresentationFormat>
  <Paragraphs>114</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Corbel</vt:lpstr>
      <vt:lpstr>Calibri</vt:lpstr>
      <vt:lpstr>Parallax</vt:lpstr>
      <vt:lpstr>                             LL1 parser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iFarmer – Empowering Farmers Through Technology -</dc:title>
  <dc:creator>User</dc:creator>
  <cp:lastModifiedBy>s m nabil ausaf</cp:lastModifiedBy>
  <cp:revision>16</cp:revision>
  <dcterms:modified xsi:type="dcterms:W3CDTF">2025-08-02T13:17:21Z</dcterms:modified>
</cp:coreProperties>
</file>